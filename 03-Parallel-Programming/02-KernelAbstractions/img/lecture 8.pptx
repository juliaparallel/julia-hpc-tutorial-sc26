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 Slab"/>
      <p:regular r:id="rId30"/>
      <p:bold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gsdZ9KNQ4XygiqWmtNOvdxgtTb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7746F5-F69B-4E5B-9A70-246C7A561BFC}">
  <a:tblStyle styleId="{677746F5-F69B-4E5B-9A70-246C7A561BF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 b="off" i="off"/>
      <a:tcStyle>
        <a:fill>
          <a:solidFill>
            <a:srgbClr val="FFE2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E2CD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1E8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FFF1E8"/>
          </a:solidFill>
        </a:fill>
      </a:tcStyle>
    </a:firstRow>
    <a:neCell>
      <a:tcTxStyle b="off" i="off"/>
    </a:neCell>
    <a:nwCell>
      <a:tcTxStyle b="off" i="off"/>
    </a:nwCell>
  </a:tblStyle>
  <a:tblStyle styleId="{D0E68DB2-7450-404F-9B94-63E3EFBFD2D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Slab-bold.fntdata"/><Relationship Id="rId30" Type="http://schemas.openxmlformats.org/officeDocument/2006/relationships/font" Target="fonts/RobotoSlab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.fntdata"/><Relationship Id="rId10" Type="http://schemas.openxmlformats.org/officeDocument/2006/relationships/slide" Target="slides/slide4.xml"/><Relationship Id="rId32" Type="http://schemas.openxmlformats.org/officeDocument/2006/relationships/font" Target="fonts/Roboto-regular.fntdata"/><Relationship Id="rId13" Type="http://schemas.openxmlformats.org/officeDocument/2006/relationships/slide" Target="slides/slide7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-italic.fntdata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23ff9abb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523ff9ab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Several back-ends with similar structure: API package, kernel package, array package.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oneAPI has them all merged into a single package.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Focus on CUDA stack: most mature.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Trivial installation, nowadays. Only requires NVIDIA driver.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Start your GPU application with: the CuArray type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Convenience constructors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When possible, we reuse NVIDIA’s libraries for performance.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Real power comes from higher-order array expressions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https://drive.google.com/file/d/1v8hCrhw5bow8VaPwvDCxGejAcTkopnkX/view?usp=sharing</a:t>
            </a:r>
            <a:endParaRPr/>
          </a:p>
        </p:txBody>
      </p:sp>
      <p:sp>
        <p:nvSpPr>
          <p:cNvPr id="281" name="Google Shape;28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1" name="Google Shape;1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698" y="4196601"/>
            <a:ext cx="1185734" cy="61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6115" y="3771533"/>
            <a:ext cx="1294110" cy="129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7274" y="3890692"/>
            <a:ext cx="1055800" cy="10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8" name="Google Shape;3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b="0" i="0" sz="2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2.jpg"/><Relationship Id="rId5" Type="http://schemas.openxmlformats.org/officeDocument/2006/relationships/image" Target="../media/image14.jpg"/><Relationship Id="rId6" Type="http://schemas.openxmlformats.org/officeDocument/2006/relationships/image" Target="../media/image27.png"/><Relationship Id="rId7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hyperlink" Target="about:blank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hyperlink" Target="https://github.com/Rabab53/mit-parallel-computing-course/blob/main/Introduction_to_julia_gpu/gpu_introduction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ctrTitle"/>
          </p:nvPr>
        </p:nvSpPr>
        <p:spPr>
          <a:xfrm>
            <a:off x="311700" y="134330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SA" sz="3200"/>
              <a:t>GPU Acceleration </a:t>
            </a:r>
            <a:endParaRPr sz="3200"/>
          </a:p>
        </p:txBody>
      </p:sp>
      <p:sp>
        <p:nvSpPr>
          <p:cNvPr id="48" name="Google Shape;48;p1"/>
          <p:cNvSpPr txBox="1"/>
          <p:nvPr>
            <p:ph idx="1" type="subTitle"/>
          </p:nvPr>
        </p:nvSpPr>
        <p:spPr>
          <a:xfrm>
            <a:off x="418800" y="2305500"/>
            <a:ext cx="85206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 sz="2400"/>
              <a:t>Rabab Alomairy &amp; Evelyne</a:t>
            </a:r>
            <a:r>
              <a:rPr lang="en-SA" sz="1150">
                <a:solidFill>
                  <a:srgbClr val="1D1C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A" sz="2400"/>
              <a:t>Ringoot</a:t>
            </a:r>
            <a:endParaRPr sz="1150">
              <a:solidFill>
                <a:srgbClr val="1D1C1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50">
                <a:solidFill>
                  <a:srgbClr val="1D1C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50">
              <a:solidFill>
                <a:srgbClr val="1D1C1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GPU vs. CPU</a:t>
            </a:r>
            <a:endParaRPr/>
          </a:p>
        </p:txBody>
      </p:sp>
      <p:pic>
        <p:nvPicPr>
          <p:cNvPr descr="Julia (programming language) - Wikipedia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56" name="Google Shape;56;p3"/>
          <p:cNvSpPr txBox="1"/>
          <p:nvPr>
            <p:ph idx="1" type="body"/>
          </p:nvPr>
        </p:nvSpPr>
        <p:spPr>
          <a:xfrm>
            <a:off x="311700" y="1482574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/>
              <a:t>               Latency Oriented                                                 Bandwidth Oriented                              </a:t>
            </a:r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61" y="1505076"/>
            <a:ext cx="7772400" cy="2780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Heterogeneous architecture</a:t>
            </a:r>
            <a:endParaRPr/>
          </a:p>
        </p:txBody>
      </p:sp>
      <p:pic>
        <p:nvPicPr>
          <p:cNvPr descr="Julia (programming language) - Wikipedia"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11700" y="1482574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/>
              <a:t>               Latency Oriented                                                 Bandwidth Oriented                              </a:t>
            </a:r>
            <a:endParaRPr/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058" y="1515667"/>
            <a:ext cx="7772400" cy="2446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Overview of GPU Architecture</a:t>
            </a:r>
            <a:endParaRPr/>
          </a:p>
        </p:txBody>
      </p:sp>
      <p:pic>
        <p:nvPicPr>
          <p:cNvPr descr="Julia (programming language) - Wikipedia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191986"/>
            <a:ext cx="8520600" cy="37069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0" y="769358"/>
            <a:ext cx="9021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Transistor Count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54.2 billion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Area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826 mm²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SA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Ampere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Up to 80 GB HBM2e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FP64 Performance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~19.5 TFLOP/s (A100 80GB SXM)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NVLink (up to 600 GB/s), PCIe Gen4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128 SMs per full GPU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617" y="727571"/>
            <a:ext cx="4573584" cy="229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23ff9abb4_0_0"/>
          <p:cNvSpPr txBox="1"/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Overview of GPU Architecture</a:t>
            </a:r>
            <a:endParaRPr/>
          </a:p>
        </p:txBody>
      </p:sp>
      <p:pic>
        <p:nvPicPr>
          <p:cNvPr descr="Julia (programming language) - Wikipedia" id="82" name="Google Shape;82;g3523ff9abb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523ff9abb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84" name="Google Shape;84;g3523ff9abb4_0_0"/>
          <p:cNvSpPr txBox="1"/>
          <p:nvPr>
            <p:ph idx="1" type="body"/>
          </p:nvPr>
        </p:nvSpPr>
        <p:spPr>
          <a:xfrm>
            <a:off x="311700" y="1191986"/>
            <a:ext cx="85206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5" name="Google Shape;85;g3523ff9abb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6125" y="1010675"/>
            <a:ext cx="4485026" cy="20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523ff9abb4_0_0"/>
          <p:cNvSpPr txBox="1"/>
          <p:nvPr/>
        </p:nvSpPr>
        <p:spPr>
          <a:xfrm>
            <a:off x="127050" y="761475"/>
            <a:ext cx="8007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Transistor Count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80 billion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Area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814 mm²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SA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Hopper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Up to </a:t>
            </a:r>
            <a:r>
              <a:rPr b="0" i="0" lang="en-SA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GB HBM2e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FP64 Performance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~34 TFLOP/s (H100 96GB SXM)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</a:t>
            </a: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NVLink (up to 900 GB/s), PCIe Gen4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132 SMs per full GPU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Streaming multiprocessor (SM)</a:t>
            </a:r>
            <a:endParaRPr/>
          </a:p>
        </p:txBody>
      </p:sp>
      <p:pic>
        <p:nvPicPr>
          <p:cNvPr descr="Julia (programming language) - Wikipedia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311700" y="1482574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3877" y="1320249"/>
            <a:ext cx="7772402" cy="367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226208" y="9438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Streaming multiprocessor (SM)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226208" y="927950"/>
            <a:ext cx="5170800" cy="3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SM contains four processing blocks that share an L1 cache for data caching.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Each processing block has a Warp scheduler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16 INT32 CUDA cores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16 FP32 CUDA cores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8 FP64 CUDA cores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8 Load/Store cores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Tensor core for matrix multiplication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16K 32-bit register file.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The maximum number of thread blocks per SM is 32.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980" y="1152475"/>
            <a:ext cx="2767431" cy="3210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How to program a GPU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-1" y="951384"/>
            <a:ext cx="5577841" cy="38205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Single-Instruction-Multiple-Threads (SIMT). </a:t>
            </a:r>
            <a:endParaRPr sz="19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SIMT allows GPUs to execute the same instruction across multiple threads</a:t>
            </a:r>
            <a:endParaRPr sz="19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Perspective is a </a:t>
            </a:r>
            <a:r>
              <a:rPr lang="en-SA" sz="1900">
                <a:solidFill>
                  <a:srgbClr val="92D050"/>
                </a:solidFill>
              </a:rPr>
              <a:t>thread</a:t>
            </a:r>
            <a:endParaRPr sz="19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Threads grouped into </a:t>
            </a:r>
            <a:r>
              <a:rPr lang="en-SA" sz="1900">
                <a:solidFill>
                  <a:srgbClr val="92D050"/>
                </a:solidFill>
              </a:rPr>
              <a:t>blocks</a:t>
            </a:r>
            <a:endParaRPr sz="19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Blocks grouped into </a:t>
            </a:r>
            <a:r>
              <a:rPr lang="en-SA" sz="1900">
                <a:solidFill>
                  <a:srgbClr val="92D050"/>
                </a:solidFill>
              </a:rPr>
              <a:t>grids</a:t>
            </a:r>
            <a:endParaRPr sz="1900">
              <a:solidFill>
                <a:srgbClr val="92D05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Threads within block can access shared memory and synchronize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GPUs are designed to maximize throughput.</a:t>
            </a:r>
            <a:endParaRPr sz="19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Transferring data from the CPU to the GPU can be a bottleneck  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0846" y="1334491"/>
            <a:ext cx="3643154" cy="2498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lia (programming language) - Wikipedia" id="111" name="Google Shape;1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5774635" y="2912165"/>
            <a:ext cx="288234" cy="407504"/>
          </a:xfrm>
          <a:prstGeom prst="ellipse">
            <a:avLst/>
          </a:prstGeom>
          <a:noFill/>
          <a:ln cap="flat" cmpd="sng" w="254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685183" y="2912165"/>
            <a:ext cx="1162878" cy="993913"/>
          </a:xfrm>
          <a:prstGeom prst="ellipse">
            <a:avLst/>
          </a:prstGeom>
          <a:noFill/>
          <a:ln cap="flat" cmpd="sng" w="254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918752" y="1404632"/>
            <a:ext cx="1162878" cy="993913"/>
          </a:xfrm>
          <a:prstGeom prst="ellipse">
            <a:avLst/>
          </a:prstGeom>
          <a:noFill/>
          <a:ln cap="flat" cmpd="sng" w="254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213612" y="1657503"/>
            <a:ext cx="1162878" cy="244085"/>
          </a:xfrm>
          <a:prstGeom prst="ellipse">
            <a:avLst/>
          </a:prstGeom>
          <a:noFill/>
          <a:ln cap="flat" cmpd="sng" w="254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226208" y="136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 Mapping Software to Hardware</a:t>
            </a:r>
            <a:br>
              <a:rPr lang="en-SA"/>
            </a:br>
            <a:endParaRPr/>
          </a:p>
        </p:txBody>
      </p:sp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0" y="863550"/>
            <a:ext cx="6540600" cy="4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SA" sz="1600">
                <a:solidFill>
                  <a:srgbClr val="00B050"/>
                </a:solidFill>
              </a:rPr>
              <a:t>Thread</a:t>
            </a:r>
            <a:r>
              <a:rPr lang="en-SA" sz="1600">
                <a:solidFill>
                  <a:srgbClr val="00B050"/>
                </a:solidFill>
              </a:rPr>
              <a:t>:</a:t>
            </a:r>
            <a:r>
              <a:rPr lang="en-SA" sz="1600">
                <a:solidFill>
                  <a:schemeClr val="dk1"/>
                </a:solidFill>
              </a:rPr>
              <a:t> Smallest unit of execution, executes a kernel function.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SA" sz="1600">
                <a:solidFill>
                  <a:srgbClr val="00B050"/>
                </a:solidFill>
              </a:rPr>
              <a:t>Scalar Processor (core)</a:t>
            </a:r>
            <a:r>
              <a:rPr lang="en-SA" sz="1600">
                <a:solidFill>
                  <a:srgbClr val="00B05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Executes one thread. Multiple cores live inside an SM.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SA" sz="1600">
                <a:solidFill>
                  <a:srgbClr val="FFC000"/>
                </a:solidFill>
              </a:rPr>
              <a:t>Thread Block</a:t>
            </a:r>
            <a:r>
              <a:rPr lang="en-SA" sz="1600">
                <a:solidFill>
                  <a:srgbClr val="FFC00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Group of threads executed on a single SM. Threads in a block can share memory and synchronize.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SA" sz="1600">
                <a:solidFill>
                  <a:srgbClr val="FFC000"/>
                </a:solidFill>
              </a:rPr>
              <a:t>SM (Streaming Multiprocessor)</a:t>
            </a:r>
            <a:r>
              <a:rPr lang="en-SA" sz="1600">
                <a:solidFill>
                  <a:srgbClr val="FFC00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Executes thread blocks. Contains cores, Tensor Cores, registers, shared memory, etc.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SA" sz="1600">
                <a:solidFill>
                  <a:srgbClr val="00B0F0"/>
                </a:solidFill>
              </a:rPr>
              <a:t>Grid</a:t>
            </a:r>
            <a:r>
              <a:rPr lang="en-SA" sz="1600">
                <a:solidFill>
                  <a:srgbClr val="00B0F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Collection of thread blocks. Can span across multiple SMs.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SA" sz="1600">
                <a:solidFill>
                  <a:srgbClr val="00B0F0"/>
                </a:solidFill>
              </a:rPr>
              <a:t>GPU Device</a:t>
            </a:r>
            <a:r>
              <a:rPr lang="en-SA" sz="1600">
                <a:solidFill>
                  <a:srgbClr val="00B0F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The full hardware accelerator; includes many SMs and memory hierarchies (L2 cache, global memory, etc.).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3" name="Google Shape;12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5081" y="1018761"/>
            <a:ext cx="2271728" cy="3105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type="title"/>
          </p:nvPr>
        </p:nvSpPr>
        <p:spPr>
          <a:xfrm>
            <a:off x="226208" y="23542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Memory Hierarchy</a:t>
            </a:r>
            <a:br>
              <a:rPr lang="en-SA"/>
            </a:br>
            <a:endParaRPr/>
          </a:p>
        </p:txBody>
      </p:sp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93023" y="1017725"/>
            <a:ext cx="517471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Each thread has private local memory.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Each thread block has shared memory visible to all threads of the block and with the same lifetime as the block.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Thread blocks in a thread block cluster can perform read, write, and atomics operations on each other’s shared memory.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All threads have access to the same global memory.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pic>
        <p:nvPicPr>
          <p:cNvPr descr="Memory Hierarchy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7759" y="1292087"/>
            <a:ext cx="3667519" cy="2829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132796" y="1663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SIMT Programming model</a:t>
            </a:r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33" y="1177103"/>
            <a:ext cx="5229671" cy="324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ter image description here" id="139" name="Google Shape;139;p18"/>
          <p:cNvPicPr preferRelativeResize="0"/>
          <p:nvPr/>
        </p:nvPicPr>
        <p:blipFill rotWithShape="1">
          <a:blip r:embed="rId4">
            <a:alphaModFix/>
          </a:blip>
          <a:srcRect b="5334" l="16920" r="19126" t="55162"/>
          <a:stretch/>
        </p:blipFill>
        <p:spPr>
          <a:xfrm>
            <a:off x="5834688" y="1966886"/>
            <a:ext cx="1550505" cy="90488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2499403" y="777034"/>
            <a:ext cx="1050832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18"/>
          <p:cNvCxnSpPr/>
          <p:nvPr/>
        </p:nvCxnSpPr>
        <p:spPr>
          <a:xfrm flipH="1" rot="10800000">
            <a:off x="3968247" y="2512143"/>
            <a:ext cx="1811382" cy="24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18"/>
          <p:cNvSpPr txBox="1"/>
          <p:nvPr/>
        </p:nvSpPr>
        <p:spPr>
          <a:xfrm>
            <a:off x="6218377" y="1420652"/>
            <a:ext cx="1433596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Julia (programming language) - Wikipedia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1145295" y="2358255"/>
            <a:ext cx="274434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SA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2672489" y="1081749"/>
            <a:ext cx="274434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SA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79046" y="462811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59246" y="4399171"/>
            <a:ext cx="8494150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SA" sz="1800" u="none" cap="none" strike="noStrike">
                <a:solidFill>
                  <a:srgbClr val="1705F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thread ID: </a:t>
            </a:r>
            <a:r>
              <a:rPr b="0" i="0" lang="en-SA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position of the thread within block (threadIdx) , the position of the block within the grid (blockIdx), and block dimension (blockDim)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A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132796" y="166355"/>
            <a:ext cx="8186256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Existing GPUs and their Software</a:t>
            </a:r>
            <a:endParaRPr/>
          </a:p>
        </p:txBody>
      </p:sp>
      <p:pic>
        <p:nvPicPr>
          <p:cNvPr descr="Julia (programming language) - Wikipedia"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0"/>
          <p:cNvGraphicFramePr/>
          <p:nvPr/>
        </p:nvGraphicFramePr>
        <p:xfrm>
          <a:off x="1036981" y="1720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{677746F5-F69B-4E5B-9A70-246C7A561BFC}</a:tableStyleId>
              </a:tblPr>
              <a:tblGrid>
                <a:gridCol w="1357025"/>
                <a:gridCol w="1357025"/>
                <a:gridCol w="1357025"/>
                <a:gridCol w="1357025"/>
                <a:gridCol w="13570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Hardware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NVIDIA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AMD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Intel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Apple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Software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CUDA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ROCm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OneAPI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SA" sz="1800" u="none" cap="none" strike="noStrike"/>
                        <a:t>Metal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Nvidia, the tech company more valuable than Google and Amazon, explained |  Vox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4408" y="2890813"/>
            <a:ext cx="1306358" cy="870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D Instinct™ MI300A Accelerators" id="156" name="Google Shape;1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866" y="2890813"/>
            <a:ext cx="1074650" cy="107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l Launches Gaudi 3 AI Accelerator | CDOTrends" id="157" name="Google Shape;15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0357" y="2890813"/>
            <a:ext cx="1660054" cy="1184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rst M1 Max GPU Performance Results Show It Is More Than 3x Faster Than Apple's  M1" id="158" name="Google Shape;158;p10"/>
          <p:cNvPicPr preferRelativeResize="0"/>
          <p:nvPr/>
        </p:nvPicPr>
        <p:blipFill rotWithShape="1">
          <a:blip r:embed="rId7">
            <a:alphaModFix/>
          </a:blip>
          <a:srcRect b="8532" l="20922" r="21968" t="7947"/>
          <a:stretch/>
        </p:blipFill>
        <p:spPr>
          <a:xfrm>
            <a:off x="6558252" y="2788939"/>
            <a:ext cx="1306358" cy="1074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Typical Execution Dataflow</a:t>
            </a:r>
            <a:endParaRPr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pic>
        <p:nvPicPr>
          <p:cNvPr descr="Timeline&#10;&#10;Description automatically generated" id="166" name="Google Shape;1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241" y="955675"/>
            <a:ext cx="6839777" cy="390434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2286000" y="241937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2286000" y="241937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252813" y="219096"/>
            <a:ext cx="4712687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NVIDIA Ampere A100</a:t>
            </a:r>
            <a:endParaRPr/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-1" y="875459"/>
            <a:ext cx="5916529" cy="20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An NVIDIA A100 GPU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It has 40 MB L2 cache, which helps reduce latency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It supports up to 80 GB of HBM2 memory with a maximum memory bandwidth of 2039 GB/s , essential for handling large data and reducing data transfer.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It contains in total 6912 FP32/INT32 CUDA cores and 3456 FP64 CUDA cores</a:t>
            </a:r>
            <a:endParaRPr/>
          </a:p>
        </p:txBody>
      </p:sp>
      <p:pic>
        <p:nvPicPr>
          <p:cNvPr descr="A screenshot of a computer&#10;&#10;Description automatically generated"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895" y="-75928"/>
            <a:ext cx="31698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ASCI Q machine at Los Alamos National Laboratory | Download Scientific  Diagram" id="176" name="Google Shape;1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3070" y="2749120"/>
            <a:ext cx="1862504" cy="1233280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0784"/>
              </a:srgbClr>
            </a:outerShdw>
          </a:effectLst>
        </p:spPr>
      </p:pic>
      <p:sp>
        <p:nvSpPr>
          <p:cNvPr id="177" name="Google Shape;177;p16"/>
          <p:cNvSpPr txBox="1"/>
          <p:nvPr/>
        </p:nvSpPr>
        <p:spPr>
          <a:xfrm>
            <a:off x="2841110" y="3999364"/>
            <a:ext cx="3656771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ASCI White supercomputer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Lawrence Livermore National Laboratory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 #1 in 2007, 7.9 TFLOPS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056406" y="577969"/>
            <a:ext cx="776378" cy="153405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6"/>
          <p:cNvCxnSpPr>
            <a:stCxn id="178" idx="3"/>
          </p:cNvCxnSpPr>
          <p:nvPr/>
        </p:nvCxnSpPr>
        <p:spPr>
          <a:xfrm flipH="1">
            <a:off x="5024504" y="708908"/>
            <a:ext cx="2145600" cy="209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6"/>
          <p:cNvSpPr txBox="1"/>
          <p:nvPr/>
        </p:nvSpPr>
        <p:spPr>
          <a:xfrm>
            <a:off x="155021" y="2930379"/>
            <a:ext cx="281625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NVIDIA H100: </a:t>
            </a:r>
            <a:r>
              <a:rPr b="0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offers up to 30 TFLOPs of FP64 performance, which is over  3x the FP64 performance of the A100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GB200 Grace Blackwell Superchip: </a:t>
            </a:r>
            <a:r>
              <a:rPr b="0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Provides 90 TFLOPS of FP64 performance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913" y="207238"/>
            <a:ext cx="2730677" cy="184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1"/>
          <p:cNvPicPr preferRelativeResize="0"/>
          <p:nvPr/>
        </p:nvPicPr>
        <p:blipFill rotWithShape="1">
          <a:blip r:embed="rId4">
            <a:alphaModFix/>
          </a:blip>
          <a:srcRect b="0" l="28719" r="28536" t="0"/>
          <a:stretch/>
        </p:blipFill>
        <p:spPr>
          <a:xfrm>
            <a:off x="5643950" y="372300"/>
            <a:ext cx="2342788" cy="197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/>
          <p:nvPr/>
        </p:nvSpPr>
        <p:spPr>
          <a:xfrm>
            <a:off x="4164738" y="818863"/>
            <a:ext cx="814500" cy="7752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 txBox="1"/>
          <p:nvPr>
            <p:ph idx="4294967295" type="body"/>
          </p:nvPr>
        </p:nvSpPr>
        <p:spPr>
          <a:xfrm>
            <a:off x="311700" y="2367275"/>
            <a:ext cx="8426100" cy="18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SA">
                <a:latin typeface="Roboto"/>
                <a:ea typeface="Roboto"/>
                <a:cs typeface="Roboto"/>
                <a:sym typeface="Roboto"/>
              </a:rPr>
              <a:t>NVIDIA CUDA:</a:t>
            </a:r>
            <a:r>
              <a:rPr lang="en-SA">
                <a:latin typeface="Roboto"/>
                <a:ea typeface="Roboto"/>
                <a:cs typeface="Roboto"/>
                <a:sym typeface="Roboto"/>
              </a:rPr>
              <a:t> CUDA.jl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SA">
                <a:latin typeface="Roboto"/>
                <a:ea typeface="Roboto"/>
                <a:cs typeface="Roboto"/>
                <a:sym typeface="Roboto"/>
              </a:rPr>
              <a:t>AMD ROCm</a:t>
            </a:r>
            <a:r>
              <a:rPr lang="en-SA">
                <a:latin typeface="Roboto"/>
                <a:ea typeface="Roboto"/>
                <a:cs typeface="Roboto"/>
                <a:sym typeface="Roboto"/>
              </a:rPr>
              <a:t>: AMDGPU.jl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SA">
                <a:latin typeface="Roboto"/>
                <a:ea typeface="Roboto"/>
                <a:cs typeface="Roboto"/>
                <a:sym typeface="Roboto"/>
              </a:rPr>
              <a:t>Intel oneAPI</a:t>
            </a:r>
            <a:r>
              <a:rPr lang="en-SA">
                <a:latin typeface="Roboto"/>
                <a:ea typeface="Roboto"/>
                <a:cs typeface="Roboto"/>
                <a:sym typeface="Roboto"/>
              </a:rPr>
              <a:t>: oneAPI.jl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>
                <a:latin typeface="Roboto"/>
                <a:ea typeface="Roboto"/>
                <a:cs typeface="Roboto"/>
                <a:sym typeface="Roboto"/>
              </a:rPr>
              <a:t>Performance portability layer: KernelAbstractions.jl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311700" y="2513125"/>
            <a:ext cx="3229800" cy="447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solidFill>
                  <a:schemeClr val="lt1"/>
                </a:solidFill>
              </a:rPr>
              <a:t>Installation</a:t>
            </a:r>
            <a:endParaRPr/>
          </a:p>
        </p:txBody>
      </p:sp>
      <p:sp>
        <p:nvSpPr>
          <p:cNvPr id="196" name="Google Shape;196;p12"/>
          <p:cNvSpPr txBox="1"/>
          <p:nvPr>
            <p:ph idx="1" type="body"/>
          </p:nvPr>
        </p:nvSpPr>
        <p:spPr>
          <a:xfrm>
            <a:off x="311700" y="1505250"/>
            <a:ext cx="37038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SA" sz="1000">
                <a:solidFill>
                  <a:srgbClr val="5454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pkg&gt; 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add CUDA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using CUDA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SA" sz="10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CUDA.version()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Downloading artifact: CUDA10.2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Downloading artifact: CUDNN+CUDA10.2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Downloading artifact: CUTENSOR+CUDA10.2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v"10.2.89"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0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CUDA.functional()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7" name="Google Shape;197;p12"/>
          <p:cNvSpPr txBox="1"/>
          <p:nvPr>
            <p:ph idx="1" type="body"/>
          </p:nvPr>
        </p:nvSpPr>
        <p:spPr>
          <a:xfrm>
            <a:off x="4015425" y="2371675"/>
            <a:ext cx="4816800" cy="25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Automatic installation of CUDA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lazily, on first use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unless the environment contains </a:t>
            </a:r>
            <a:r>
              <a:rPr lang="en-SA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JULIA_CUDA_USE_BINARYBUILDER=false</a:t>
            </a:r>
            <a:endParaRPr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 need for Requires.jl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600"/>
              </a:spcAft>
              <a:buSzPts val="1800"/>
              <a:buFont typeface="Roboto"/>
              <a:buChar char="●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Container-friendly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" name="Google Shape;198;p12"/>
          <p:cNvPicPr preferRelativeResize="0"/>
          <p:nvPr/>
        </p:nvPicPr>
        <p:blipFill rotWithShape="1">
          <a:blip r:embed="rId3">
            <a:alphaModFix/>
          </a:blip>
          <a:srcRect b="39727" l="11661" r="72305" t="39831"/>
          <a:stretch/>
        </p:blipFill>
        <p:spPr>
          <a:xfrm>
            <a:off x="5749750" y="1296140"/>
            <a:ext cx="890274" cy="851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3523" y="1197222"/>
            <a:ext cx="890274" cy="1049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5973" y="1276600"/>
            <a:ext cx="890275" cy="8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latin typeface="Roboto Slab"/>
                <a:ea typeface="Roboto Slab"/>
                <a:cs typeface="Roboto Slab"/>
                <a:sym typeface="Roboto Slab"/>
              </a:rPr>
              <a:t>Array programming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7" name="Google Shape;207;p13"/>
          <p:cNvSpPr txBox="1"/>
          <p:nvPr>
            <p:ph idx="1" type="body"/>
          </p:nvPr>
        </p:nvSpPr>
        <p:spPr>
          <a:xfrm>
            <a:off x="311700" y="1381075"/>
            <a:ext cx="42603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}(undef,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0.0  0.0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0.0  0.0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similar(a)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0  0  0</a:t>
            </a:r>
            <a:endParaRPr sz="1100">
              <a:solidFill>
                <a:srgbClr val="626262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8" name="Google Shape;208;p13"/>
          <p:cNvSpPr txBox="1"/>
          <p:nvPr>
            <p:ph idx="1" type="body"/>
          </p:nvPr>
        </p:nvSpPr>
        <p:spPr>
          <a:xfrm>
            <a:off x="4572000" y="1381075"/>
            <a:ext cx="42603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])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1  2  3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b = </a:t>
            </a:r>
            <a:r>
              <a:rPr lang="en-SA" sz="1100">
                <a:solidFill>
                  <a:srgbClr val="AF005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Array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1×3 Array{Int64,2}: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1  2  3</a:t>
            </a:r>
            <a:endParaRPr sz="1100">
              <a:solidFill>
                <a:srgbClr val="008700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9" name="Google Shape;209;p13"/>
          <p:cNvSpPr txBox="1"/>
          <p:nvPr>
            <p:ph idx="1" type="body"/>
          </p:nvPr>
        </p:nvSpPr>
        <p:spPr>
          <a:xfrm>
            <a:off x="311700" y="4002000"/>
            <a:ext cx="85206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Goal: API compatibility with </a:t>
            </a:r>
            <a:r>
              <a:rPr lang="en-SA" sz="2000">
                <a:latin typeface="Roboto Mono"/>
                <a:ea typeface="Roboto Mono"/>
                <a:cs typeface="Roboto Mono"/>
                <a:sym typeface="Roboto Mono"/>
              </a:rPr>
              <a:t>Base.Array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latin typeface="Roboto Slab"/>
                <a:ea typeface="Roboto Slab"/>
                <a:cs typeface="Roboto Slab"/>
                <a:sym typeface="Roboto Slab"/>
              </a:rPr>
              <a:t>Array programming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6" name="Google Shape;216;p14"/>
          <p:cNvSpPr txBox="1"/>
          <p:nvPr>
            <p:ph idx="1" type="body"/>
          </p:nvPr>
        </p:nvSpPr>
        <p:spPr>
          <a:xfrm>
            <a:off x="311700" y="1381075"/>
            <a:ext cx="4260300" cy="23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CUDA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ones(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2-element CuArray{Float32,1}: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CUDA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zeros(</a:t>
            </a:r>
            <a:r>
              <a:rPr lang="en-SA" sz="1100">
                <a:solidFill>
                  <a:srgbClr val="AF005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2-element CuArray{Float32,1}: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endParaRPr sz="1100">
              <a:solidFill>
                <a:srgbClr val="0087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7" name="Google Shape;217;p14"/>
          <p:cNvSpPr txBox="1"/>
          <p:nvPr>
            <p:ph idx="1" type="body"/>
          </p:nvPr>
        </p:nvSpPr>
        <p:spPr>
          <a:xfrm>
            <a:off x="4572000" y="1381075"/>
            <a:ext cx="4260300" cy="23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 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CUDA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fill(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3×4 CuArray{Int64,2}: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42  42  42  42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42  42  42  42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42  42  42  4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100">
              <a:solidFill>
                <a:srgbClr val="626262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rand(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0.73055   0.843176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0.939997  0.61159</a:t>
            </a:r>
            <a:endParaRPr sz="1100">
              <a:solidFill>
                <a:srgbClr val="008700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8" name="Google Shape;218;p14"/>
          <p:cNvSpPr txBox="1"/>
          <p:nvPr>
            <p:ph idx="1" type="body"/>
          </p:nvPr>
        </p:nvSpPr>
        <p:spPr>
          <a:xfrm>
            <a:off x="311700" y="4002000"/>
            <a:ext cx="85206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Goal: API compatibility with</a:t>
            </a:r>
            <a:r>
              <a:rPr lang="en-SA" sz="2000"/>
              <a:t> </a:t>
            </a:r>
            <a:r>
              <a:rPr lang="en-SA" sz="2000">
                <a:latin typeface="Roboto Mono"/>
                <a:ea typeface="Roboto Mono"/>
                <a:cs typeface="Roboto Mono"/>
                <a:sym typeface="Roboto Mono"/>
              </a:rPr>
              <a:t>Base.Array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9" name="Google Shape;2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solidFill>
                  <a:schemeClr val="lt1"/>
                </a:solidFill>
              </a:rPr>
              <a:t>Array programming</a:t>
            </a:r>
            <a:endParaRPr/>
          </a:p>
        </p:txBody>
      </p:sp>
      <p:sp>
        <p:nvSpPr>
          <p:cNvPr id="225" name="Google Shape;225;p15"/>
          <p:cNvSpPr txBox="1"/>
          <p:nvPr>
            <p:ph idx="1" type="body"/>
          </p:nvPr>
        </p:nvSpPr>
        <p:spPr>
          <a:xfrm>
            <a:off x="311700" y="1381075"/>
            <a:ext cx="4260300" cy="3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a =</a:t>
            </a:r>
            <a:r>
              <a:rPr lang="en-SA" sz="1100">
                <a:solidFill>
                  <a:srgbClr val="AF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CuArray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AF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}(undef, (2,2));</a:t>
            </a:r>
            <a:endParaRPr sz="11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SA" sz="1100">
                <a:highlight>
                  <a:srgbClr val="FFFFFF"/>
                </a:highlight>
              </a:rPr>
              <a:t>CURAND</a:t>
            </a:r>
            <a:br>
              <a:rPr lang="en-SA" sz="1100">
                <a:highlight>
                  <a:srgbClr val="FFFFFF"/>
                </a:highlight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rand!(a)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0.73055   0.843176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0.939997  0.61159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SA" sz="1100">
                <a:highlight>
                  <a:srgbClr val="FFFFFF"/>
                </a:highlight>
              </a:rPr>
              <a:t>CUBLAS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1.32629  1.13166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1.26161  1.16663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SA" sz="1100">
                <a:highlight>
                  <a:schemeClr val="lt1"/>
                </a:highlight>
              </a:rPr>
              <a:t>CUSOLVER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LinearAlgebra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qr!(a)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CuQR{Float32,CuArray{Float32,2}}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with factors Q and R: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Float32[-0.613648 -0.78958; -0.78958 0.613648]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Float32[-1.1905 -1.00031; 0.0 -0.290454]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6" name="Google Shape;226;p15"/>
          <p:cNvSpPr txBox="1"/>
          <p:nvPr>
            <p:ph idx="1" type="body"/>
          </p:nvPr>
        </p:nvSpPr>
        <p:spPr>
          <a:xfrm>
            <a:off x="4572000" y="1381075"/>
            <a:ext cx="42603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SA" sz="1100">
                <a:highlight>
                  <a:schemeClr val="lt1"/>
                </a:highlight>
              </a:rPr>
              <a:t>CUFFT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CUFFT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plan_fft(a)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a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2-element </a:t>
            </a: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Complex</a:t>
            </a: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},1}:</a:t>
            </a:r>
            <a:b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-1.99196+0.0im   0.589576+0.0im</a:t>
            </a:r>
            <a:br>
              <a:rPr lang="en-SA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-2.38968+0.0im  -0.969958+0.0im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SA" sz="1100">
                <a:highlight>
                  <a:srgbClr val="FFFFFF"/>
                </a:highlight>
              </a:rPr>
              <a:t>CUDNN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softmax(real(ans))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0.15712  0.32963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0.84288  0.67037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SA" sz="1100">
                <a:highlight>
                  <a:schemeClr val="lt1"/>
                </a:highlight>
              </a:rPr>
              <a:t>CUSPARSE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sparse(a)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CuSparseMatrixCSR{Float32,Int32}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with 4 stored entries: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[1, 1]  =  -1.1905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[2, 1]  =  0.489313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[1, 2]  =  -1.00031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[2, 2]  =  -0.290454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solidFill>
                  <a:schemeClr val="lt1"/>
                </a:solidFill>
              </a:rPr>
              <a:t>Array programming</a:t>
            </a:r>
            <a:endParaRPr/>
          </a:p>
        </p:txBody>
      </p:sp>
      <p:sp>
        <p:nvSpPr>
          <p:cNvPr id="233" name="Google Shape;233;p17"/>
          <p:cNvSpPr txBox="1"/>
          <p:nvPr>
            <p:ph idx="1" type="body"/>
          </p:nvPr>
        </p:nvSpPr>
        <p:spPr>
          <a:xfrm>
            <a:off x="311700" y="1381075"/>
            <a:ext cx="4260300" cy="26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])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b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])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map(a) </a:t>
            </a:r>
            <a:r>
              <a:rPr b="1" lang="en-SA" sz="11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x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x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b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-SA" sz="11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br>
              <a:rPr b="1" lang="en-SA" sz="11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2  3  4</a:t>
            </a:r>
            <a:endParaRPr sz="1100">
              <a:solidFill>
                <a:srgbClr val="626262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9  12  15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4" name="Google Shape;234;p17"/>
          <p:cNvSpPr txBox="1"/>
          <p:nvPr>
            <p:ph idx="1" type="body"/>
          </p:nvPr>
        </p:nvSpPr>
        <p:spPr>
          <a:xfrm>
            <a:off x="4572000" y="1381075"/>
            <a:ext cx="4260300" cy="26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reduce(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a)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accumulate(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b; dims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4  9  15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findfirst(isequal(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), a)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CartesianIndex(1, 2)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311700" y="4002000"/>
            <a:ext cx="85206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Powerful array language: obviates need for custom kernels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28575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makes it possible to write generic code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>
            <p:ph type="title"/>
          </p:nvPr>
        </p:nvSpPr>
        <p:spPr>
          <a:xfrm>
            <a:off x="311700" y="24043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Vector Addition Example</a:t>
            </a:r>
            <a:endParaRPr/>
          </a:p>
        </p:txBody>
      </p:sp>
      <p:pic>
        <p:nvPicPr>
          <p:cNvPr descr="Julia (programming language) - Wikipedia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96351" y="1452099"/>
            <a:ext cx="3637800" cy="2677616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vector_size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1024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rand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SA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vector_size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rand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SA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vector_size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zeros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vector_size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vadd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SA" sz="1400" u="sng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Thread.@threads</a:t>
            </a: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for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SA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vector_size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c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1321590" y="998482"/>
            <a:ext cx="14253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code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3974100" y="1526525"/>
            <a:ext cx="5099700" cy="24621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db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dc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CUDA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size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vadd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SA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threadIdx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SA" sz="13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4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@cuda </a:t>
            </a:r>
            <a:r>
              <a:rPr b="0" i="0" lang="en-SA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threads=length(a) vadd(dc, da, 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5466836" y="969777"/>
            <a:ext cx="24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A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 (CUDA) kernel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2"/>
          <p:cNvCxnSpPr/>
          <p:nvPr/>
        </p:nvCxnSpPr>
        <p:spPr>
          <a:xfrm>
            <a:off x="2681225" y="3007722"/>
            <a:ext cx="1749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8" name="Google Shape;2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239240" y="4103959"/>
            <a:ext cx="33361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SA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Notice: only local 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3390253" y="4578903"/>
            <a:ext cx="52854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A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Any Ideas what is the limitation here?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186724" y="177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Enhanced GPU Vector Addition</a:t>
            </a:r>
            <a:endParaRPr/>
          </a:p>
        </p:txBody>
      </p:sp>
      <p:pic>
        <p:nvPicPr>
          <p:cNvPr descr="Julia (programming language) - Wikipedia" id="256" name="Google Shape;2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 txBox="1"/>
          <p:nvPr/>
        </p:nvSpPr>
        <p:spPr>
          <a:xfrm>
            <a:off x="1458882" y="2972828"/>
            <a:ext cx="6084917" cy="20928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3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db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3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dc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CUDA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300" u="none" cap="none" strike="noStrik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size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vadd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threadIdx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blockIdx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300" u="none" cap="none" strike="noStrik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blockDim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SA" sz="13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SA" sz="13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SA" sz="13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@cuda </a:t>
            </a:r>
            <a:r>
              <a:rPr b="0" i="0" lang="en-SA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threads=1024 blocks=cld(length(da),1024) vadd(dc, da, 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158795" y="872770"/>
            <a:ext cx="7716578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SA" sz="1600" u="none" cap="none" strike="noStrike">
                <a:solidFill>
                  <a:srgbClr val="92D050"/>
                </a:solidFill>
                <a:latin typeface="Roboto"/>
                <a:ea typeface="Roboto"/>
                <a:cs typeface="Roboto"/>
                <a:sym typeface="Roboto"/>
              </a:rPr>
              <a:t>threadIdx().x + (blockIdx().x - 1) * blockDim().x = </a:t>
            </a:r>
            <a:r>
              <a:rPr b="0" i="0" lang="en-SA" sz="16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 + (3-1) * 256 = 515</a:t>
            </a:r>
            <a:r>
              <a:rPr b="0" i="0" lang="en-SA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SA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Gets the global index of the thread in a multidimensional grid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9" name="Google Shape;259;p19"/>
          <p:cNvGraphicFramePr/>
          <p:nvPr/>
        </p:nvGraphicFramePr>
        <p:xfrm>
          <a:off x="186724" y="22688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/>
                <a:gridCol w="287325"/>
                <a:gridCol w="331025"/>
                <a:gridCol w="360125"/>
                <a:gridCol w="419525"/>
              </a:tblGrid>
              <a:tr h="16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256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60" name="Google Shape;260;p19"/>
          <p:cNvGraphicFramePr/>
          <p:nvPr/>
        </p:nvGraphicFramePr>
        <p:xfrm>
          <a:off x="2254556" y="2274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/>
                <a:gridCol w="287325"/>
                <a:gridCol w="331025"/>
                <a:gridCol w="360125"/>
                <a:gridCol w="419525"/>
              </a:tblGrid>
              <a:tr h="16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256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61" name="Google Shape;261;p19"/>
          <p:cNvGraphicFramePr/>
          <p:nvPr/>
        </p:nvGraphicFramePr>
        <p:xfrm>
          <a:off x="4322389" y="2264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/>
                <a:gridCol w="287325"/>
                <a:gridCol w="331025"/>
                <a:gridCol w="360125"/>
                <a:gridCol w="419525"/>
              </a:tblGrid>
              <a:tr h="16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256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62" name="Google Shape;262;p19"/>
          <p:cNvGraphicFramePr/>
          <p:nvPr/>
        </p:nvGraphicFramePr>
        <p:xfrm>
          <a:off x="6812017" y="22605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/>
                <a:gridCol w="287325"/>
                <a:gridCol w="331025"/>
                <a:gridCol w="360125"/>
                <a:gridCol w="419525"/>
              </a:tblGrid>
              <a:tr h="16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cap="none" strike="noStrike"/>
                        <a:t>256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63" name="Google Shape;263;p19"/>
          <p:cNvSpPr txBox="1"/>
          <p:nvPr/>
        </p:nvSpPr>
        <p:spPr>
          <a:xfrm>
            <a:off x="6237168" y="2174441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149213" y="2617916"/>
            <a:ext cx="17748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blockIdx().x = 1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2226669" y="2616311"/>
            <a:ext cx="17748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blockIdx().x = 2</a:t>
            </a:r>
            <a:endParaRPr b="0" i="0" sz="14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4294497" y="2624331"/>
            <a:ext cx="17748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rgbClr val="00717D"/>
                </a:solidFill>
                <a:latin typeface="Consolas"/>
                <a:ea typeface="Consolas"/>
                <a:cs typeface="Consolas"/>
                <a:sym typeface="Consolas"/>
              </a:rPr>
              <a:t>blockIdx().x = 3</a:t>
            </a:r>
            <a:endParaRPr b="0" i="0" sz="1400" u="none" cap="none" strike="noStrike">
              <a:solidFill>
                <a:srgbClr val="007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6801220" y="2614706"/>
            <a:ext cx="207300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A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blockIdx().x = 2048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 rot="-5400000">
            <a:off x="945842" y="1839193"/>
            <a:ext cx="162225" cy="148819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 rot="-5400000">
            <a:off x="2984795" y="1847214"/>
            <a:ext cx="162225" cy="148819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 rot="-5400000">
            <a:off x="5071877" y="1835982"/>
            <a:ext cx="162225" cy="148819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0071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 rot="-5400000">
            <a:off x="7535952" y="1835984"/>
            <a:ext cx="162225" cy="148819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 rot="5400000">
            <a:off x="4208748" y="-2424150"/>
            <a:ext cx="307777" cy="8426851"/>
          </a:xfrm>
          <a:prstGeom prst="leftBrace">
            <a:avLst>
              <a:gd fmla="val 8333" name="adj1"/>
              <a:gd fmla="val 4977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368990" y="1972989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A" sz="12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2436820" y="1971385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A" sz="1200" u="none" cap="none" strike="noStrik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b="0" i="0" sz="1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4514273" y="1989031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A" sz="1200" u="none" cap="none" strike="noStrike">
                <a:solidFill>
                  <a:srgbClr val="00717D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b="0" i="0" sz="1200" u="none" cap="none" strike="noStrike">
              <a:solidFill>
                <a:srgbClr val="007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6995993" y="1977800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A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3630465" y="1385511"/>
            <a:ext cx="176683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A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gridDim().x = 2048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ulia (programming language) - Wikipedia" id="283" name="Google Shape;2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>
            <p:ph idx="12" type="sldNum"/>
          </p:nvPr>
        </p:nvSpPr>
        <p:spPr>
          <a:xfrm>
            <a:off x="8456702" y="459557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207575" y="840225"/>
            <a:ext cx="8430900" cy="18774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S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Notebook: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SA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https://github.com/Rabab53/mit-parallel-computing-course/blob/main/Introduction_to_julia_gpu/gpu_introduction.ipynb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liaLab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