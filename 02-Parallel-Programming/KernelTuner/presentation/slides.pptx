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91" r:id="rId3"/>
    <p:sldId id="269" r:id="rId4"/>
    <p:sldId id="283" r:id="rId5"/>
    <p:sldId id="289" r:id="rId6"/>
    <p:sldId id="261" r:id="rId7"/>
    <p:sldId id="273" r:id="rId8"/>
    <p:sldId id="265" r:id="rId9"/>
    <p:sldId id="290" r:id="rId10"/>
    <p:sldId id="292" r:id="rId11"/>
    <p:sldId id="270" r:id="rId12"/>
    <p:sldId id="263" r:id="rId13"/>
  </p:sldIdLst>
  <p:sldSz cx="9144000" cy="5143500" type="screen16x9"/>
  <p:notesSz cx="5143500" cy="9144000"/>
  <p:embeddedFontLst>
    <p:embeddedFont>
      <p:font typeface="Century Gothic" panose="020B0502020202020204" pitchFamily="34"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9" roundtripDataSignature="AMtx7mjVJny0c0af4dQfMbPbYagTNtHvF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3A5F"/>
    <a:srgbClr val="1640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06"/>
    <p:restoredTop sz="94651"/>
  </p:normalViewPr>
  <p:slideViewPr>
    <p:cSldViewPr snapToGrid="0">
      <p:cViewPr varScale="1">
        <p:scale>
          <a:sx n="136" d="100"/>
          <a:sy n="136" d="100"/>
        </p:scale>
        <p:origin x="208" y="4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400" y="685800"/>
            <a:ext cx="34291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 name="Google Shape;35;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dirty="0"/>
          </a:p>
        </p:txBody>
      </p:sp>
      <p:sp>
        <p:nvSpPr>
          <p:cNvPr id="36" name="Google Shape;36;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1</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85800"/>
            <a:ext cx="6096000" cy="3429000"/>
          </a:xfrm>
        </p:spPr>
      </p:sp>
      <p:sp>
        <p:nvSpPr>
          <p:cNvPr id="3" name="Notes Placeholder 2"/>
          <p:cNvSpPr>
            <a:spLocks noGrp="1"/>
          </p:cNvSpPr>
          <p:nvPr>
            <p:ph type="body" idx="1"/>
          </p:nvPr>
        </p:nvSpPr>
        <p:spPr/>
        <p:txBody>
          <a:bodyPr/>
          <a:lstStyle/>
          <a:p>
            <a:pPr marL="158750" indent="0">
              <a:buNone/>
            </a:pPr>
            <a:r>
              <a:rPr lang="en-US" sz="1100" b="0" i="0" u="none" strike="noStrike" cap="none" spc="0" dirty="0">
                <a:solidFill>
                  <a:srgbClr val="000000"/>
                </a:solidFill>
                <a:effectLst/>
                <a:latin typeface="Arial"/>
                <a:ea typeface="Arial"/>
                <a:cs typeface="Arial"/>
                <a:sym typeface="Arial"/>
              </a:rPr>
              <a:t>About us</a:t>
            </a:r>
          </a:p>
          <a:p>
            <a:pPr marL="158750" indent="0">
              <a:buNone/>
            </a:pPr>
            <a:r>
              <a:rPr lang="en-US" sz="1100" b="0" i="0" u="none" strike="noStrike" cap="none" spc="0" dirty="0">
                <a:solidFill>
                  <a:srgbClr val="000000"/>
                </a:solidFill>
                <a:effectLst/>
                <a:latin typeface="Arial"/>
                <a:ea typeface="Arial"/>
                <a:cs typeface="Arial"/>
                <a:sym typeface="Arial"/>
              </a:rPr>
              <a:t>Program</a:t>
            </a:r>
          </a:p>
          <a:p>
            <a:pPr marL="158750" indent="0">
              <a:buNone/>
            </a:pPr>
            <a:r>
              <a:rPr lang="en-US" sz="1100" b="0" i="0" u="none" strike="noStrike" cap="none" spc="0" dirty="0">
                <a:solidFill>
                  <a:srgbClr val="000000"/>
                </a:solidFill>
                <a:effectLst/>
                <a:latin typeface="Arial"/>
                <a:ea typeface="Arial"/>
                <a:cs typeface="Arial"/>
                <a:sym typeface="Arial"/>
              </a:rPr>
              <a:t>We will have three sessions in which we start with introducing some new concepts followed by a hands-on session. </a:t>
            </a:r>
          </a:p>
          <a:p>
            <a:pPr marL="158750" indent="0">
              <a:buNone/>
            </a:pPr>
            <a:r>
              <a:rPr lang="en-US" sz="1100" b="0" i="0" u="none" strike="noStrike" cap="none" spc="0" dirty="0">
                <a:solidFill>
                  <a:srgbClr val="000000"/>
                </a:solidFill>
                <a:effectLst/>
                <a:latin typeface="Arial"/>
                <a:cs typeface="Arial"/>
                <a:sym typeface="Arial"/>
              </a:rPr>
              <a:t>Practical stuff</a:t>
            </a:r>
            <a:endParaRPr lang="en-US" dirty="0"/>
          </a:p>
        </p:txBody>
      </p:sp>
    </p:spTree>
    <p:extLst>
      <p:ext uri="{BB962C8B-B14F-4D97-AF65-F5344CB8AC3E}">
        <p14:creationId xmlns:p14="http://schemas.microsoft.com/office/powerpoint/2010/main" val="1908192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Everyone in HPC today faces the same nightmare. You’ve got NVIDIA GPUs in one cluster, AMD in another, maybe some Intel GPUs, and Apple Silicon locally. So what do we do? We write CUDA kernels. Then we rewrite them in HIP. Then SYCL. Then find out none of that runs on your laptop anymore.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Each demands its own kernel launch syntax, its own memory model quirks, its own compiler intrinsics. It’s not just kernels, it means maintaining entire parallel code paths with divergent optimization logic. And these optimizations don’t transfer. The tile size that’s optimal on an H100 might tank performance on an MI300X. The warp-level primitives you hand-tuned for NVIDIA don’t map cleanly to AMD’s wavefronts. So you end up with a combinatorial explosion: </a:t>
            </a:r>
            <a:r>
              <a:rPr lang="en-US" i="1" dirty="0"/>
              <a:t>N libraries × M vendors × K hardware generations</a:t>
            </a:r>
            <a:r>
              <a:rPr lang="en-US" dirty="0"/>
              <a:t>. This isn’t sustainable, neither in time nor software complexity. It locks scientific software to specific hardware procurement cycles, and makes reproducibility across centers nearly impossible.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problem is exemplified in Evelyn’s specialty: linear algebra libraries, where for every type of hardware a different library has been developed.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Each vendor-specific implementation is a maintenance burden that grows exponentially with every new architecture. The numbers are staggering: for example in the Exascale Computing Project [1], it took 250 staff member 6 years to port 70 libraries for performance portability; clearly not the kind of time budget the average scientist has available, or wants to spend on translating the same mathematical intent into three, four, five different vendor dialects. And when the next generation lands? You do it all over again. This is the performance-portability dilemma: we need vendor-level efficiency, but we can’t sustain vendor-locked codebases.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Something has to give.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imagine a world where… </a:t>
            </a:r>
            <a:endParaRPr lang="en-BE" dirty="0"/>
          </a:p>
        </p:txBody>
      </p:sp>
      <p:sp>
        <p:nvSpPr>
          <p:cNvPr id="4" name="Slide Number Placeholder 3"/>
          <p:cNvSpPr>
            <a:spLocks noGrp="1"/>
          </p:cNvSpPr>
          <p:nvPr>
            <p:ph type="sldNum" sz="quarter" idx="5"/>
          </p:nvPr>
        </p:nvSpPr>
        <p:spPr/>
        <p:txBody>
          <a:bodyPr/>
          <a:lstStyle/>
          <a:p>
            <a:fld id="{1A36667C-F422-C544-AD83-14B72392CAEC}" type="slidenum">
              <a:rPr lang="en-US" smtClean="0"/>
              <a:t>3</a:t>
            </a:fld>
            <a:endParaRPr lang="en-US"/>
          </a:p>
        </p:txBody>
      </p:sp>
    </p:spTree>
    <p:extLst>
      <p:ext uri="{BB962C8B-B14F-4D97-AF65-F5344CB8AC3E}">
        <p14:creationId xmlns:p14="http://schemas.microsoft.com/office/powerpoint/2010/main" val="597588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9CA0B-97FA-E302-FC03-7A6E328B61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513411-3AEF-0A30-D05F-7A50B5CF680E}"/>
              </a:ext>
            </a:extLst>
          </p:cNvPr>
          <p:cNvSpPr>
            <a:spLocks noGrp="1" noRot="1" noChangeAspect="1"/>
          </p:cNvSpPr>
          <p:nvPr>
            <p:ph type="sldImg"/>
          </p:nvPr>
        </p:nvSpPr>
        <p:spPr>
          <a:xfrm>
            <a:off x="-476250" y="685800"/>
            <a:ext cx="6096000" cy="3429000"/>
          </a:xfrm>
        </p:spPr>
      </p:sp>
      <p:sp>
        <p:nvSpPr>
          <p:cNvPr id="3" name="Notes Placeholder 2">
            <a:extLst>
              <a:ext uri="{FF2B5EF4-FFF2-40B4-BE49-F238E27FC236}">
                <a16:creationId xmlns:a16="http://schemas.microsoft.com/office/drawing/2014/main" id="{2EE6B101-7B04-347B-87BC-F90DD31FEB41}"/>
              </a:ext>
            </a:extLst>
          </p:cNvPr>
          <p:cNvSpPr>
            <a:spLocks noGrp="1"/>
          </p:cNvSpPr>
          <p:nvPr>
            <p:ph type="body" idx="1"/>
          </p:nvPr>
        </p:nvSpPr>
        <p:spPr/>
        <p:txBody>
          <a:bodyPr/>
          <a:lstStyle/>
          <a:p>
            <a:r>
              <a:rPr lang="en-US" dirty="0"/>
              <a:t>Here’s the idea: you write your kernel once in Julia, using high-level abstractions without vendor-specific code, just algorithmic intent. At JIT-compile time, </a:t>
            </a:r>
            <a:r>
              <a:rPr lang="en-US" dirty="0" err="1"/>
              <a:t>KernelAbstractions</a:t>
            </a:r>
            <a:r>
              <a:rPr lang="en-US" dirty="0"/>
              <a:t> lowers that single kernel to </a:t>
            </a:r>
            <a:r>
              <a:rPr lang="en-US" b="1" dirty="0"/>
              <a:t>vendor-specific Intermediate Representations</a:t>
            </a:r>
            <a:r>
              <a:rPr lang="en-US" dirty="0"/>
              <a:t>: PTX for NVIDIA, GCN/RDNA assembly for AMD, SPIR-V for Intel and SYCL targets, Metal IR for Apple. You’ve got the same source code, the same Julia process, and yet native performance on each backend. </a:t>
            </a:r>
            <a:r>
              <a:rPr lang="en-US" dirty="0" err="1"/>
              <a:t>NextLA.jl</a:t>
            </a:r>
            <a:r>
              <a:rPr lang="en-US" dirty="0"/>
              <a:t> builds on this for linear algebra. It gives you BLAS/LAPACK-style operations that </a:t>
            </a:r>
            <a:r>
              <a:rPr lang="en-US" i="1" dirty="0"/>
              <a:t>just work</a:t>
            </a:r>
            <a:r>
              <a:rPr lang="en-US" dirty="0"/>
              <a:t> across NVIDIA, AMD, Intel, and Apple hardware. One codebase serving four vendor backends, without any vendor-specific kernel code. This is the promise: </a:t>
            </a:r>
            <a:r>
              <a:rPr lang="en-US" b="1" dirty="0"/>
              <a:t>express intent once, run efficiently everywhere.</a:t>
            </a:r>
            <a:r>
              <a:rPr lang="en-US" dirty="0"/>
              <a:t> </a:t>
            </a:r>
          </a:p>
          <a:p>
            <a:endParaRPr lang="en-US" dirty="0"/>
          </a:p>
        </p:txBody>
      </p:sp>
      <p:sp>
        <p:nvSpPr>
          <p:cNvPr id="4" name="Slide Number Placeholder 3">
            <a:extLst>
              <a:ext uri="{FF2B5EF4-FFF2-40B4-BE49-F238E27FC236}">
                <a16:creationId xmlns:a16="http://schemas.microsoft.com/office/drawing/2014/main" id="{A9DE061A-B9FE-E802-4145-FB0F2A919B88}"/>
              </a:ext>
            </a:extLst>
          </p:cNvPr>
          <p:cNvSpPr>
            <a:spLocks noGrp="1"/>
          </p:cNvSpPr>
          <p:nvPr>
            <p:ph type="sldNum" sz="quarter" idx="5"/>
          </p:nvPr>
        </p:nvSpPr>
        <p:spPr/>
        <p:txBody>
          <a:bodyPr/>
          <a:lstStyle/>
          <a:p>
            <a:fld id="{1A36667C-F422-C544-AD83-14B72392CAEC}" type="slidenum">
              <a:rPr lang="en-US" smtClean="0"/>
              <a:t>4</a:t>
            </a:fld>
            <a:endParaRPr lang="en-US"/>
          </a:p>
        </p:txBody>
      </p:sp>
    </p:spTree>
    <p:extLst>
      <p:ext uri="{BB962C8B-B14F-4D97-AF65-F5344CB8AC3E}">
        <p14:creationId xmlns:p14="http://schemas.microsoft.com/office/powerpoint/2010/main" val="41335218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6EBF5-5174-B4E2-F90F-B12DA1915A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CA0A6F-DD6E-ABE7-8AA7-8314DD868F34}"/>
              </a:ext>
            </a:extLst>
          </p:cNvPr>
          <p:cNvSpPr>
            <a:spLocks noGrp="1" noRot="1" noChangeAspect="1"/>
          </p:cNvSpPr>
          <p:nvPr>
            <p:ph type="sldImg"/>
          </p:nvPr>
        </p:nvSpPr>
        <p:spPr>
          <a:xfrm>
            <a:off x="-476250" y="685800"/>
            <a:ext cx="6096000" cy="3429000"/>
          </a:xfrm>
        </p:spPr>
      </p:sp>
      <p:sp>
        <p:nvSpPr>
          <p:cNvPr id="3" name="Notes Placeholder 2">
            <a:extLst>
              <a:ext uri="{FF2B5EF4-FFF2-40B4-BE49-F238E27FC236}">
                <a16:creationId xmlns:a16="http://schemas.microsoft.com/office/drawing/2014/main" id="{0B500214-8756-280E-77A5-ED9BD30CB2C5}"/>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GB" sz="1100" b="0" dirty="0">
                <a:solidFill>
                  <a:schemeClr val="bg1"/>
                </a:solidFill>
              </a:rPr>
              <a:t>No, we need hyperparameters for GPU code</a:t>
            </a:r>
          </a:p>
        </p:txBody>
      </p:sp>
      <p:sp>
        <p:nvSpPr>
          <p:cNvPr id="4" name="Slide Number Placeholder 3">
            <a:extLst>
              <a:ext uri="{FF2B5EF4-FFF2-40B4-BE49-F238E27FC236}">
                <a16:creationId xmlns:a16="http://schemas.microsoft.com/office/drawing/2014/main" id="{7870E6A3-F471-6E04-BDB9-1F4B44657E34}"/>
              </a:ext>
            </a:extLst>
          </p:cNvPr>
          <p:cNvSpPr>
            <a:spLocks noGrp="1"/>
          </p:cNvSpPr>
          <p:nvPr>
            <p:ph type="sldNum" sz="quarter" idx="5"/>
          </p:nvPr>
        </p:nvSpPr>
        <p:spPr/>
        <p:txBody>
          <a:bodyPr/>
          <a:lstStyle/>
          <a:p>
            <a:fld id="{1A36667C-F422-C544-AD83-14B72392CAEC}" type="slidenum">
              <a:rPr lang="en-US" smtClean="0"/>
              <a:t>5</a:t>
            </a:fld>
            <a:endParaRPr lang="en-US"/>
          </a:p>
        </p:txBody>
      </p:sp>
    </p:spTree>
    <p:extLst>
      <p:ext uri="{BB962C8B-B14F-4D97-AF65-F5344CB8AC3E}">
        <p14:creationId xmlns:p14="http://schemas.microsoft.com/office/powerpoint/2010/main" val="9138466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85800"/>
            <a:ext cx="6096000" cy="3429000"/>
          </a:xfrm>
        </p:spPr>
      </p:sp>
      <p:sp>
        <p:nvSpPr>
          <p:cNvPr id="3" name="Notes Placeholder 2"/>
          <p:cNvSpPr>
            <a:spLocks noGrp="1"/>
          </p:cNvSpPr>
          <p:nvPr>
            <p:ph type="body" idx="1"/>
          </p:nvPr>
        </p:nvSpPr>
        <p:spPr/>
        <p:txBody>
          <a:bodyPr/>
          <a:lstStyle/>
          <a:p>
            <a:r>
              <a:rPr lang="en-US" dirty="0"/>
              <a:t>Auto-tuning is simple in principle: you define a </a:t>
            </a:r>
            <a:r>
              <a:rPr lang="en-US" i="1" dirty="0"/>
              <a:t>parameterized kernel</a:t>
            </a:r>
            <a:r>
              <a:rPr lang="en-US" dirty="0"/>
              <a:t> and a </a:t>
            </a:r>
            <a:r>
              <a:rPr lang="en-US" i="1" dirty="0"/>
              <a:t>search space</a:t>
            </a:r>
            <a:r>
              <a:rPr lang="en-US" dirty="0"/>
              <a:t> of valid configurations. The auto-tuner then: </a:t>
            </a:r>
          </a:p>
          <a:p>
            <a:pPr lvl="0"/>
            <a:r>
              <a:rPr lang="en-US" b="1" dirty="0"/>
              <a:t>Generates</a:t>
            </a:r>
            <a:r>
              <a:rPr lang="en-US" dirty="0"/>
              <a:t> candidate configurations from the search space</a:t>
            </a:r>
          </a:p>
          <a:p>
            <a:pPr lvl="0"/>
            <a:r>
              <a:rPr lang="en-US" b="1" dirty="0"/>
              <a:t>Compiles &amp; executes</a:t>
            </a:r>
            <a:r>
              <a:rPr lang="en-US" dirty="0"/>
              <a:t> each candidate on the target hardware</a:t>
            </a:r>
          </a:p>
          <a:p>
            <a:pPr lvl="0"/>
            <a:r>
              <a:rPr lang="en-US" b="1" dirty="0"/>
              <a:t>Measures</a:t>
            </a:r>
            <a:r>
              <a:rPr lang="en-US" dirty="0"/>
              <a:t> actual runtime (or energy, accuracy, memory footprint etc.)</a:t>
            </a:r>
          </a:p>
          <a:p>
            <a:pPr lvl="0"/>
            <a:r>
              <a:rPr lang="en-US" b="1" dirty="0"/>
              <a:t>Searches,</a:t>
            </a:r>
            <a:r>
              <a:rPr lang="en-US" dirty="0"/>
              <a:t> ideally intelligently, to find the global minimum</a:t>
            </a:r>
          </a:p>
          <a:p>
            <a:pPr lvl="0"/>
            <a:r>
              <a:rPr lang="en-US" b="1" dirty="0"/>
              <a:t>Caches</a:t>
            </a:r>
            <a:r>
              <a:rPr lang="en-US" dirty="0"/>
              <a:t> results so re-tuning is instant on known hardware</a:t>
            </a:r>
          </a:p>
          <a:p>
            <a:r>
              <a:rPr lang="en-US" dirty="0"/>
              <a:t>This goes on in a loop, replacing the guesswork of </a:t>
            </a:r>
            <a:r>
              <a:rPr lang="en-US" i="1" dirty="0"/>
              <a:t>”I think 256 threads works well”</a:t>
            </a:r>
            <a:r>
              <a:rPr lang="en-US" dirty="0"/>
              <a:t> that quickly becomes infeasible with complex kernels on a multitude of hardware platforms with empirical measurements and intelligent optimization to efficiently get close to the optimal configuration. </a:t>
            </a:r>
          </a:p>
          <a:p>
            <a:endParaRPr lang="en-US" dirty="0"/>
          </a:p>
          <a:p>
            <a:r>
              <a:rPr lang="en-US" dirty="0"/>
              <a:t>This auto-tuning is a common approach, and various auto-tuners exist for a variety of programming languages and GPU programming models. One of which is Kernel Tuner, a mature, open-source auto-tuning framework we build on. Born in the Python ecosystem, Kernel Tuner has been developed since 2016, and is used in production at labs and research projects, offering a wide array of features. Such as: </a:t>
            </a:r>
          </a:p>
          <a:p>
            <a:pPr lvl="0"/>
            <a:r>
              <a:rPr lang="en-US" b="1" dirty="0"/>
              <a:t>CUDA</a:t>
            </a:r>
            <a:r>
              <a:rPr lang="en-US" dirty="0"/>
              <a:t>, </a:t>
            </a:r>
            <a:r>
              <a:rPr lang="en-US" b="1" dirty="0"/>
              <a:t>OpenCL</a:t>
            </a:r>
            <a:r>
              <a:rPr lang="en-US" dirty="0"/>
              <a:t>, </a:t>
            </a:r>
            <a:r>
              <a:rPr lang="en-US" b="1" dirty="0"/>
              <a:t>C++</a:t>
            </a:r>
            <a:r>
              <a:rPr lang="en-US" dirty="0"/>
              <a:t>, </a:t>
            </a:r>
            <a:r>
              <a:rPr lang="en-US" b="1" dirty="0"/>
              <a:t>HIP</a:t>
            </a:r>
            <a:r>
              <a:rPr lang="en-US" dirty="0"/>
              <a:t>, </a:t>
            </a:r>
            <a:r>
              <a:rPr lang="en-US" b="1" dirty="0" err="1"/>
              <a:t>etc</a:t>
            </a:r>
            <a:r>
              <a:rPr lang="en-US" dirty="0"/>
              <a:t> kernels</a:t>
            </a:r>
          </a:p>
          <a:p>
            <a:pPr lvl="0"/>
            <a:r>
              <a:rPr lang="en-US" b="1" dirty="0"/>
              <a:t>Bayesian optimization</a:t>
            </a:r>
            <a:r>
              <a:rPr lang="en-US" dirty="0"/>
              <a:t>, </a:t>
            </a:r>
            <a:r>
              <a:rPr lang="en-US" b="1" dirty="0"/>
              <a:t>genetic algorithms</a:t>
            </a:r>
            <a:r>
              <a:rPr lang="en-US" dirty="0"/>
              <a:t>, </a:t>
            </a:r>
            <a:r>
              <a:rPr lang="en-US" b="1" dirty="0"/>
              <a:t>Multi-objective </a:t>
            </a:r>
            <a:r>
              <a:rPr lang="en-US" b="1" dirty="0" err="1"/>
              <a:t>etc</a:t>
            </a:r>
            <a:endParaRPr lang="en-US" dirty="0"/>
          </a:p>
          <a:p>
            <a:pPr lvl="0"/>
            <a:r>
              <a:rPr lang="en-US" b="1" dirty="0"/>
              <a:t>Energy measurements and accuracy tuning</a:t>
            </a:r>
            <a:endParaRPr lang="en-US" dirty="0"/>
          </a:p>
          <a:p>
            <a:endParaRPr lang="en-US" dirty="0"/>
          </a:p>
        </p:txBody>
      </p:sp>
      <p:sp>
        <p:nvSpPr>
          <p:cNvPr id="4" name="Slide Number Placeholder 3"/>
          <p:cNvSpPr>
            <a:spLocks noGrp="1"/>
          </p:cNvSpPr>
          <p:nvPr>
            <p:ph type="sldNum" sz="quarter" idx="5"/>
          </p:nvPr>
        </p:nvSpPr>
        <p:spPr/>
        <p:txBody>
          <a:bodyPr/>
          <a:lstStyle/>
          <a:p>
            <a:fld id="{1A36667C-F422-C544-AD83-14B72392CAEC}" type="slidenum">
              <a:rPr lang="en-US" smtClean="0"/>
              <a:t>6</a:t>
            </a:fld>
            <a:endParaRPr lang="en-US"/>
          </a:p>
        </p:txBody>
      </p:sp>
    </p:spTree>
    <p:extLst>
      <p:ext uri="{BB962C8B-B14F-4D97-AF65-F5344CB8AC3E}">
        <p14:creationId xmlns:p14="http://schemas.microsoft.com/office/powerpoint/2010/main" val="30083597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85800"/>
            <a:ext cx="6096000" cy="3429000"/>
          </a:xfrm>
        </p:spPr>
      </p:sp>
      <p:sp>
        <p:nvSpPr>
          <p:cNvPr id="3" name="Notes Placeholder 2"/>
          <p:cNvSpPr>
            <a:spLocks noGrp="1"/>
          </p:cNvSpPr>
          <p:nvPr>
            <p:ph type="body" idx="1"/>
          </p:nvPr>
        </p:nvSpPr>
        <p:spPr/>
        <p:txBody>
          <a:bodyPr/>
          <a:lstStyle/>
          <a:p>
            <a:r>
              <a:rPr lang="en-US" dirty="0"/>
              <a:t>However, this often vendor-specific auto-tuning had not yet made its way to the high-level style of </a:t>
            </a:r>
            <a:r>
              <a:rPr lang="en-US" dirty="0" err="1"/>
              <a:t>KernelAbstractions</a:t>
            </a:r>
            <a:r>
              <a:rPr lang="en-US" dirty="0"/>
              <a:t>. This is where the auto-tuning and Julia superpowers meet: high level of abstraction and portability while also achieving high performance. In Julia, you can pass values as </a:t>
            </a:r>
            <a:r>
              <a:rPr lang="en-US" i="1" dirty="0"/>
              <a:t>type parameters, </a:t>
            </a:r>
            <a:r>
              <a:rPr lang="en-US" dirty="0"/>
              <a:t>and the compiler specializes the entire kernel for those constants at compile time, without branching or runtime overhead. The compiler sees exact values and generates optimal machine code. This aligns </a:t>
            </a:r>
            <a:r>
              <a:rPr lang="en-US" i="0" dirty="0"/>
              <a:t>perfectly</a:t>
            </a:r>
            <a:r>
              <a:rPr lang="en-US" dirty="0"/>
              <a:t> with auto-tuning: the tuner searches the space of tunable parameters, and for each candidate, it passes constants into the kernel. The JIT compiler does the rest: specializing, inlining, unrolling, vectorizing, etc.. So we replace manual expert guesses with automated design-space search. The expert defines the </a:t>
            </a:r>
            <a:r>
              <a:rPr lang="en-US" i="0" dirty="0"/>
              <a:t>search space</a:t>
            </a:r>
            <a:r>
              <a:rPr lang="en-US" dirty="0"/>
              <a:t>; the auto-tuner finds the </a:t>
            </a:r>
            <a:r>
              <a:rPr lang="en-US" i="1" dirty="0"/>
              <a:t>optimum</a:t>
            </a:r>
            <a:r>
              <a:rPr lang="en-US" dirty="0"/>
              <a:t> for each target platform, while </a:t>
            </a:r>
            <a:r>
              <a:rPr lang="en-US" b="0" dirty="0"/>
              <a:t>the kernel source code never changes</a:t>
            </a:r>
            <a:r>
              <a:rPr lang="en-US" b="1" dirty="0"/>
              <a:t>.</a:t>
            </a:r>
            <a:r>
              <a:rPr lang="en-US" dirty="0"/>
              <a:t> Only the constants passed at launch time.</a:t>
            </a:r>
          </a:p>
          <a:p>
            <a:endParaRPr lang="en-US" dirty="0"/>
          </a:p>
          <a:p>
            <a:r>
              <a:rPr lang="en-US" dirty="0"/>
              <a:t>How do we make this practical? We built </a:t>
            </a:r>
            <a:r>
              <a:rPr lang="en-US" b="1" dirty="0" err="1"/>
              <a:t>KernelTuner.jl</a:t>
            </a:r>
            <a:r>
              <a:rPr lang="en-US" dirty="0"/>
              <a:t>: a bridge between the Kernel Tuner auto-tuning ecosystem and Julia’s native GPU runtime. </a:t>
            </a:r>
          </a:p>
          <a:p>
            <a:r>
              <a:rPr lang="en-US" dirty="0"/>
              <a:t>Here’s the architecture: The Python side (Kernel Tuner) handles the search space construction, error handling, search strategy, etc. The Julia side compiles and executes kernels. This design means there is no code duplication. The kernel lives in Julia, the auto-tuning logic lives in Python, communicating via </a:t>
            </a:r>
            <a:r>
              <a:rPr lang="en-US" dirty="0" err="1"/>
              <a:t>PythonCall</a:t>
            </a:r>
            <a:r>
              <a:rPr lang="en-US" dirty="0"/>
              <a:t> and </a:t>
            </a:r>
            <a:r>
              <a:rPr lang="en-US" dirty="0" err="1"/>
              <a:t>JuliaCall</a:t>
            </a:r>
            <a:r>
              <a:rPr lang="en-US" dirty="0"/>
              <a:t>. This allows both to develop at their own pace, while benefiting from each other’s developments, meaning we get Kernel Tuner’s rich (and increasingly richer) feature set for free, usable on Julia kernels across all GPU backends. Time to see that in action, what have you got for us?</a:t>
            </a:r>
          </a:p>
          <a:p>
            <a:endParaRPr lang="en-US" dirty="0"/>
          </a:p>
          <a:p>
            <a:endParaRPr lang="en-US" dirty="0"/>
          </a:p>
        </p:txBody>
      </p:sp>
      <p:sp>
        <p:nvSpPr>
          <p:cNvPr id="4" name="Slide Number Placeholder 3"/>
          <p:cNvSpPr>
            <a:spLocks noGrp="1"/>
          </p:cNvSpPr>
          <p:nvPr>
            <p:ph type="sldNum" sz="quarter" idx="5"/>
          </p:nvPr>
        </p:nvSpPr>
        <p:spPr/>
        <p:txBody>
          <a:bodyPr/>
          <a:lstStyle/>
          <a:p>
            <a:fld id="{1A36667C-F422-C544-AD83-14B72392CAEC}" type="slidenum">
              <a:rPr lang="en-US" smtClean="0"/>
              <a:t>7</a:t>
            </a:fld>
            <a:endParaRPr lang="en-US"/>
          </a:p>
        </p:txBody>
      </p:sp>
    </p:spTree>
    <p:extLst>
      <p:ext uri="{BB962C8B-B14F-4D97-AF65-F5344CB8AC3E}">
        <p14:creationId xmlns:p14="http://schemas.microsoft.com/office/powerpoint/2010/main" val="12426942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a:extLst>
            <a:ext uri="{FF2B5EF4-FFF2-40B4-BE49-F238E27FC236}">
              <a16:creationId xmlns:a16="http://schemas.microsoft.com/office/drawing/2014/main" id="{F4EF6A56-2A8B-7394-A294-4DD262CB57F0}"/>
            </a:ext>
          </a:extLst>
        </p:cNvPr>
        <p:cNvGrpSpPr/>
        <p:nvPr/>
      </p:nvGrpSpPr>
      <p:grpSpPr>
        <a:xfrm>
          <a:off x="0" y="0"/>
          <a:ext cx="0" cy="0"/>
          <a:chOff x="0" y="0"/>
          <a:chExt cx="0" cy="0"/>
        </a:xfrm>
      </p:grpSpPr>
      <p:sp>
        <p:nvSpPr>
          <p:cNvPr id="34" name="Google Shape;34;p1:notes">
            <a:extLst>
              <a:ext uri="{FF2B5EF4-FFF2-40B4-BE49-F238E27FC236}">
                <a16:creationId xmlns:a16="http://schemas.microsoft.com/office/drawing/2014/main" id="{31B6D31C-B2B0-A1C6-AAB8-A35BD8EFE09A}"/>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 name="Google Shape;35;p1:notes">
            <a:extLst>
              <a:ext uri="{FF2B5EF4-FFF2-40B4-BE49-F238E27FC236}">
                <a16:creationId xmlns:a16="http://schemas.microsoft.com/office/drawing/2014/main" id="{AEBE222A-2AD8-FDE4-EC9C-E5D2A61E5F2F}"/>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dirty="0"/>
          </a:p>
        </p:txBody>
      </p:sp>
      <p:sp>
        <p:nvSpPr>
          <p:cNvPr id="36" name="Google Shape;36;p1:notes">
            <a:extLst>
              <a:ext uri="{FF2B5EF4-FFF2-40B4-BE49-F238E27FC236}">
                <a16:creationId xmlns:a16="http://schemas.microsoft.com/office/drawing/2014/main" id="{8D9D0285-90C7-E6EB-66D9-D58E1D6785E8}"/>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8</a:t>
            </a:fld>
            <a:endParaRPr sz="1800">
              <a:solidFill>
                <a:schemeClr val="dk1"/>
              </a:solidFill>
              <a:latin typeface="Arial"/>
              <a:ea typeface="Arial"/>
              <a:cs typeface="Arial"/>
              <a:sym typeface="Arial"/>
            </a:endParaRPr>
          </a:p>
        </p:txBody>
      </p:sp>
    </p:spTree>
    <p:extLst>
      <p:ext uri="{BB962C8B-B14F-4D97-AF65-F5344CB8AC3E}">
        <p14:creationId xmlns:p14="http://schemas.microsoft.com/office/powerpoint/2010/main" val="31810939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a:extLst>
            <a:ext uri="{FF2B5EF4-FFF2-40B4-BE49-F238E27FC236}">
              <a16:creationId xmlns:a16="http://schemas.microsoft.com/office/drawing/2014/main" id="{7C4FECB8-B7A7-449C-A014-2B15FE1F14F5}"/>
            </a:ext>
          </a:extLst>
        </p:cNvPr>
        <p:cNvGrpSpPr/>
        <p:nvPr/>
      </p:nvGrpSpPr>
      <p:grpSpPr>
        <a:xfrm>
          <a:off x="0" y="0"/>
          <a:ext cx="0" cy="0"/>
          <a:chOff x="0" y="0"/>
          <a:chExt cx="0" cy="0"/>
        </a:xfrm>
      </p:grpSpPr>
      <p:sp>
        <p:nvSpPr>
          <p:cNvPr id="34" name="Google Shape;34;p1:notes">
            <a:extLst>
              <a:ext uri="{FF2B5EF4-FFF2-40B4-BE49-F238E27FC236}">
                <a16:creationId xmlns:a16="http://schemas.microsoft.com/office/drawing/2014/main" id="{C10525F0-3244-4134-7BBD-4072DBD0B39D}"/>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 name="Google Shape;35;p1:notes">
            <a:extLst>
              <a:ext uri="{FF2B5EF4-FFF2-40B4-BE49-F238E27FC236}">
                <a16:creationId xmlns:a16="http://schemas.microsoft.com/office/drawing/2014/main" id="{9F3B8FEA-B81D-BDF4-D04A-94BE4DF05689}"/>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spc="0" dirty="0">
                <a:solidFill>
                  <a:srgbClr val="000000"/>
                </a:solidFill>
                <a:effectLst/>
                <a:latin typeface="Arial"/>
                <a:ea typeface="Arial"/>
                <a:cs typeface="Arial"/>
                <a:sym typeface="Arial"/>
              </a:rPr>
              <a:t>https://</a:t>
            </a:r>
            <a:r>
              <a:rPr lang="en-US" sz="1100" b="0" i="0" u="none" strike="noStrike" cap="none" spc="0" dirty="0" err="1">
                <a:solidFill>
                  <a:srgbClr val="000000"/>
                </a:solidFill>
                <a:effectLst/>
                <a:latin typeface="Arial"/>
                <a:ea typeface="Arial"/>
                <a:cs typeface="Arial"/>
                <a:sym typeface="Arial"/>
              </a:rPr>
              <a:t>whispermeter.com</a:t>
            </a:r>
            <a:r>
              <a:rPr lang="en-US" sz="1100" b="0" i="0" u="none" strike="noStrike" cap="none" spc="0" dirty="0">
                <a:solidFill>
                  <a:srgbClr val="000000"/>
                </a:solidFill>
                <a:effectLst/>
                <a:latin typeface="Arial"/>
                <a:ea typeface="Arial"/>
                <a:cs typeface="Arial"/>
                <a:sym typeface="Arial"/>
              </a:rPr>
              <a:t>/feedback/BNT8SOOXK3</a:t>
            </a:r>
          </a:p>
          <a:p>
            <a:pPr marL="0" marR="0" lvl="0" indent="0" algn="l" rtl="0">
              <a:spcBef>
                <a:spcPts val="0"/>
              </a:spcBef>
              <a:spcAft>
                <a:spcPts val="0"/>
              </a:spcAft>
              <a:buNone/>
            </a:pPr>
            <a:endParaRPr dirty="0"/>
          </a:p>
        </p:txBody>
      </p:sp>
      <p:sp>
        <p:nvSpPr>
          <p:cNvPr id="36" name="Google Shape;36;p1:notes">
            <a:extLst>
              <a:ext uri="{FF2B5EF4-FFF2-40B4-BE49-F238E27FC236}">
                <a16:creationId xmlns:a16="http://schemas.microsoft.com/office/drawing/2014/main" id="{CE6DAD38-C7E0-FEFC-D77E-826AB59914A5}"/>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9</a:t>
            </a:fld>
            <a:endParaRPr sz="1800">
              <a:solidFill>
                <a:schemeClr val="dk1"/>
              </a:solidFill>
              <a:latin typeface="Arial"/>
              <a:ea typeface="Arial"/>
              <a:cs typeface="Arial"/>
              <a:sym typeface="Arial"/>
            </a:endParaRPr>
          </a:p>
        </p:txBody>
      </p:sp>
    </p:spTree>
    <p:extLst>
      <p:ext uri="{BB962C8B-B14F-4D97-AF65-F5344CB8AC3E}">
        <p14:creationId xmlns:p14="http://schemas.microsoft.com/office/powerpoint/2010/main" val="4470962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4" name="Google Shape;134;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35" name="Google Shape;135;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12</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C26 Title">
  <p:cSld name="SC26 Title">
    <p:bg>
      <p:bgPr>
        <a:blipFill>
          <a:blip r:embed="rId2">
            <a:alphaModFix/>
          </a:blip>
          <a:stretch>
            <a:fillRect/>
          </a:stretch>
        </a:blipFill>
        <a:effectLst/>
      </p:bgPr>
    </p:bg>
    <p:spTree>
      <p:nvGrpSpPr>
        <p:cNvPr id="1" name="Shape 7"/>
        <p:cNvGrpSpPr/>
        <p:nvPr/>
      </p:nvGrpSpPr>
      <p:grpSpPr>
        <a:xfrm>
          <a:off x="0" y="0"/>
          <a:ext cx="0" cy="0"/>
          <a:chOff x="0" y="0"/>
          <a:chExt cx="0" cy="0"/>
        </a:xfrm>
      </p:grpSpPr>
      <p:sp>
        <p:nvSpPr>
          <p:cNvPr id="8" name="Google Shape;8;p10"/>
          <p:cNvSpPr txBox="1">
            <a:spLocks noGrp="1"/>
          </p:cNvSpPr>
          <p:nvPr>
            <p:ph type="title"/>
          </p:nvPr>
        </p:nvSpPr>
        <p:spPr>
          <a:xfrm>
            <a:off x="5477256" y="1920240"/>
            <a:ext cx="3291840" cy="123444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accent1"/>
              </a:buClr>
              <a:buSzPts val="2800"/>
              <a:buFont typeface="Arial"/>
              <a:buNone/>
              <a:defRPr sz="2800" b="1" i="0" u="none" strike="noStrike" cap="none">
                <a:solidFill>
                  <a:schemeClr val="accen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10"/>
          <p:cNvSpPr txBox="1">
            <a:spLocks noGrp="1"/>
          </p:cNvSpPr>
          <p:nvPr>
            <p:ph type="body" idx="1"/>
          </p:nvPr>
        </p:nvSpPr>
        <p:spPr>
          <a:xfrm>
            <a:off x="5477256" y="3291840"/>
            <a:ext cx="3291840" cy="146304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2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C26 Closing">
  <p:cSld name="SC26 Closing">
    <p:bg>
      <p:bgPr>
        <a:blipFill>
          <a:blip r:embed="rId2">
            <a:alphaModFix/>
          </a:blip>
          <a:stretch>
            <a:fillRect/>
          </a:stretch>
        </a:blipFill>
        <a:effectLst/>
      </p:bgPr>
    </p:bg>
    <p:spTree>
      <p:nvGrpSpPr>
        <p:cNvPr id="1" name="Shape 23"/>
        <p:cNvGrpSpPr/>
        <p:nvPr/>
      </p:nvGrpSpPr>
      <p:grpSpPr>
        <a:xfrm>
          <a:off x="0" y="0"/>
          <a:ext cx="0" cy="0"/>
          <a:chOff x="0" y="0"/>
          <a:chExt cx="0" cy="0"/>
        </a:xfrm>
      </p:grpSpPr>
      <p:sp>
        <p:nvSpPr>
          <p:cNvPr id="24" name="Google Shape;24;p14"/>
          <p:cNvSpPr txBox="1">
            <a:spLocks noGrp="1"/>
          </p:cNvSpPr>
          <p:nvPr>
            <p:ph type="title"/>
          </p:nvPr>
        </p:nvSpPr>
        <p:spPr>
          <a:xfrm>
            <a:off x="5477256" y="1920240"/>
            <a:ext cx="3291840" cy="123444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accent1"/>
              </a:buClr>
              <a:buSzPts val="3600"/>
              <a:buFont typeface="Arial"/>
              <a:buNone/>
              <a:defRPr sz="3600" b="1" i="0" u="none" strike="noStrike" cap="none">
                <a:solidFill>
                  <a:schemeClr val="accen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5" name="Google Shape;25;p14"/>
          <p:cNvSpPr txBox="1">
            <a:spLocks noGrp="1"/>
          </p:cNvSpPr>
          <p:nvPr>
            <p:ph type="body" idx="1"/>
          </p:nvPr>
        </p:nvSpPr>
        <p:spPr>
          <a:xfrm>
            <a:off x="5477256" y="3291840"/>
            <a:ext cx="3291840" cy="146304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C26 Title Only">
  <p:cSld name="SC26 Title Only">
    <p:bg>
      <p:bgPr>
        <a:blipFill>
          <a:blip r:embed="rId2">
            <a:alphaModFix/>
          </a:blip>
          <a:stretch>
            <a:fillRect/>
          </a:stretch>
        </a:blipFill>
        <a:effectLst/>
      </p:bgPr>
    </p:bg>
    <p:spTree>
      <p:nvGrpSpPr>
        <p:cNvPr id="1" name="Shape 27"/>
        <p:cNvGrpSpPr/>
        <p:nvPr/>
      </p:nvGrpSpPr>
      <p:grpSpPr>
        <a:xfrm>
          <a:off x="0" y="0"/>
          <a:ext cx="0" cy="0"/>
          <a:chOff x="0" y="0"/>
          <a:chExt cx="0" cy="0"/>
        </a:xfrm>
      </p:grpSpPr>
      <p:sp>
        <p:nvSpPr>
          <p:cNvPr id="28" name="Google Shape;28;p16"/>
          <p:cNvSpPr txBox="1">
            <a:spLocks noGrp="1"/>
          </p:cNvSpPr>
          <p:nvPr>
            <p:ph type="title"/>
          </p:nvPr>
        </p:nvSpPr>
        <p:spPr>
          <a:xfrm>
            <a:off x="704088" y="73152"/>
            <a:ext cx="6035040" cy="53035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accent1"/>
              </a:buClr>
              <a:buSzPts val="2400"/>
              <a:buFont typeface="Arial"/>
              <a:buNone/>
              <a:defRPr sz="2400" b="1" i="0" u="none" strike="noStrike" cap="none">
                <a:solidFill>
                  <a:schemeClr val="accen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16"/>
          <p:cNvSpPr txBox="1">
            <a:spLocks noGrp="1"/>
          </p:cNvSpPr>
          <p:nvPr>
            <p:ph type="sldNum" idx="12"/>
          </p:nvPr>
        </p:nvSpPr>
        <p:spPr>
          <a:xfrm>
            <a:off x="8229600" y="4754880"/>
            <a:ext cx="640080" cy="27432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000" b="0">
                <a:solidFill>
                  <a:schemeClr val="accent6"/>
                </a:solidFill>
                <a:latin typeface="Arial"/>
                <a:ea typeface="Arial"/>
                <a:cs typeface="Arial"/>
                <a:sym typeface="Arial"/>
              </a:defRPr>
            </a:lvl1pPr>
            <a:lvl2pPr marL="0" marR="0" lvl="1" indent="0" algn="r">
              <a:spcBef>
                <a:spcPts val="0"/>
              </a:spcBef>
              <a:buNone/>
              <a:defRPr sz="1000" b="0">
                <a:solidFill>
                  <a:schemeClr val="accent6"/>
                </a:solidFill>
                <a:latin typeface="Arial"/>
                <a:ea typeface="Arial"/>
                <a:cs typeface="Arial"/>
                <a:sym typeface="Arial"/>
              </a:defRPr>
            </a:lvl2pPr>
            <a:lvl3pPr marL="0" marR="0" lvl="2" indent="0" algn="r">
              <a:spcBef>
                <a:spcPts val="0"/>
              </a:spcBef>
              <a:buNone/>
              <a:defRPr sz="1000" b="0">
                <a:solidFill>
                  <a:schemeClr val="accent6"/>
                </a:solidFill>
                <a:latin typeface="Arial"/>
                <a:ea typeface="Arial"/>
                <a:cs typeface="Arial"/>
                <a:sym typeface="Arial"/>
              </a:defRPr>
            </a:lvl3pPr>
            <a:lvl4pPr marL="0" marR="0" lvl="3" indent="0" algn="r">
              <a:spcBef>
                <a:spcPts val="0"/>
              </a:spcBef>
              <a:buNone/>
              <a:defRPr sz="1000" b="0">
                <a:solidFill>
                  <a:schemeClr val="accent6"/>
                </a:solidFill>
                <a:latin typeface="Arial"/>
                <a:ea typeface="Arial"/>
                <a:cs typeface="Arial"/>
                <a:sym typeface="Arial"/>
              </a:defRPr>
            </a:lvl4pPr>
            <a:lvl5pPr marL="0" marR="0" lvl="4" indent="0" algn="r">
              <a:spcBef>
                <a:spcPts val="0"/>
              </a:spcBef>
              <a:buNone/>
              <a:defRPr sz="1000" b="0">
                <a:solidFill>
                  <a:schemeClr val="accent6"/>
                </a:solidFill>
                <a:latin typeface="Arial"/>
                <a:ea typeface="Arial"/>
                <a:cs typeface="Arial"/>
                <a:sym typeface="Arial"/>
              </a:defRPr>
            </a:lvl5pPr>
            <a:lvl6pPr marL="0" marR="0" lvl="5" indent="0" algn="r">
              <a:spcBef>
                <a:spcPts val="0"/>
              </a:spcBef>
              <a:buNone/>
              <a:defRPr sz="1000" b="0">
                <a:solidFill>
                  <a:schemeClr val="accent6"/>
                </a:solidFill>
                <a:latin typeface="Arial"/>
                <a:ea typeface="Arial"/>
                <a:cs typeface="Arial"/>
                <a:sym typeface="Arial"/>
              </a:defRPr>
            </a:lvl6pPr>
            <a:lvl7pPr marL="0" marR="0" lvl="6" indent="0" algn="r">
              <a:spcBef>
                <a:spcPts val="0"/>
              </a:spcBef>
              <a:buNone/>
              <a:defRPr sz="1000" b="0">
                <a:solidFill>
                  <a:schemeClr val="accent6"/>
                </a:solidFill>
                <a:latin typeface="Arial"/>
                <a:ea typeface="Arial"/>
                <a:cs typeface="Arial"/>
                <a:sym typeface="Arial"/>
              </a:defRPr>
            </a:lvl7pPr>
            <a:lvl8pPr marL="0" marR="0" lvl="7" indent="0" algn="r">
              <a:spcBef>
                <a:spcPts val="0"/>
              </a:spcBef>
              <a:buNone/>
              <a:defRPr sz="1000" b="0">
                <a:solidFill>
                  <a:schemeClr val="accent6"/>
                </a:solidFill>
                <a:latin typeface="Arial"/>
                <a:ea typeface="Arial"/>
                <a:cs typeface="Arial"/>
                <a:sym typeface="Arial"/>
              </a:defRPr>
            </a:lvl8pPr>
            <a:lvl9pPr marL="0" marR="0" lvl="8" indent="0" algn="r">
              <a:spcBef>
                <a:spcPts val="0"/>
              </a:spcBef>
              <a:buNone/>
              <a:defRPr sz="1000" b="0">
                <a:solidFill>
                  <a:schemeClr val="accent6"/>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C26 Section Header">
  <p:cSld name="SC26 Section Header">
    <p:bg>
      <p:bgPr>
        <a:blipFill>
          <a:blip r:embed="rId2">
            <a:alphaModFix/>
          </a:blip>
          <a:stretch>
            <a:fillRect/>
          </a:stretch>
        </a:blipFill>
        <a:effectLst/>
      </p:bgPr>
    </p:bg>
    <p:spTree>
      <p:nvGrpSpPr>
        <p:cNvPr id="1" name="Shape 30"/>
        <p:cNvGrpSpPr/>
        <p:nvPr/>
      </p:nvGrpSpPr>
      <p:grpSpPr>
        <a:xfrm>
          <a:off x="0" y="0"/>
          <a:ext cx="0" cy="0"/>
          <a:chOff x="0" y="0"/>
          <a:chExt cx="0" cy="0"/>
        </a:xfrm>
      </p:grpSpPr>
      <p:sp>
        <p:nvSpPr>
          <p:cNvPr id="31" name="Google Shape;31;p17"/>
          <p:cNvSpPr txBox="1">
            <a:spLocks noGrp="1"/>
          </p:cNvSpPr>
          <p:nvPr>
            <p:ph type="title"/>
          </p:nvPr>
        </p:nvSpPr>
        <p:spPr>
          <a:xfrm>
            <a:off x="704088" y="1737360"/>
            <a:ext cx="7680960" cy="109728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accent1"/>
              </a:buClr>
              <a:buSzPts val="4000"/>
              <a:buFont typeface="Arial"/>
              <a:buNone/>
              <a:defRPr sz="4000" b="1" i="0" u="none" strike="noStrike" cap="none">
                <a:solidFill>
                  <a:schemeClr val="accen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2" name="Google Shape;32;p17"/>
          <p:cNvSpPr txBox="1">
            <a:spLocks noGrp="1"/>
          </p:cNvSpPr>
          <p:nvPr>
            <p:ph type="body" idx="1"/>
          </p:nvPr>
        </p:nvSpPr>
        <p:spPr>
          <a:xfrm>
            <a:off x="704088" y="2971800"/>
            <a:ext cx="7680960" cy="109728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38A6D-603B-4058-A899-4B8F84AE93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B3C649-D8E9-E698-22CE-6E6DFFF5D9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911060-CFEA-11C7-216D-F8A6F15058B5}"/>
              </a:ext>
            </a:extLst>
          </p:cNvPr>
          <p:cNvSpPr>
            <a:spLocks noGrp="1"/>
          </p:cNvSpPr>
          <p:nvPr>
            <p:ph type="dt" sz="half" idx="10"/>
          </p:nvPr>
        </p:nvSpPr>
        <p:spPr/>
        <p:txBody>
          <a:bodyPr/>
          <a:lstStyle/>
          <a:p>
            <a:fld id="{24F9D511-473B-C94C-826D-8597C52D20D1}" type="datetime1">
              <a:rPr lang="en-US" smtClean="0"/>
              <a:t>10/26/26</a:t>
            </a:fld>
            <a:endParaRPr lang="en-US"/>
          </a:p>
        </p:txBody>
      </p:sp>
      <p:sp>
        <p:nvSpPr>
          <p:cNvPr id="6" name="Slide Number Placeholder 5">
            <a:extLst>
              <a:ext uri="{FF2B5EF4-FFF2-40B4-BE49-F238E27FC236}">
                <a16:creationId xmlns:a16="http://schemas.microsoft.com/office/drawing/2014/main" id="{822AD136-00C9-A271-9CA2-10277C361907}"/>
              </a:ext>
            </a:extLst>
          </p:cNvPr>
          <p:cNvSpPr>
            <a:spLocks noGrp="1"/>
          </p:cNvSpPr>
          <p:nvPr>
            <p:ph type="sldNum" sz="quarter" idx="12"/>
          </p:nvPr>
        </p:nvSpPr>
        <p:spPr/>
        <p:txBody>
          <a:bodyPr/>
          <a:lstStyle/>
          <a:p>
            <a:fld id="{647D3DD1-752F-CB4A-AD1B-631A63F6064D}" type="slidenum">
              <a:rPr lang="en-US" smtClean="0"/>
              <a:t>‹#›</a:t>
            </a:fld>
            <a:endParaRPr lang="en-US"/>
          </a:p>
        </p:txBody>
      </p:sp>
      <p:sp>
        <p:nvSpPr>
          <p:cNvPr id="7" name="Footer Placeholder 4">
            <a:extLst>
              <a:ext uri="{FF2B5EF4-FFF2-40B4-BE49-F238E27FC236}">
                <a16:creationId xmlns:a16="http://schemas.microsoft.com/office/drawing/2014/main" id="{CB52ACA9-97DA-E4F4-03F0-7D99385B2BE5}"/>
              </a:ext>
            </a:extLst>
          </p:cNvPr>
          <p:cNvSpPr txBox="1">
            <a:spLocks/>
          </p:cNvSpPr>
          <p:nvPr userDrawn="1"/>
        </p:nvSpPr>
        <p:spPr>
          <a:xfrm>
            <a:off x="-192359" y="-33454"/>
            <a:ext cx="3905715" cy="273844"/>
          </a:xfrm>
          <a:prstGeom prst="rect">
            <a:avLst/>
          </a:prstGeom>
        </p:spPr>
        <p:txBody>
          <a:bodyPr vert="horz" lIns="68580" tIns="34290" rIns="68580" bIns="34290" rtlCol="0" anchor="ctr"/>
          <a:lstStyle>
            <a:defPPr>
              <a:defRPr lang="en-US"/>
            </a:defPPr>
            <a:lvl1pPr marL="0" algn="ctr" defTabSz="914400" rtl="0" eaLnBrk="1" latinLnBrk="0" hangingPunct="1">
              <a:defRPr sz="10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750"/>
              <a:t>Portable to Efficient: Auto-Tuning Hardware-Agnostic GPU Kernels in Julia</a:t>
            </a:r>
            <a:endParaRPr lang="en-US" sz="750" dirty="0"/>
          </a:p>
        </p:txBody>
      </p:sp>
    </p:spTree>
    <p:extLst>
      <p:ext uri="{BB962C8B-B14F-4D97-AF65-F5344CB8AC3E}">
        <p14:creationId xmlns:p14="http://schemas.microsoft.com/office/powerpoint/2010/main" val="29284344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9"/>
          <p:cNvSpPr txBox="1">
            <a:spLocks noGrp="1"/>
          </p:cNvSpPr>
          <p:nvPr>
            <p:ph type="sldNum" idx="12"/>
          </p:nvPr>
        </p:nvSpPr>
        <p:spPr>
          <a:xfrm>
            <a:off x="8229600" y="4754880"/>
            <a:ext cx="640080" cy="27432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000" b="0" i="0" u="none" strike="noStrike" cap="none">
                <a:solidFill>
                  <a:schemeClr val="accent6"/>
                </a:solidFill>
                <a:latin typeface="Arial"/>
                <a:ea typeface="Arial"/>
                <a:cs typeface="Arial"/>
                <a:sym typeface="Arial"/>
              </a:defRPr>
            </a:lvl1pPr>
            <a:lvl2pPr marL="0" marR="0" lvl="1" indent="0" algn="r" rtl="0">
              <a:spcBef>
                <a:spcPts val="0"/>
              </a:spcBef>
              <a:buNone/>
              <a:defRPr sz="1000" b="0" i="0" u="none" strike="noStrike" cap="none">
                <a:solidFill>
                  <a:schemeClr val="accent6"/>
                </a:solidFill>
                <a:latin typeface="Arial"/>
                <a:ea typeface="Arial"/>
                <a:cs typeface="Arial"/>
                <a:sym typeface="Arial"/>
              </a:defRPr>
            </a:lvl2pPr>
            <a:lvl3pPr marL="0" marR="0" lvl="2" indent="0" algn="r" rtl="0">
              <a:spcBef>
                <a:spcPts val="0"/>
              </a:spcBef>
              <a:buNone/>
              <a:defRPr sz="1000" b="0" i="0" u="none" strike="noStrike" cap="none">
                <a:solidFill>
                  <a:schemeClr val="accent6"/>
                </a:solidFill>
                <a:latin typeface="Arial"/>
                <a:ea typeface="Arial"/>
                <a:cs typeface="Arial"/>
                <a:sym typeface="Arial"/>
              </a:defRPr>
            </a:lvl3pPr>
            <a:lvl4pPr marL="0" marR="0" lvl="3" indent="0" algn="r" rtl="0">
              <a:spcBef>
                <a:spcPts val="0"/>
              </a:spcBef>
              <a:buNone/>
              <a:defRPr sz="1000" b="0" i="0" u="none" strike="noStrike" cap="none">
                <a:solidFill>
                  <a:schemeClr val="accent6"/>
                </a:solidFill>
                <a:latin typeface="Arial"/>
                <a:ea typeface="Arial"/>
                <a:cs typeface="Arial"/>
                <a:sym typeface="Arial"/>
              </a:defRPr>
            </a:lvl4pPr>
            <a:lvl5pPr marL="0" marR="0" lvl="4" indent="0" algn="r" rtl="0">
              <a:spcBef>
                <a:spcPts val="0"/>
              </a:spcBef>
              <a:buNone/>
              <a:defRPr sz="1000" b="0" i="0" u="none" strike="noStrike" cap="none">
                <a:solidFill>
                  <a:schemeClr val="accent6"/>
                </a:solidFill>
                <a:latin typeface="Arial"/>
                <a:ea typeface="Arial"/>
                <a:cs typeface="Arial"/>
                <a:sym typeface="Arial"/>
              </a:defRPr>
            </a:lvl5pPr>
            <a:lvl6pPr marL="0" marR="0" lvl="5" indent="0" algn="r" rtl="0">
              <a:spcBef>
                <a:spcPts val="0"/>
              </a:spcBef>
              <a:buNone/>
              <a:defRPr sz="1000" b="0" i="0" u="none" strike="noStrike" cap="none">
                <a:solidFill>
                  <a:schemeClr val="accent6"/>
                </a:solidFill>
                <a:latin typeface="Arial"/>
                <a:ea typeface="Arial"/>
                <a:cs typeface="Arial"/>
                <a:sym typeface="Arial"/>
              </a:defRPr>
            </a:lvl6pPr>
            <a:lvl7pPr marL="0" marR="0" lvl="6" indent="0" algn="r" rtl="0">
              <a:spcBef>
                <a:spcPts val="0"/>
              </a:spcBef>
              <a:buNone/>
              <a:defRPr sz="1000" b="0" i="0" u="none" strike="noStrike" cap="none">
                <a:solidFill>
                  <a:schemeClr val="accent6"/>
                </a:solidFill>
                <a:latin typeface="Arial"/>
                <a:ea typeface="Arial"/>
                <a:cs typeface="Arial"/>
                <a:sym typeface="Arial"/>
              </a:defRPr>
            </a:lvl7pPr>
            <a:lvl8pPr marL="0" marR="0" lvl="7" indent="0" algn="r" rtl="0">
              <a:spcBef>
                <a:spcPts val="0"/>
              </a:spcBef>
              <a:buNone/>
              <a:defRPr sz="1000" b="0" i="0" u="none" strike="noStrike" cap="none">
                <a:solidFill>
                  <a:schemeClr val="accent6"/>
                </a:solidFill>
                <a:latin typeface="Arial"/>
                <a:ea typeface="Arial"/>
                <a:cs typeface="Arial"/>
                <a:sym typeface="Arial"/>
              </a:defRPr>
            </a:lvl8pPr>
            <a:lvl9pPr marL="0" marR="0" lvl="8" indent="0" algn="r" rtl="0">
              <a:spcBef>
                <a:spcPts val="0"/>
              </a:spcBef>
              <a:buNone/>
              <a:defRPr sz="1000" b="0" i="0" u="none" strike="noStrike" cap="none">
                <a:solidFill>
                  <a:schemeClr val="accent6"/>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3" r:id="rId2"/>
    <p:sldLayoutId id="2147483655" r:id="rId3"/>
    <p:sldLayoutId id="2147483656" r:id="rId4"/>
    <p:sldLayoutId id="2147483657"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KernelTuner/"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jp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6.jpe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6.jpe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fjwillemsen.com/s/JuliaSC26"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hyperlink" Target="https://fjwillemsen.com/s/JuliaSC26form"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hyperlink" Target="mailto:eringoot@mit.edu" TargetMode="External"/><Relationship Id="rId2" Type="http://schemas.openxmlformats.org/officeDocument/2006/relationships/hyperlink" Target="mailto:f.q.willemsen@liacs.leidenuniv.nl" TargetMode="Externa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hyperlink" Target="https://github.com/KernelTuner/KernelTuner.jl"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ieeexplore.ieee.org/abstract/document/8471188/" TargetMode="External"/><Relationship Id="rId2" Type="http://schemas.openxmlformats.org/officeDocument/2006/relationships/hyperlink" Target="https://arxiv.org/pdf/2311.06995" TargetMode="External"/><Relationship Id="rId1" Type="http://schemas.openxmlformats.org/officeDocument/2006/relationships/slideLayout" Target="../slideLayouts/slideLayout3.xml"/><Relationship Id="rId5" Type="http://schemas.openxmlformats.org/officeDocument/2006/relationships/hyperlink" Target="https://scholar.google.com/scholar?cluster=6811054653444409169&amp;hl=en&amp;oi=scholarr" TargetMode="External"/><Relationship Id="rId4" Type="http://schemas.openxmlformats.org/officeDocument/2006/relationships/hyperlink" Target="https://www.sciencedirect.com/science/article/pii/S0045782523007156"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mailto:f.q.willemsen@liacs.leidenuniv.nl"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hyperlink" Target="https://github.com/KernelTuner/" TargetMode="External"/><Relationship Id="rId4" Type="http://schemas.openxmlformats.org/officeDocument/2006/relationships/hyperlink" Target="mailto:eringoot@mit.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
        <p:cNvGrpSpPr/>
        <p:nvPr/>
      </p:nvGrpSpPr>
      <p:grpSpPr>
        <a:xfrm>
          <a:off x="0" y="0"/>
          <a:ext cx="0" cy="0"/>
          <a:chOff x="0" y="0"/>
          <a:chExt cx="0" cy="0"/>
        </a:xfrm>
      </p:grpSpPr>
      <p:sp>
        <p:nvSpPr>
          <p:cNvPr id="39" name="Google Shape;39;p1"/>
          <p:cNvSpPr txBox="1">
            <a:spLocks noGrp="1"/>
          </p:cNvSpPr>
          <p:nvPr>
            <p:ph type="body" idx="1"/>
          </p:nvPr>
        </p:nvSpPr>
        <p:spPr>
          <a:xfrm>
            <a:off x="4826832" y="3045285"/>
            <a:ext cx="4189751" cy="1956217"/>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lt1"/>
              </a:buClr>
              <a:buSzPts val="1600"/>
              <a:buNone/>
            </a:pPr>
            <a:r>
              <a:rPr lang="en-US" sz="1600" i="1" dirty="0"/>
              <a:t>Julia for HPC Tutorial</a:t>
            </a:r>
          </a:p>
          <a:p>
            <a:pPr marL="0" lvl="0" indent="0" algn="l" rtl="0">
              <a:spcBef>
                <a:spcPts val="0"/>
              </a:spcBef>
              <a:spcAft>
                <a:spcPts val="0"/>
              </a:spcAft>
              <a:buClr>
                <a:schemeClr val="lt1"/>
              </a:buClr>
              <a:buSzPts val="1600"/>
              <a:buNone/>
            </a:pPr>
            <a:endParaRPr lang="en-US" dirty="0"/>
          </a:p>
          <a:p>
            <a:pPr marL="0" lvl="0" indent="0" algn="l" rtl="0">
              <a:spcBef>
                <a:spcPts val="0"/>
              </a:spcBef>
              <a:spcAft>
                <a:spcPts val="0"/>
              </a:spcAft>
              <a:buClr>
                <a:schemeClr val="lt1"/>
              </a:buClr>
              <a:buSzPts val="1600"/>
              <a:buNone/>
            </a:pPr>
            <a:r>
              <a:rPr lang="en-US" sz="1600" dirty="0"/>
              <a:t>Floris-Jan Willemsen &amp; Evelyn</a:t>
            </a:r>
            <a:r>
              <a:rPr lang="en-US" dirty="0"/>
              <a:t>e </a:t>
            </a:r>
            <a:r>
              <a:rPr lang="en-US" dirty="0" err="1"/>
              <a:t>Ringoot</a:t>
            </a:r>
            <a:endParaRPr sz="1600" dirty="0"/>
          </a:p>
        </p:txBody>
      </p:sp>
      <p:sp>
        <p:nvSpPr>
          <p:cNvPr id="38" name="Google Shape;38;p1"/>
          <p:cNvSpPr txBox="1">
            <a:spLocks noGrp="1"/>
          </p:cNvSpPr>
          <p:nvPr>
            <p:ph type="title"/>
          </p:nvPr>
        </p:nvSpPr>
        <p:spPr>
          <a:xfrm>
            <a:off x="4826832" y="2315361"/>
            <a:ext cx="4088568" cy="512777"/>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Clr>
                <a:schemeClr val="accent1"/>
              </a:buClr>
              <a:buSzPts val="2800"/>
              <a:buFont typeface="Arial"/>
              <a:buNone/>
            </a:pPr>
            <a:r>
              <a:rPr lang="en-US" dirty="0"/>
              <a:t>Auto-Tuning GPU Kernels in Julia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3E136-E31A-324D-3B5B-DD1062781FC9}"/>
              </a:ext>
            </a:extLst>
          </p:cNvPr>
          <p:cNvSpPr>
            <a:spLocks noGrp="1"/>
          </p:cNvSpPr>
          <p:nvPr>
            <p:ph type="title"/>
          </p:nvPr>
        </p:nvSpPr>
        <p:spPr/>
        <p:txBody>
          <a:bodyPr/>
          <a:lstStyle/>
          <a:p>
            <a:r>
              <a:rPr lang="en-US" dirty="0"/>
              <a:t>Overview</a:t>
            </a:r>
          </a:p>
        </p:txBody>
      </p:sp>
      <p:sp>
        <p:nvSpPr>
          <p:cNvPr id="4" name="Content Placeholder 2">
            <a:extLst>
              <a:ext uri="{FF2B5EF4-FFF2-40B4-BE49-F238E27FC236}">
                <a16:creationId xmlns:a16="http://schemas.microsoft.com/office/drawing/2014/main" id="{A8C32F04-6979-0C19-1A7E-B0D31EF128DF}"/>
              </a:ext>
            </a:extLst>
          </p:cNvPr>
          <p:cNvSpPr txBox="1">
            <a:spLocks/>
          </p:cNvSpPr>
          <p:nvPr/>
        </p:nvSpPr>
        <p:spPr>
          <a:xfrm>
            <a:off x="770631" y="1379913"/>
            <a:ext cx="4652373" cy="3309850"/>
          </a:xfr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b="1" dirty="0">
                <a:solidFill>
                  <a:schemeClr val="bg2">
                    <a:lumMod val="50000"/>
                  </a:schemeClr>
                </a:solidFill>
              </a:rPr>
              <a:t>Program</a:t>
            </a:r>
          </a:p>
          <a:p>
            <a:endParaRPr lang="en-US" dirty="0">
              <a:solidFill>
                <a:schemeClr val="bg2">
                  <a:lumMod val="50000"/>
                </a:schemeClr>
              </a:solidFill>
            </a:endParaRPr>
          </a:p>
          <a:p>
            <a:pPr marL="285750" indent="-285750">
              <a:buFont typeface="Arial" panose="020B0604020202020204" pitchFamily="34" charset="0"/>
              <a:buChar char="•"/>
            </a:pPr>
            <a:r>
              <a:rPr lang="en-US" dirty="0">
                <a:solidFill>
                  <a:schemeClr val="bg2">
                    <a:lumMod val="50000"/>
                  </a:schemeClr>
                </a:solidFill>
              </a:rPr>
              <a:t>Introduction</a:t>
            </a:r>
          </a:p>
          <a:p>
            <a:pPr marL="285750" indent="-285750">
              <a:buFont typeface="Arial" panose="020B0604020202020204" pitchFamily="34" charset="0"/>
              <a:buChar char="•"/>
            </a:pPr>
            <a:r>
              <a:rPr lang="en-US" dirty="0">
                <a:solidFill>
                  <a:schemeClr val="bg2">
                    <a:lumMod val="50000"/>
                  </a:schemeClr>
                </a:solidFill>
              </a:rPr>
              <a:t>Autotuning basics</a:t>
            </a:r>
          </a:p>
          <a:p>
            <a:pPr marL="285750" indent="-285750">
              <a:buFont typeface="Arial" panose="020B0604020202020204" pitchFamily="34" charset="0"/>
              <a:buChar char="•"/>
            </a:pPr>
            <a:r>
              <a:rPr lang="en-US" dirty="0">
                <a:solidFill>
                  <a:schemeClr val="bg2">
                    <a:lumMod val="50000"/>
                  </a:schemeClr>
                </a:solidFill>
              </a:rPr>
              <a:t>Using optimization algorithms and restrictions</a:t>
            </a:r>
          </a:p>
          <a:p>
            <a:pPr marL="285750" indent="-285750">
              <a:buFont typeface="Arial" panose="020B0604020202020204" pitchFamily="34" charset="0"/>
              <a:buChar char="•"/>
            </a:pPr>
            <a:r>
              <a:rPr lang="en-US" dirty="0">
                <a:solidFill>
                  <a:schemeClr val="bg2">
                    <a:lumMod val="50000"/>
                  </a:schemeClr>
                </a:solidFill>
              </a:rPr>
              <a:t>Energy-efficient autotuning</a:t>
            </a:r>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endParaRPr lang="en-US" dirty="0">
              <a:solidFill>
                <a:schemeClr val="bg2">
                  <a:lumMod val="50000"/>
                </a:schemeClr>
              </a:solidFill>
            </a:endParaRPr>
          </a:p>
          <a:p>
            <a:r>
              <a:rPr lang="en-US" b="1" dirty="0">
                <a:solidFill>
                  <a:schemeClr val="bg2">
                    <a:lumMod val="50000"/>
                  </a:schemeClr>
                </a:solidFill>
              </a:rPr>
              <a:t>Practical matters</a:t>
            </a:r>
          </a:p>
          <a:p>
            <a:pPr marL="285750" indent="-285750">
              <a:buFont typeface="Arial" panose="020B0604020202020204" pitchFamily="34" charset="0"/>
              <a:buChar char="•"/>
            </a:pPr>
            <a:r>
              <a:rPr lang="en-US" dirty="0">
                <a:solidFill>
                  <a:schemeClr val="bg2">
                    <a:lumMod val="50000"/>
                  </a:schemeClr>
                </a:solidFill>
              </a:rPr>
              <a:t>Either run the notebooks locally or use the provided AMD GPUs</a:t>
            </a:r>
          </a:p>
          <a:p>
            <a:pPr marL="285750" indent="-285750">
              <a:buFont typeface="Arial" panose="020B0604020202020204" pitchFamily="34" charset="0"/>
              <a:buChar char="•"/>
            </a:pPr>
            <a:r>
              <a:rPr lang="en-US" dirty="0">
                <a:solidFill>
                  <a:schemeClr val="bg2">
                    <a:lumMod val="50000"/>
                  </a:schemeClr>
                </a:solidFill>
              </a:rPr>
              <a:t>Materials can be downloaded at:</a:t>
            </a:r>
            <a:br>
              <a:rPr lang="en-US" dirty="0">
                <a:solidFill>
                  <a:schemeClr val="bg2">
                    <a:lumMod val="50000"/>
                  </a:schemeClr>
                </a:solidFill>
              </a:rPr>
            </a:br>
            <a:r>
              <a:rPr lang="en-US" u="sng" dirty="0">
                <a:solidFill>
                  <a:schemeClr val="hlink"/>
                </a:solidFill>
                <a:hlinkClick r:id="rId3"/>
              </a:rPr>
              <a:t>https://</a:t>
            </a:r>
            <a:r>
              <a:rPr lang="en-US" u="sng" dirty="0" err="1">
                <a:solidFill>
                  <a:schemeClr val="hlink"/>
                </a:solidFill>
              </a:rPr>
              <a:t>fjwillemsen.com</a:t>
            </a:r>
            <a:r>
              <a:rPr lang="en-US" u="sng" dirty="0">
                <a:solidFill>
                  <a:schemeClr val="hlink"/>
                </a:solidFill>
              </a:rPr>
              <a:t>/s/JuliaSC26</a:t>
            </a:r>
            <a:endParaRPr lang="en-US" dirty="0"/>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endParaRPr lang="en-US" dirty="0">
              <a:solidFill>
                <a:schemeClr val="bg2">
                  <a:lumMod val="50000"/>
                </a:schemeClr>
              </a:solidFill>
            </a:endParaRPr>
          </a:p>
          <a:p>
            <a:pPr marL="285750" indent="-285750">
              <a:buFont typeface="Arial" panose="020B0604020202020204" pitchFamily="34" charset="0"/>
              <a:buChar char="•"/>
            </a:pPr>
            <a:endParaRPr lang="en-US" dirty="0">
              <a:solidFill>
                <a:schemeClr val="bg2">
                  <a:lumMod val="50000"/>
                </a:schemeClr>
              </a:solidFill>
            </a:endParaRPr>
          </a:p>
        </p:txBody>
      </p:sp>
      <p:pic>
        <p:nvPicPr>
          <p:cNvPr id="3" name="Google Shape;55;p2" descr="Grateful for the mentorship of Rabab Alomairy, Ph.D., Valentin Churavy, Alan Edelman and all others who made this work possible! Read more about our work portable, scalable and performant singular… | Evelyne">
            <a:extLst>
              <a:ext uri="{FF2B5EF4-FFF2-40B4-BE49-F238E27FC236}">
                <a16:creationId xmlns:a16="http://schemas.microsoft.com/office/drawing/2014/main" id="{50A04A1A-5EB2-7502-BDD4-4268B51B6291}"/>
              </a:ext>
            </a:extLst>
          </p:cNvPr>
          <p:cNvPicPr preferRelativeResize="0"/>
          <p:nvPr/>
        </p:nvPicPr>
        <p:blipFill rotWithShape="1">
          <a:blip r:embed="rId4">
            <a:alphaModFix/>
          </a:blip>
          <a:srcRect/>
          <a:stretch/>
        </p:blipFill>
        <p:spPr>
          <a:xfrm>
            <a:off x="7513445" y="1200150"/>
            <a:ext cx="1299543" cy="1371600"/>
          </a:xfrm>
          <a:prstGeom prst="rect">
            <a:avLst/>
          </a:prstGeom>
          <a:noFill/>
          <a:ln>
            <a:noFill/>
          </a:ln>
        </p:spPr>
      </p:pic>
      <p:pic>
        <p:nvPicPr>
          <p:cNvPr id="5" name="Google Shape;61;p2" title="phd_cropped_color_reduced_size.jpeg">
            <a:extLst>
              <a:ext uri="{FF2B5EF4-FFF2-40B4-BE49-F238E27FC236}">
                <a16:creationId xmlns:a16="http://schemas.microsoft.com/office/drawing/2014/main" id="{B6982B8E-F704-A382-987D-DBE9361BA978}"/>
              </a:ext>
            </a:extLst>
          </p:cNvPr>
          <p:cNvPicPr preferRelativeResize="0"/>
          <p:nvPr/>
        </p:nvPicPr>
        <p:blipFill rotWithShape="1">
          <a:blip r:embed="rId5">
            <a:alphaModFix/>
          </a:blip>
          <a:srcRect t="2245" b="2235"/>
          <a:stretch/>
        </p:blipFill>
        <p:spPr>
          <a:xfrm>
            <a:off x="5718346" y="1200148"/>
            <a:ext cx="1188720" cy="1371602"/>
          </a:xfrm>
          <a:prstGeom prst="rect">
            <a:avLst/>
          </a:prstGeom>
          <a:noFill/>
          <a:ln>
            <a:noFill/>
          </a:ln>
        </p:spPr>
      </p:pic>
      <p:sp>
        <p:nvSpPr>
          <p:cNvPr id="6" name="Google Shape;71;p2">
            <a:extLst>
              <a:ext uri="{FF2B5EF4-FFF2-40B4-BE49-F238E27FC236}">
                <a16:creationId xmlns:a16="http://schemas.microsoft.com/office/drawing/2014/main" id="{4EC85D87-97B8-A4A9-C77D-15B842289031}"/>
              </a:ext>
            </a:extLst>
          </p:cNvPr>
          <p:cNvSpPr txBox="1"/>
          <p:nvPr/>
        </p:nvSpPr>
        <p:spPr>
          <a:xfrm>
            <a:off x="7342968" y="2652077"/>
            <a:ext cx="1640496" cy="276975"/>
          </a:xfrm>
          <a:prstGeom prst="rect">
            <a:avLst/>
          </a:prstGeom>
          <a:noFill/>
          <a:ln>
            <a:noFill/>
          </a:ln>
        </p:spPr>
        <p:txBody>
          <a:bodyPr spcFirstLastPara="1" wrap="square" lIns="68550" tIns="34275" rIns="68550" bIns="34275" anchor="t" anchorCtr="0">
            <a:noAutofit/>
          </a:bodyPr>
          <a:lstStyle/>
          <a:p>
            <a:pPr marL="0" marR="0" lvl="0" indent="0" algn="ctr" rtl="0">
              <a:lnSpc>
                <a:spcPct val="90000"/>
              </a:lnSpc>
              <a:spcBef>
                <a:spcPts val="0"/>
              </a:spcBef>
              <a:spcAft>
                <a:spcPts val="0"/>
              </a:spcAft>
              <a:buNone/>
            </a:pPr>
            <a:r>
              <a:rPr lang="en-US" sz="1350" dirty="0">
                <a:solidFill>
                  <a:srgbClr val="143C64"/>
                </a:solidFill>
                <a:latin typeface="Century Gothic"/>
                <a:ea typeface="Century Gothic"/>
                <a:cs typeface="Century Gothic"/>
                <a:sym typeface="Century Gothic"/>
              </a:rPr>
              <a:t>Evelyne </a:t>
            </a:r>
            <a:r>
              <a:rPr lang="en-US" sz="1350" dirty="0" err="1">
                <a:solidFill>
                  <a:srgbClr val="143C64"/>
                </a:solidFill>
                <a:latin typeface="Century Gothic"/>
                <a:ea typeface="Century Gothic"/>
                <a:cs typeface="Century Gothic"/>
                <a:sym typeface="Century Gothic"/>
              </a:rPr>
              <a:t>Ringoot</a:t>
            </a:r>
            <a:r>
              <a:rPr lang="en-US" sz="1350" dirty="0">
                <a:solidFill>
                  <a:srgbClr val="143C64"/>
                </a:solidFill>
                <a:latin typeface="Century Gothic"/>
                <a:ea typeface="Century Gothic"/>
                <a:cs typeface="Century Gothic"/>
                <a:sym typeface="Century Gothic"/>
              </a:rPr>
              <a:t>, MIT, USA</a:t>
            </a:r>
            <a:endParaRPr sz="1350" dirty="0">
              <a:solidFill>
                <a:srgbClr val="143C64"/>
              </a:solidFill>
              <a:latin typeface="Century Gothic"/>
              <a:ea typeface="Century Gothic"/>
              <a:cs typeface="Century Gothic"/>
              <a:sym typeface="Century Gothic"/>
            </a:endParaRPr>
          </a:p>
        </p:txBody>
      </p:sp>
      <p:sp>
        <p:nvSpPr>
          <p:cNvPr id="7" name="Google Shape;75;p2">
            <a:extLst>
              <a:ext uri="{FF2B5EF4-FFF2-40B4-BE49-F238E27FC236}">
                <a16:creationId xmlns:a16="http://schemas.microsoft.com/office/drawing/2014/main" id="{1AE01930-7C18-F7FB-922C-BA17CDD954B2}"/>
              </a:ext>
            </a:extLst>
          </p:cNvPr>
          <p:cNvSpPr txBox="1"/>
          <p:nvPr/>
        </p:nvSpPr>
        <p:spPr>
          <a:xfrm>
            <a:off x="5423004" y="2645791"/>
            <a:ext cx="1820849" cy="276975"/>
          </a:xfrm>
          <a:prstGeom prst="rect">
            <a:avLst/>
          </a:prstGeom>
          <a:noFill/>
          <a:ln>
            <a:noFill/>
          </a:ln>
        </p:spPr>
        <p:txBody>
          <a:bodyPr spcFirstLastPara="1" wrap="square" lIns="68550" tIns="34275" rIns="68550" bIns="34275" anchor="t" anchorCtr="0">
            <a:noAutofit/>
          </a:bodyPr>
          <a:lstStyle/>
          <a:p>
            <a:pPr marL="0" marR="0" lvl="0" indent="0" algn="ctr" rtl="0">
              <a:lnSpc>
                <a:spcPct val="90000"/>
              </a:lnSpc>
              <a:spcBef>
                <a:spcPts val="0"/>
              </a:spcBef>
              <a:spcAft>
                <a:spcPts val="0"/>
              </a:spcAft>
              <a:buNone/>
            </a:pPr>
            <a:r>
              <a:rPr lang="en-US" sz="1350">
                <a:solidFill>
                  <a:srgbClr val="143C64"/>
                </a:solidFill>
                <a:latin typeface="Century Gothic"/>
                <a:ea typeface="Century Gothic"/>
                <a:cs typeface="Century Gothic"/>
                <a:sym typeface="Century Gothic"/>
              </a:rPr>
              <a:t>Floris-Jan Willemsen, Leiden University</a:t>
            </a:r>
            <a:endParaRPr sz="1350">
              <a:solidFill>
                <a:srgbClr val="143C64"/>
              </a:solidFill>
              <a:latin typeface="Century Gothic"/>
              <a:ea typeface="Century Gothic"/>
              <a:cs typeface="Century Gothic"/>
              <a:sym typeface="Century Gothic"/>
            </a:endParaRPr>
          </a:p>
        </p:txBody>
      </p:sp>
      <p:pic>
        <p:nvPicPr>
          <p:cNvPr id="8" name="Picture 7">
            <a:extLst>
              <a:ext uri="{FF2B5EF4-FFF2-40B4-BE49-F238E27FC236}">
                <a16:creationId xmlns:a16="http://schemas.microsoft.com/office/drawing/2014/main" id="{765AFCF7-6A40-7737-6C8B-41068AAC70A9}"/>
              </a:ext>
            </a:extLst>
          </p:cNvPr>
          <p:cNvPicPr>
            <a:picLocks noChangeAspect="1"/>
          </p:cNvPicPr>
          <p:nvPr/>
        </p:nvPicPr>
        <p:blipFill>
          <a:blip r:embed="rId6"/>
          <a:stretch>
            <a:fillRect/>
          </a:stretch>
        </p:blipFill>
        <p:spPr>
          <a:xfrm>
            <a:off x="6312706" y="3236421"/>
            <a:ext cx="1640496" cy="1640496"/>
          </a:xfrm>
          <a:prstGeom prst="rect">
            <a:avLst/>
          </a:prstGeom>
        </p:spPr>
      </p:pic>
    </p:spTree>
    <p:extLst>
      <p:ext uri="{BB962C8B-B14F-4D97-AF65-F5344CB8AC3E}">
        <p14:creationId xmlns:p14="http://schemas.microsoft.com/office/powerpoint/2010/main" val="2843622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BB3BDD6-44EE-4A0C-EB12-CC99B7B1AE6E}"/>
              </a:ext>
            </a:extLst>
          </p:cNvPr>
          <p:cNvSpPr/>
          <p:nvPr/>
        </p:nvSpPr>
        <p:spPr>
          <a:xfrm>
            <a:off x="5726283" y="665018"/>
            <a:ext cx="3500844" cy="4571948"/>
          </a:xfrm>
          <a:prstGeom prst="rect">
            <a:avLst/>
          </a:prstGeom>
          <a:solidFill>
            <a:srgbClr val="213A5F"/>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endParaRPr lang="en-GB" sz="1800" dirty="0">
              <a:solidFill>
                <a:schemeClr val="bg1"/>
              </a:solidFill>
            </a:endParaRPr>
          </a:p>
        </p:txBody>
      </p:sp>
      <p:sp>
        <p:nvSpPr>
          <p:cNvPr id="2" name="Title 1">
            <a:extLst>
              <a:ext uri="{FF2B5EF4-FFF2-40B4-BE49-F238E27FC236}">
                <a16:creationId xmlns:a16="http://schemas.microsoft.com/office/drawing/2014/main" id="{D6A563A0-B11A-3EC6-4FB5-E49C35313B3A}"/>
              </a:ext>
            </a:extLst>
          </p:cNvPr>
          <p:cNvSpPr>
            <a:spLocks noGrp="1"/>
          </p:cNvSpPr>
          <p:nvPr>
            <p:ph type="title"/>
          </p:nvPr>
        </p:nvSpPr>
        <p:spPr>
          <a:xfrm>
            <a:off x="218192" y="87227"/>
            <a:ext cx="6035040" cy="530352"/>
          </a:xfrm>
        </p:spPr>
        <p:txBody>
          <a:bodyPr>
            <a:noAutofit/>
          </a:bodyPr>
          <a:lstStyle/>
          <a:p>
            <a:r>
              <a:rPr lang="en-US" sz="2700" dirty="0"/>
              <a:t>The portability challenge in HPC</a:t>
            </a:r>
            <a:endParaRPr lang="en-BE" sz="2700" dirty="0"/>
          </a:p>
        </p:txBody>
      </p:sp>
      <p:sp>
        <p:nvSpPr>
          <p:cNvPr id="308" name="Content Placeholder 2">
            <a:extLst>
              <a:ext uri="{FF2B5EF4-FFF2-40B4-BE49-F238E27FC236}">
                <a16:creationId xmlns:a16="http://schemas.microsoft.com/office/drawing/2014/main" id="{FC2231FA-9A7A-AFAA-92CB-303A6D93DAC4}"/>
              </a:ext>
            </a:extLst>
          </p:cNvPr>
          <p:cNvSpPr>
            <a:spLocks noGrp="1"/>
          </p:cNvSpPr>
          <p:nvPr>
            <p:ph idx="4294967295"/>
          </p:nvPr>
        </p:nvSpPr>
        <p:spPr>
          <a:xfrm>
            <a:off x="0" y="2524125"/>
            <a:ext cx="4446588" cy="1263650"/>
          </a:xfrm>
        </p:spPr>
        <p:txBody>
          <a:bodyPr>
            <a:normAutofit/>
          </a:bodyPr>
          <a:lstStyle/>
          <a:p>
            <a:pPr algn="ctr"/>
            <a:r>
              <a:rPr lang="en-US" sz="1800" dirty="0"/>
              <a:t>Example: linear algebra libraries</a:t>
            </a:r>
            <a:endParaRPr lang="en-BE" sz="1800" dirty="0"/>
          </a:p>
        </p:txBody>
      </p:sp>
      <p:sp>
        <p:nvSpPr>
          <p:cNvPr id="3" name="Footer Placeholder 2">
            <a:extLst>
              <a:ext uri="{FF2B5EF4-FFF2-40B4-BE49-F238E27FC236}">
                <a16:creationId xmlns:a16="http://schemas.microsoft.com/office/drawing/2014/main" id="{6CB429CA-FD9D-DF5B-915A-EAE5CA1AF264}"/>
              </a:ext>
            </a:extLst>
          </p:cNvPr>
          <p:cNvSpPr>
            <a:spLocks noGrp="1"/>
          </p:cNvSpPr>
          <p:nvPr>
            <p:ph type="ftr" sz="quarter" idx="4294967295"/>
          </p:nvPr>
        </p:nvSpPr>
        <p:spPr>
          <a:xfrm>
            <a:off x="50292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Portable to Efficient: Auto-Tuning Hardware-Agnostic GPU Kernels in Julia</a:t>
            </a:r>
          </a:p>
        </p:txBody>
      </p:sp>
      <p:sp>
        <p:nvSpPr>
          <p:cNvPr id="77" name="Rectangle 76">
            <a:extLst>
              <a:ext uri="{FF2B5EF4-FFF2-40B4-BE49-F238E27FC236}">
                <a16:creationId xmlns:a16="http://schemas.microsoft.com/office/drawing/2014/main" id="{D6A19824-0834-132B-2A25-D3E7B9CD3B15}"/>
              </a:ext>
            </a:extLst>
          </p:cNvPr>
          <p:cNvSpPr/>
          <p:nvPr/>
        </p:nvSpPr>
        <p:spPr>
          <a:xfrm>
            <a:off x="591643" y="1076861"/>
            <a:ext cx="995366" cy="58065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bg1"/>
                </a:solidFill>
              </a:rPr>
              <a:t>Develop and optimize code for CUDA</a:t>
            </a:r>
            <a:endParaRPr lang="en-BE" sz="1050" dirty="0">
              <a:solidFill>
                <a:schemeClr val="bg1"/>
              </a:solidFill>
            </a:endParaRPr>
          </a:p>
        </p:txBody>
      </p:sp>
      <p:cxnSp>
        <p:nvCxnSpPr>
          <p:cNvPr id="81" name="Straight Arrow Connector 80">
            <a:extLst>
              <a:ext uri="{FF2B5EF4-FFF2-40B4-BE49-F238E27FC236}">
                <a16:creationId xmlns:a16="http://schemas.microsoft.com/office/drawing/2014/main" id="{83637B7B-BA67-DCE7-6617-BAAA5E4EB4BF}"/>
              </a:ext>
            </a:extLst>
          </p:cNvPr>
          <p:cNvCxnSpPr>
            <a:cxnSpLocks/>
          </p:cNvCxnSpPr>
          <p:nvPr/>
        </p:nvCxnSpPr>
        <p:spPr>
          <a:xfrm>
            <a:off x="1599928" y="1323518"/>
            <a:ext cx="28557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7" name="Rectangle 86">
            <a:extLst>
              <a:ext uri="{FF2B5EF4-FFF2-40B4-BE49-F238E27FC236}">
                <a16:creationId xmlns:a16="http://schemas.microsoft.com/office/drawing/2014/main" id="{144EFA7B-54D1-5977-B111-83513228B894}"/>
              </a:ext>
            </a:extLst>
          </p:cNvPr>
          <p:cNvSpPr/>
          <p:nvPr/>
        </p:nvSpPr>
        <p:spPr>
          <a:xfrm>
            <a:off x="1889197" y="1074614"/>
            <a:ext cx="951905" cy="58289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bg1"/>
                </a:solidFill>
              </a:rPr>
              <a:t>Translate code to HIP, SYCL, … </a:t>
            </a:r>
            <a:endParaRPr lang="en-BE" sz="1050" dirty="0">
              <a:solidFill>
                <a:schemeClr val="bg1"/>
              </a:solidFill>
            </a:endParaRPr>
          </a:p>
        </p:txBody>
      </p:sp>
      <p:sp>
        <p:nvSpPr>
          <p:cNvPr id="92" name="Rectangle 91">
            <a:extLst>
              <a:ext uri="{FF2B5EF4-FFF2-40B4-BE49-F238E27FC236}">
                <a16:creationId xmlns:a16="http://schemas.microsoft.com/office/drawing/2014/main" id="{41A7A709-74C9-3C62-5802-25625799E839}"/>
              </a:ext>
            </a:extLst>
          </p:cNvPr>
          <p:cNvSpPr/>
          <p:nvPr/>
        </p:nvSpPr>
        <p:spPr>
          <a:xfrm>
            <a:off x="3131908" y="1063357"/>
            <a:ext cx="1108739" cy="59836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bg1"/>
                </a:solidFill>
              </a:rPr>
              <a:t>Maybe: optimize code for each hardware</a:t>
            </a:r>
            <a:endParaRPr lang="en-BE" sz="1050" dirty="0">
              <a:solidFill>
                <a:schemeClr val="bg1"/>
              </a:solidFill>
            </a:endParaRPr>
          </a:p>
        </p:txBody>
      </p:sp>
      <p:sp>
        <p:nvSpPr>
          <p:cNvPr id="85" name="Rectangle 84">
            <a:extLst>
              <a:ext uri="{FF2B5EF4-FFF2-40B4-BE49-F238E27FC236}">
                <a16:creationId xmlns:a16="http://schemas.microsoft.com/office/drawing/2014/main" id="{093E2D0E-25D9-A30D-7024-214ADEE10E98}"/>
              </a:ext>
            </a:extLst>
          </p:cNvPr>
          <p:cNvSpPr/>
          <p:nvPr/>
        </p:nvSpPr>
        <p:spPr>
          <a:xfrm>
            <a:off x="889042" y="1731339"/>
            <a:ext cx="1126331" cy="3793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University buys AMD GPUs </a:t>
            </a:r>
            <a:endParaRPr lang="en-BE" sz="1050" dirty="0">
              <a:solidFill>
                <a:schemeClr val="tx1"/>
              </a:solidFill>
            </a:endParaRPr>
          </a:p>
        </p:txBody>
      </p:sp>
      <p:cxnSp>
        <p:nvCxnSpPr>
          <p:cNvPr id="98" name="Straight Arrow Connector 97">
            <a:extLst>
              <a:ext uri="{FF2B5EF4-FFF2-40B4-BE49-F238E27FC236}">
                <a16:creationId xmlns:a16="http://schemas.microsoft.com/office/drawing/2014/main" id="{FF83A59D-10DD-23EB-D7F6-023FEF4C79D1}"/>
              </a:ext>
            </a:extLst>
          </p:cNvPr>
          <p:cNvCxnSpPr>
            <a:cxnSpLocks/>
          </p:cNvCxnSpPr>
          <p:nvPr/>
        </p:nvCxnSpPr>
        <p:spPr>
          <a:xfrm>
            <a:off x="2849133" y="1323518"/>
            <a:ext cx="28557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0" name="Rectangle 89">
            <a:extLst>
              <a:ext uri="{FF2B5EF4-FFF2-40B4-BE49-F238E27FC236}">
                <a16:creationId xmlns:a16="http://schemas.microsoft.com/office/drawing/2014/main" id="{1ABCFCD4-AD5B-6E45-8CC1-879F86993123}"/>
              </a:ext>
            </a:extLst>
          </p:cNvPr>
          <p:cNvSpPr/>
          <p:nvPr/>
        </p:nvSpPr>
        <p:spPr>
          <a:xfrm>
            <a:off x="2141487" y="1701177"/>
            <a:ext cx="1296064" cy="4396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Surprise: bad code performance</a:t>
            </a:r>
            <a:endParaRPr lang="en-BE" sz="1050" dirty="0">
              <a:solidFill>
                <a:schemeClr val="tx1"/>
              </a:solidFill>
            </a:endParaRPr>
          </a:p>
        </p:txBody>
      </p:sp>
      <p:sp>
        <p:nvSpPr>
          <p:cNvPr id="101" name="Rectangle 100">
            <a:extLst>
              <a:ext uri="{FF2B5EF4-FFF2-40B4-BE49-F238E27FC236}">
                <a16:creationId xmlns:a16="http://schemas.microsoft.com/office/drawing/2014/main" id="{7D5E28B6-5073-A046-A3B3-DD96B1F8672B}"/>
              </a:ext>
            </a:extLst>
          </p:cNvPr>
          <p:cNvSpPr/>
          <p:nvPr/>
        </p:nvSpPr>
        <p:spPr>
          <a:xfrm>
            <a:off x="4510468" y="1063357"/>
            <a:ext cx="660434" cy="59836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bg1"/>
                </a:solidFill>
              </a:rPr>
              <a:t>Cry…</a:t>
            </a:r>
            <a:endParaRPr lang="en-BE" sz="1050" dirty="0">
              <a:solidFill>
                <a:schemeClr val="bg1"/>
              </a:solidFill>
            </a:endParaRPr>
          </a:p>
        </p:txBody>
      </p:sp>
      <p:cxnSp>
        <p:nvCxnSpPr>
          <p:cNvPr id="102" name="Straight Arrow Connector 101">
            <a:extLst>
              <a:ext uri="{FF2B5EF4-FFF2-40B4-BE49-F238E27FC236}">
                <a16:creationId xmlns:a16="http://schemas.microsoft.com/office/drawing/2014/main" id="{2C640385-54CE-CFDB-4A18-6D34DB2FF4C2}"/>
              </a:ext>
            </a:extLst>
          </p:cNvPr>
          <p:cNvCxnSpPr>
            <a:cxnSpLocks/>
          </p:cNvCxnSpPr>
          <p:nvPr/>
        </p:nvCxnSpPr>
        <p:spPr>
          <a:xfrm>
            <a:off x="4227693" y="1323518"/>
            <a:ext cx="28557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4" name="Rectangle 103">
            <a:extLst>
              <a:ext uri="{FF2B5EF4-FFF2-40B4-BE49-F238E27FC236}">
                <a16:creationId xmlns:a16="http://schemas.microsoft.com/office/drawing/2014/main" id="{A627D86B-137D-E347-5F6C-3469CB4413D8}"/>
              </a:ext>
            </a:extLst>
          </p:cNvPr>
          <p:cNvSpPr/>
          <p:nvPr/>
        </p:nvSpPr>
        <p:spPr>
          <a:xfrm>
            <a:off x="3588400" y="1701177"/>
            <a:ext cx="1774061" cy="4396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Try to run on MacBook, GPU or heterogeneous cluster</a:t>
            </a:r>
            <a:endParaRPr lang="en-BE" sz="1050" dirty="0">
              <a:solidFill>
                <a:schemeClr val="tx1"/>
              </a:solidFill>
            </a:endParaRPr>
          </a:p>
        </p:txBody>
      </p:sp>
      <p:sp>
        <p:nvSpPr>
          <p:cNvPr id="106" name="Content Placeholder 2">
            <a:extLst>
              <a:ext uri="{FF2B5EF4-FFF2-40B4-BE49-F238E27FC236}">
                <a16:creationId xmlns:a16="http://schemas.microsoft.com/office/drawing/2014/main" id="{5CCF5279-5B26-A354-4957-C573E66DD3D3}"/>
              </a:ext>
            </a:extLst>
          </p:cNvPr>
          <p:cNvSpPr txBox="1">
            <a:spLocks/>
          </p:cNvSpPr>
          <p:nvPr/>
        </p:nvSpPr>
        <p:spPr>
          <a:xfrm>
            <a:off x="588892" y="4456011"/>
            <a:ext cx="4646112" cy="801385"/>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Blip>
                <a:blip>
                  <a:extLst>
                    <a:ext uri="{96DAC541-7B7A-43D3-8B79-37D633B846F1}">
                      <asvg:svgBlip xmlns:asvg="http://schemas.microsoft.com/office/drawing/2016/SVG/main" r:embed="rId3"/>
                    </a:ext>
                  </a:extLst>
                </a:blip>
              </a:buBlip>
            </a:pPr>
            <a:r>
              <a:rPr lang="en-US" sz="1350" dirty="0"/>
              <a:t>Porting and re-optimizing code is not sustainable [1] </a:t>
            </a:r>
          </a:p>
          <a:p>
            <a:pPr algn="ctr">
              <a:buBlip>
                <a:blip>
                  <a:extLst>
                    <a:ext uri="{96DAC541-7B7A-43D3-8B79-37D633B846F1}">
                      <asvg:svgBlip xmlns:asvg="http://schemas.microsoft.com/office/drawing/2016/SVG/main" r:embed="rId3"/>
                    </a:ext>
                  </a:extLst>
                </a:blip>
              </a:buBlip>
            </a:pPr>
            <a:r>
              <a:rPr lang="en-US" sz="1350" dirty="0"/>
              <a:t>Maintaining spaghetti-code is not sustainable</a:t>
            </a:r>
            <a:endParaRPr lang="en-BE" sz="1350" dirty="0"/>
          </a:p>
        </p:txBody>
      </p:sp>
      <p:grpSp>
        <p:nvGrpSpPr>
          <p:cNvPr id="79" name="Group 78">
            <a:extLst>
              <a:ext uri="{FF2B5EF4-FFF2-40B4-BE49-F238E27FC236}">
                <a16:creationId xmlns:a16="http://schemas.microsoft.com/office/drawing/2014/main" id="{A2F864E8-BAA4-49B9-EF6F-826198DD5DCE}"/>
              </a:ext>
            </a:extLst>
          </p:cNvPr>
          <p:cNvGrpSpPr/>
          <p:nvPr/>
        </p:nvGrpSpPr>
        <p:grpSpPr>
          <a:xfrm>
            <a:off x="1298182" y="2845186"/>
            <a:ext cx="3667453" cy="1231797"/>
            <a:chOff x="608954" y="4333562"/>
            <a:chExt cx="6063197" cy="2276383"/>
          </a:xfrm>
        </p:grpSpPr>
        <p:cxnSp>
          <p:nvCxnSpPr>
            <p:cNvPr id="80" name="Straight Arrow Connector 79">
              <a:extLst>
                <a:ext uri="{FF2B5EF4-FFF2-40B4-BE49-F238E27FC236}">
                  <a16:creationId xmlns:a16="http://schemas.microsoft.com/office/drawing/2014/main" id="{18530498-4EAD-7C0E-9284-9929065CA2E5}"/>
                </a:ext>
              </a:extLst>
            </p:cNvPr>
            <p:cNvCxnSpPr>
              <a:cxnSpLocks/>
            </p:cNvCxnSpPr>
            <p:nvPr/>
          </p:nvCxnSpPr>
          <p:spPr>
            <a:xfrm>
              <a:off x="2028202" y="5811757"/>
              <a:ext cx="1529815" cy="0"/>
            </a:xfrm>
            <a:prstGeom prst="straightConnector1">
              <a:avLst/>
            </a:prstGeom>
            <a:ln w="38100">
              <a:solidFill>
                <a:srgbClr val="47575D"/>
              </a:solidFill>
              <a:tailEnd type="triangle"/>
            </a:ln>
          </p:spPr>
          <p:style>
            <a:lnRef idx="1">
              <a:schemeClr val="accent1"/>
            </a:lnRef>
            <a:fillRef idx="0">
              <a:schemeClr val="accent1"/>
            </a:fillRef>
            <a:effectRef idx="0">
              <a:schemeClr val="accent1"/>
            </a:effectRef>
            <a:fontRef idx="minor">
              <a:schemeClr val="tx1"/>
            </a:fontRef>
          </p:style>
        </p:cxnSp>
        <p:sp>
          <p:nvSpPr>
            <p:cNvPr id="82" name="Isosceles Triangle 81">
              <a:extLst>
                <a:ext uri="{FF2B5EF4-FFF2-40B4-BE49-F238E27FC236}">
                  <a16:creationId xmlns:a16="http://schemas.microsoft.com/office/drawing/2014/main" id="{6327B2AC-DA1C-7390-BB51-74444D8FFC7C}"/>
                </a:ext>
              </a:extLst>
            </p:cNvPr>
            <p:cNvSpPr/>
            <p:nvPr/>
          </p:nvSpPr>
          <p:spPr>
            <a:xfrm rot="5400000" flipH="1">
              <a:off x="3429905" y="5759676"/>
              <a:ext cx="134844" cy="102641"/>
            </a:xfrm>
            <a:prstGeom prst="triangle">
              <a:avLst/>
            </a:prstGeom>
            <a:solidFill>
              <a:srgbClr val="4757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450"/>
            </a:p>
          </p:txBody>
        </p:sp>
        <p:cxnSp>
          <p:nvCxnSpPr>
            <p:cNvPr id="83" name="Straight Arrow Connector 82">
              <a:extLst>
                <a:ext uri="{FF2B5EF4-FFF2-40B4-BE49-F238E27FC236}">
                  <a16:creationId xmlns:a16="http://schemas.microsoft.com/office/drawing/2014/main" id="{FCC118C0-3897-800A-B6E7-5002A0A1BB29}"/>
                </a:ext>
              </a:extLst>
            </p:cNvPr>
            <p:cNvCxnSpPr>
              <a:cxnSpLocks/>
            </p:cNvCxnSpPr>
            <p:nvPr/>
          </p:nvCxnSpPr>
          <p:spPr>
            <a:xfrm>
              <a:off x="2028202" y="6095285"/>
              <a:ext cx="1529815" cy="0"/>
            </a:xfrm>
            <a:prstGeom prst="straightConnector1">
              <a:avLst/>
            </a:prstGeom>
            <a:ln w="38100">
              <a:solidFill>
                <a:srgbClr val="47575D"/>
              </a:solidFill>
              <a:tailEnd type="triangle"/>
            </a:ln>
          </p:spPr>
          <p:style>
            <a:lnRef idx="1">
              <a:schemeClr val="accent1"/>
            </a:lnRef>
            <a:fillRef idx="0">
              <a:schemeClr val="accent1"/>
            </a:fillRef>
            <a:effectRef idx="0">
              <a:schemeClr val="accent1"/>
            </a:effectRef>
            <a:fontRef idx="minor">
              <a:schemeClr val="tx1"/>
            </a:fontRef>
          </p:style>
        </p:cxnSp>
        <p:sp>
          <p:nvSpPr>
            <p:cNvPr id="84" name="Isosceles Triangle 83">
              <a:extLst>
                <a:ext uri="{FF2B5EF4-FFF2-40B4-BE49-F238E27FC236}">
                  <a16:creationId xmlns:a16="http://schemas.microsoft.com/office/drawing/2014/main" id="{9C5C04C0-EA9A-5DE2-455D-C58C41D3C833}"/>
                </a:ext>
              </a:extLst>
            </p:cNvPr>
            <p:cNvSpPr/>
            <p:nvPr/>
          </p:nvSpPr>
          <p:spPr>
            <a:xfrm rot="5400000" flipH="1">
              <a:off x="3429905" y="6043204"/>
              <a:ext cx="134844" cy="102641"/>
            </a:xfrm>
            <a:prstGeom prst="triangle">
              <a:avLst/>
            </a:prstGeom>
            <a:solidFill>
              <a:srgbClr val="4757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450"/>
            </a:p>
          </p:txBody>
        </p:sp>
        <p:cxnSp>
          <p:nvCxnSpPr>
            <p:cNvPr id="86" name="Straight Arrow Connector 85">
              <a:extLst>
                <a:ext uri="{FF2B5EF4-FFF2-40B4-BE49-F238E27FC236}">
                  <a16:creationId xmlns:a16="http://schemas.microsoft.com/office/drawing/2014/main" id="{29A20A0F-9388-FCF6-11C3-C38CBEB81F9A}"/>
                </a:ext>
              </a:extLst>
            </p:cNvPr>
            <p:cNvCxnSpPr>
              <a:cxnSpLocks/>
            </p:cNvCxnSpPr>
            <p:nvPr/>
          </p:nvCxnSpPr>
          <p:spPr>
            <a:xfrm>
              <a:off x="2028202" y="6399125"/>
              <a:ext cx="1529815" cy="0"/>
            </a:xfrm>
            <a:prstGeom prst="straightConnector1">
              <a:avLst/>
            </a:prstGeom>
            <a:ln w="38100">
              <a:solidFill>
                <a:srgbClr val="47575D"/>
              </a:solidFill>
              <a:tailEnd type="triangle"/>
            </a:ln>
          </p:spPr>
          <p:style>
            <a:lnRef idx="1">
              <a:schemeClr val="accent1"/>
            </a:lnRef>
            <a:fillRef idx="0">
              <a:schemeClr val="accent1"/>
            </a:fillRef>
            <a:effectRef idx="0">
              <a:schemeClr val="accent1"/>
            </a:effectRef>
            <a:fontRef idx="minor">
              <a:schemeClr val="tx1"/>
            </a:fontRef>
          </p:style>
        </p:cxnSp>
        <p:sp>
          <p:nvSpPr>
            <p:cNvPr id="88" name="Isosceles Triangle 87">
              <a:extLst>
                <a:ext uri="{FF2B5EF4-FFF2-40B4-BE49-F238E27FC236}">
                  <a16:creationId xmlns:a16="http://schemas.microsoft.com/office/drawing/2014/main" id="{D2781470-0937-4D3B-4B8F-6026579B4AC8}"/>
                </a:ext>
              </a:extLst>
            </p:cNvPr>
            <p:cNvSpPr/>
            <p:nvPr/>
          </p:nvSpPr>
          <p:spPr>
            <a:xfrm rot="5400000" flipH="1">
              <a:off x="3429905" y="6347044"/>
              <a:ext cx="134844" cy="102641"/>
            </a:xfrm>
            <a:prstGeom prst="triangle">
              <a:avLst/>
            </a:prstGeom>
            <a:solidFill>
              <a:srgbClr val="4757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450"/>
            </a:p>
          </p:txBody>
        </p:sp>
        <p:cxnSp>
          <p:nvCxnSpPr>
            <p:cNvPr id="89" name="Straight Connector 88">
              <a:extLst>
                <a:ext uri="{FF2B5EF4-FFF2-40B4-BE49-F238E27FC236}">
                  <a16:creationId xmlns:a16="http://schemas.microsoft.com/office/drawing/2014/main" id="{602E341E-0F98-CBB0-120C-31389558AEC5}"/>
                </a:ext>
              </a:extLst>
            </p:cNvPr>
            <p:cNvCxnSpPr>
              <a:cxnSpLocks/>
            </p:cNvCxnSpPr>
            <p:nvPr/>
          </p:nvCxnSpPr>
          <p:spPr>
            <a:xfrm>
              <a:off x="2030729" y="5808260"/>
              <a:ext cx="0" cy="590866"/>
            </a:xfrm>
            <a:prstGeom prst="line">
              <a:avLst/>
            </a:prstGeom>
            <a:ln w="38100">
              <a:solidFill>
                <a:srgbClr val="47575D"/>
              </a:solidFill>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6AADF070-B279-776F-99DE-D113B17D56BB}"/>
                </a:ext>
              </a:extLst>
            </p:cNvPr>
            <p:cNvCxnSpPr>
              <a:cxnSpLocks/>
            </p:cNvCxnSpPr>
            <p:nvPr/>
          </p:nvCxnSpPr>
          <p:spPr>
            <a:xfrm>
              <a:off x="4334524" y="4558233"/>
              <a:ext cx="1250396" cy="0"/>
            </a:xfrm>
            <a:prstGeom prst="straightConnector1">
              <a:avLst/>
            </a:prstGeom>
            <a:ln w="38100">
              <a:solidFill>
                <a:srgbClr val="47575D"/>
              </a:solidFill>
              <a:tailEnd type="triangle"/>
            </a:ln>
          </p:spPr>
          <p:style>
            <a:lnRef idx="1">
              <a:schemeClr val="accent1"/>
            </a:lnRef>
            <a:fillRef idx="0">
              <a:schemeClr val="accent1"/>
            </a:fillRef>
            <a:effectRef idx="0">
              <a:schemeClr val="accent1"/>
            </a:effectRef>
            <a:fontRef idx="minor">
              <a:schemeClr val="tx1"/>
            </a:fontRef>
          </p:style>
        </p:cxnSp>
        <p:sp>
          <p:nvSpPr>
            <p:cNvPr id="93" name="Isosceles Triangle 92">
              <a:extLst>
                <a:ext uri="{FF2B5EF4-FFF2-40B4-BE49-F238E27FC236}">
                  <a16:creationId xmlns:a16="http://schemas.microsoft.com/office/drawing/2014/main" id="{52DC4875-95DE-164D-AA0A-1907BC6F20DF}"/>
                </a:ext>
              </a:extLst>
            </p:cNvPr>
            <p:cNvSpPr/>
            <p:nvPr/>
          </p:nvSpPr>
          <p:spPr>
            <a:xfrm rot="5400000" flipH="1">
              <a:off x="5453533" y="4507361"/>
              <a:ext cx="130433" cy="83894"/>
            </a:xfrm>
            <a:prstGeom prst="triangle">
              <a:avLst/>
            </a:prstGeom>
            <a:solidFill>
              <a:srgbClr val="4757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450"/>
            </a:p>
          </p:txBody>
        </p:sp>
        <p:cxnSp>
          <p:nvCxnSpPr>
            <p:cNvPr id="94" name="Straight Arrow Connector 93">
              <a:extLst>
                <a:ext uri="{FF2B5EF4-FFF2-40B4-BE49-F238E27FC236}">
                  <a16:creationId xmlns:a16="http://schemas.microsoft.com/office/drawing/2014/main" id="{E6A67087-AEC0-14C0-C466-7DBD9A51A73A}"/>
                </a:ext>
              </a:extLst>
            </p:cNvPr>
            <p:cNvCxnSpPr>
              <a:cxnSpLocks/>
            </p:cNvCxnSpPr>
            <p:nvPr/>
          </p:nvCxnSpPr>
          <p:spPr>
            <a:xfrm>
              <a:off x="4334524" y="4856812"/>
              <a:ext cx="1250396" cy="0"/>
            </a:xfrm>
            <a:prstGeom prst="straightConnector1">
              <a:avLst/>
            </a:prstGeom>
            <a:ln w="38100">
              <a:solidFill>
                <a:srgbClr val="47575D"/>
              </a:solidFill>
              <a:tailEnd type="triangle"/>
            </a:ln>
          </p:spPr>
          <p:style>
            <a:lnRef idx="1">
              <a:schemeClr val="accent1"/>
            </a:lnRef>
            <a:fillRef idx="0">
              <a:schemeClr val="accent1"/>
            </a:fillRef>
            <a:effectRef idx="0">
              <a:schemeClr val="accent1"/>
            </a:effectRef>
            <a:fontRef idx="minor">
              <a:schemeClr val="tx1"/>
            </a:fontRef>
          </p:style>
        </p:cxnSp>
        <p:sp>
          <p:nvSpPr>
            <p:cNvPr id="95" name="Isosceles Triangle 94">
              <a:extLst>
                <a:ext uri="{FF2B5EF4-FFF2-40B4-BE49-F238E27FC236}">
                  <a16:creationId xmlns:a16="http://schemas.microsoft.com/office/drawing/2014/main" id="{CADF1FAC-DF7A-8095-CBBB-1EFA5617F950}"/>
                </a:ext>
              </a:extLst>
            </p:cNvPr>
            <p:cNvSpPr/>
            <p:nvPr/>
          </p:nvSpPr>
          <p:spPr>
            <a:xfrm rot="5400000" flipH="1">
              <a:off x="5453533" y="4805940"/>
              <a:ext cx="130433" cy="83894"/>
            </a:xfrm>
            <a:prstGeom prst="triangle">
              <a:avLst/>
            </a:prstGeom>
            <a:solidFill>
              <a:srgbClr val="4757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450"/>
            </a:p>
          </p:txBody>
        </p:sp>
        <p:cxnSp>
          <p:nvCxnSpPr>
            <p:cNvPr id="96" name="Straight Arrow Connector 95">
              <a:extLst>
                <a:ext uri="{FF2B5EF4-FFF2-40B4-BE49-F238E27FC236}">
                  <a16:creationId xmlns:a16="http://schemas.microsoft.com/office/drawing/2014/main" id="{2E758918-77F7-B0F5-614A-986460E82481}"/>
                </a:ext>
              </a:extLst>
            </p:cNvPr>
            <p:cNvCxnSpPr>
              <a:cxnSpLocks/>
            </p:cNvCxnSpPr>
            <p:nvPr/>
          </p:nvCxnSpPr>
          <p:spPr>
            <a:xfrm>
              <a:off x="4334524" y="5131065"/>
              <a:ext cx="1250396" cy="0"/>
            </a:xfrm>
            <a:prstGeom prst="straightConnector1">
              <a:avLst/>
            </a:prstGeom>
            <a:ln w="38100">
              <a:solidFill>
                <a:srgbClr val="47575D"/>
              </a:solidFill>
              <a:tailEnd type="triangle"/>
            </a:ln>
          </p:spPr>
          <p:style>
            <a:lnRef idx="1">
              <a:schemeClr val="accent1"/>
            </a:lnRef>
            <a:fillRef idx="0">
              <a:schemeClr val="accent1"/>
            </a:fillRef>
            <a:effectRef idx="0">
              <a:schemeClr val="accent1"/>
            </a:effectRef>
            <a:fontRef idx="minor">
              <a:schemeClr val="tx1"/>
            </a:fontRef>
          </p:style>
        </p:cxnSp>
        <p:sp>
          <p:nvSpPr>
            <p:cNvPr id="100" name="Isosceles Triangle 99">
              <a:extLst>
                <a:ext uri="{FF2B5EF4-FFF2-40B4-BE49-F238E27FC236}">
                  <a16:creationId xmlns:a16="http://schemas.microsoft.com/office/drawing/2014/main" id="{39A12130-FDD5-88A6-44D4-B1148333567D}"/>
                </a:ext>
              </a:extLst>
            </p:cNvPr>
            <p:cNvSpPr/>
            <p:nvPr/>
          </p:nvSpPr>
          <p:spPr>
            <a:xfrm rot="5400000" flipH="1">
              <a:off x="5453533" y="5080193"/>
              <a:ext cx="130433" cy="83894"/>
            </a:xfrm>
            <a:prstGeom prst="triangle">
              <a:avLst/>
            </a:prstGeom>
            <a:solidFill>
              <a:srgbClr val="4757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450"/>
            </a:p>
          </p:txBody>
        </p:sp>
        <p:cxnSp>
          <p:nvCxnSpPr>
            <p:cNvPr id="105" name="Straight Arrow Connector 104">
              <a:extLst>
                <a:ext uri="{FF2B5EF4-FFF2-40B4-BE49-F238E27FC236}">
                  <a16:creationId xmlns:a16="http://schemas.microsoft.com/office/drawing/2014/main" id="{522D1D27-D864-E99C-AA39-EF2C52A8C113}"/>
                </a:ext>
              </a:extLst>
            </p:cNvPr>
            <p:cNvCxnSpPr>
              <a:cxnSpLocks/>
            </p:cNvCxnSpPr>
            <p:nvPr/>
          </p:nvCxnSpPr>
          <p:spPr>
            <a:xfrm>
              <a:off x="4334524" y="5424965"/>
              <a:ext cx="1250396" cy="0"/>
            </a:xfrm>
            <a:prstGeom prst="straightConnector1">
              <a:avLst/>
            </a:prstGeom>
            <a:ln w="38100">
              <a:solidFill>
                <a:srgbClr val="47575D"/>
              </a:solidFill>
              <a:tailEnd type="triangle"/>
            </a:ln>
          </p:spPr>
          <p:style>
            <a:lnRef idx="1">
              <a:schemeClr val="accent1"/>
            </a:lnRef>
            <a:fillRef idx="0">
              <a:schemeClr val="accent1"/>
            </a:fillRef>
            <a:effectRef idx="0">
              <a:schemeClr val="accent1"/>
            </a:effectRef>
            <a:fontRef idx="minor">
              <a:schemeClr val="tx1"/>
            </a:fontRef>
          </p:style>
        </p:cxnSp>
        <p:sp>
          <p:nvSpPr>
            <p:cNvPr id="107" name="Isosceles Triangle 106">
              <a:extLst>
                <a:ext uri="{FF2B5EF4-FFF2-40B4-BE49-F238E27FC236}">
                  <a16:creationId xmlns:a16="http://schemas.microsoft.com/office/drawing/2014/main" id="{06C41C16-7752-548B-E493-AB0EF55C564D}"/>
                </a:ext>
              </a:extLst>
            </p:cNvPr>
            <p:cNvSpPr/>
            <p:nvPr/>
          </p:nvSpPr>
          <p:spPr>
            <a:xfrm rot="5400000" flipH="1">
              <a:off x="5453533" y="5374093"/>
              <a:ext cx="130433" cy="83894"/>
            </a:xfrm>
            <a:prstGeom prst="triangle">
              <a:avLst/>
            </a:prstGeom>
            <a:solidFill>
              <a:srgbClr val="4757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450"/>
            </a:p>
          </p:txBody>
        </p:sp>
        <p:cxnSp>
          <p:nvCxnSpPr>
            <p:cNvPr id="108" name="Straight Connector 107">
              <a:extLst>
                <a:ext uri="{FF2B5EF4-FFF2-40B4-BE49-F238E27FC236}">
                  <a16:creationId xmlns:a16="http://schemas.microsoft.com/office/drawing/2014/main" id="{82D6ACBD-EDE5-56E8-8646-48BFA5202EBF}"/>
                </a:ext>
              </a:extLst>
            </p:cNvPr>
            <p:cNvCxnSpPr>
              <a:cxnSpLocks/>
            </p:cNvCxnSpPr>
            <p:nvPr/>
          </p:nvCxnSpPr>
          <p:spPr>
            <a:xfrm>
              <a:off x="634005" y="4543567"/>
              <a:ext cx="0" cy="479626"/>
            </a:xfrm>
            <a:prstGeom prst="line">
              <a:avLst/>
            </a:prstGeom>
            <a:ln w="38100">
              <a:solidFill>
                <a:srgbClr val="47575D"/>
              </a:solidFill>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051461EF-6A42-9C0B-2B72-7E6C7DA56F7D}"/>
                </a:ext>
              </a:extLst>
            </p:cNvPr>
            <p:cNvCxnSpPr>
              <a:cxnSpLocks/>
            </p:cNvCxnSpPr>
            <p:nvPr/>
          </p:nvCxnSpPr>
          <p:spPr>
            <a:xfrm>
              <a:off x="634005" y="4547909"/>
              <a:ext cx="1616867" cy="0"/>
            </a:xfrm>
            <a:prstGeom prst="straightConnector1">
              <a:avLst/>
            </a:prstGeom>
            <a:ln w="38100">
              <a:solidFill>
                <a:srgbClr val="47575D"/>
              </a:solidFill>
              <a:tailEnd type="triangle"/>
            </a:ln>
          </p:spPr>
          <p:style>
            <a:lnRef idx="1">
              <a:schemeClr val="accent1"/>
            </a:lnRef>
            <a:fillRef idx="0">
              <a:schemeClr val="accent1"/>
            </a:fillRef>
            <a:effectRef idx="0">
              <a:schemeClr val="accent1"/>
            </a:effectRef>
            <a:fontRef idx="minor">
              <a:schemeClr val="tx1"/>
            </a:fontRef>
          </p:style>
        </p:cxnSp>
        <p:sp>
          <p:nvSpPr>
            <p:cNvPr id="112" name="Rectangle 111">
              <a:extLst>
                <a:ext uri="{FF2B5EF4-FFF2-40B4-BE49-F238E27FC236}">
                  <a16:creationId xmlns:a16="http://schemas.microsoft.com/office/drawing/2014/main" id="{D064DB63-F56B-C646-4DDC-684E0C6FAD7D}"/>
                </a:ext>
              </a:extLst>
            </p:cNvPr>
            <p:cNvSpPr/>
            <p:nvPr/>
          </p:nvSpPr>
          <p:spPr>
            <a:xfrm>
              <a:off x="760204" y="4333562"/>
              <a:ext cx="1238308" cy="38737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solidFill>
                    <a:schemeClr val="tx1"/>
                  </a:solidFill>
                </a:rPr>
                <a:t>Very small data size (&lt;256)</a:t>
              </a:r>
              <a:endParaRPr lang="en-BE" sz="600" dirty="0">
                <a:solidFill>
                  <a:schemeClr val="tx1"/>
                </a:solidFill>
              </a:endParaRPr>
            </a:p>
          </p:txBody>
        </p:sp>
        <p:sp>
          <p:nvSpPr>
            <p:cNvPr id="114" name="Isosceles Triangle 113">
              <a:extLst>
                <a:ext uri="{FF2B5EF4-FFF2-40B4-BE49-F238E27FC236}">
                  <a16:creationId xmlns:a16="http://schemas.microsoft.com/office/drawing/2014/main" id="{2C3EF93F-1FDE-7585-761C-A805764D8117}"/>
                </a:ext>
              </a:extLst>
            </p:cNvPr>
            <p:cNvSpPr/>
            <p:nvPr/>
          </p:nvSpPr>
          <p:spPr>
            <a:xfrm rot="5400000" flipH="1">
              <a:off x="2071935" y="4488089"/>
              <a:ext cx="216925" cy="119638"/>
            </a:xfrm>
            <a:prstGeom prst="triangle">
              <a:avLst/>
            </a:prstGeom>
            <a:solidFill>
              <a:srgbClr val="4757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450"/>
            </a:p>
          </p:txBody>
        </p:sp>
        <p:cxnSp>
          <p:nvCxnSpPr>
            <p:cNvPr id="116" name="Straight Arrow Connector 115">
              <a:extLst>
                <a:ext uri="{FF2B5EF4-FFF2-40B4-BE49-F238E27FC236}">
                  <a16:creationId xmlns:a16="http://schemas.microsoft.com/office/drawing/2014/main" id="{9E697C92-9721-5A03-4B6E-DE4730576017}"/>
                </a:ext>
              </a:extLst>
            </p:cNvPr>
            <p:cNvCxnSpPr>
              <a:cxnSpLocks/>
            </p:cNvCxnSpPr>
            <p:nvPr/>
          </p:nvCxnSpPr>
          <p:spPr>
            <a:xfrm>
              <a:off x="634005" y="5023192"/>
              <a:ext cx="1595157" cy="0"/>
            </a:xfrm>
            <a:prstGeom prst="straightConnector1">
              <a:avLst/>
            </a:prstGeom>
            <a:ln w="38100">
              <a:solidFill>
                <a:srgbClr val="47575D"/>
              </a:solidFill>
              <a:tailEnd type="triangle"/>
            </a:ln>
          </p:spPr>
          <p:style>
            <a:lnRef idx="1">
              <a:schemeClr val="accent1"/>
            </a:lnRef>
            <a:fillRef idx="0">
              <a:schemeClr val="accent1"/>
            </a:fillRef>
            <a:effectRef idx="0">
              <a:schemeClr val="accent1"/>
            </a:effectRef>
            <a:fontRef idx="minor">
              <a:schemeClr val="tx1"/>
            </a:fontRef>
          </p:style>
        </p:cxnSp>
        <p:sp>
          <p:nvSpPr>
            <p:cNvPr id="118" name="Isosceles Triangle 117">
              <a:extLst>
                <a:ext uri="{FF2B5EF4-FFF2-40B4-BE49-F238E27FC236}">
                  <a16:creationId xmlns:a16="http://schemas.microsoft.com/office/drawing/2014/main" id="{AB90E9B4-A8D4-4480-BB84-606E9DF4DA7C}"/>
                </a:ext>
              </a:extLst>
            </p:cNvPr>
            <p:cNvSpPr/>
            <p:nvPr/>
          </p:nvSpPr>
          <p:spPr>
            <a:xfrm rot="5400000" flipH="1">
              <a:off x="2071935" y="4963374"/>
              <a:ext cx="216925" cy="119638"/>
            </a:xfrm>
            <a:prstGeom prst="triangle">
              <a:avLst/>
            </a:prstGeom>
            <a:solidFill>
              <a:srgbClr val="4757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450"/>
            </a:p>
          </p:txBody>
        </p:sp>
        <p:sp>
          <p:nvSpPr>
            <p:cNvPr id="121" name="Rectangle 120">
              <a:extLst>
                <a:ext uri="{FF2B5EF4-FFF2-40B4-BE49-F238E27FC236}">
                  <a16:creationId xmlns:a16="http://schemas.microsoft.com/office/drawing/2014/main" id="{6D070A9E-2444-E591-CE07-72243DC2B965}"/>
                </a:ext>
              </a:extLst>
            </p:cNvPr>
            <p:cNvSpPr/>
            <p:nvPr/>
          </p:nvSpPr>
          <p:spPr>
            <a:xfrm>
              <a:off x="760204" y="4851831"/>
              <a:ext cx="1238308" cy="34272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solidFill>
                    <a:schemeClr val="tx1"/>
                  </a:solidFill>
                </a:rPr>
                <a:t>Larger data</a:t>
              </a:r>
              <a:endParaRPr lang="en-BE" sz="600" dirty="0">
                <a:solidFill>
                  <a:schemeClr val="tx1"/>
                </a:solidFill>
              </a:endParaRPr>
            </a:p>
          </p:txBody>
        </p:sp>
        <p:sp>
          <p:nvSpPr>
            <p:cNvPr id="123" name="TextBox 122">
              <a:extLst>
                <a:ext uri="{FF2B5EF4-FFF2-40B4-BE49-F238E27FC236}">
                  <a16:creationId xmlns:a16="http://schemas.microsoft.com/office/drawing/2014/main" id="{266F4839-9014-C261-7022-46A89D888198}"/>
                </a:ext>
              </a:extLst>
            </p:cNvPr>
            <p:cNvSpPr txBox="1"/>
            <p:nvPr/>
          </p:nvSpPr>
          <p:spPr>
            <a:xfrm>
              <a:off x="2298071" y="4428949"/>
              <a:ext cx="1580272" cy="341266"/>
            </a:xfrm>
            <a:prstGeom prst="rect">
              <a:avLst/>
            </a:prstGeom>
            <a:noFill/>
          </p:spPr>
          <p:txBody>
            <a:bodyPr wrap="square">
              <a:spAutoFit/>
            </a:bodyPr>
            <a:lstStyle/>
            <a:p>
              <a:r>
                <a:rPr lang="en-US" sz="600" dirty="0"/>
                <a:t>CPU, e.g., LAPACK</a:t>
              </a:r>
              <a:endParaRPr lang="en-BE" sz="600" dirty="0"/>
            </a:p>
          </p:txBody>
        </p:sp>
        <p:sp>
          <p:nvSpPr>
            <p:cNvPr id="133" name="TextBox 132">
              <a:extLst>
                <a:ext uri="{FF2B5EF4-FFF2-40B4-BE49-F238E27FC236}">
                  <a16:creationId xmlns:a16="http://schemas.microsoft.com/office/drawing/2014/main" id="{DBBDCD7D-6F92-F720-97B8-C0F1F915FA8C}"/>
                </a:ext>
              </a:extLst>
            </p:cNvPr>
            <p:cNvSpPr txBox="1"/>
            <p:nvPr/>
          </p:nvSpPr>
          <p:spPr>
            <a:xfrm>
              <a:off x="2284555" y="4872017"/>
              <a:ext cx="1146996" cy="341266"/>
            </a:xfrm>
            <a:prstGeom prst="rect">
              <a:avLst/>
            </a:prstGeom>
            <a:noFill/>
          </p:spPr>
          <p:txBody>
            <a:bodyPr wrap="square">
              <a:spAutoFit/>
            </a:bodyPr>
            <a:lstStyle/>
            <a:p>
              <a:r>
                <a:rPr lang="en-US" sz="600" dirty="0"/>
                <a:t>Faster on GPU</a:t>
              </a:r>
              <a:endParaRPr lang="en-BE" sz="600" dirty="0"/>
            </a:p>
          </p:txBody>
        </p:sp>
        <p:sp>
          <p:nvSpPr>
            <p:cNvPr id="134" name="Rectangle 133">
              <a:extLst>
                <a:ext uri="{FF2B5EF4-FFF2-40B4-BE49-F238E27FC236}">
                  <a16:creationId xmlns:a16="http://schemas.microsoft.com/office/drawing/2014/main" id="{2F34A948-8570-0F5F-7BFE-322D57306342}"/>
                </a:ext>
              </a:extLst>
            </p:cNvPr>
            <p:cNvSpPr/>
            <p:nvPr/>
          </p:nvSpPr>
          <p:spPr>
            <a:xfrm>
              <a:off x="4479828" y="4471549"/>
              <a:ext cx="868633" cy="19936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00" dirty="0">
                <a:solidFill>
                  <a:schemeClr val="tx1"/>
                </a:solidFill>
              </a:endParaRPr>
            </a:p>
          </p:txBody>
        </p:sp>
        <p:sp>
          <p:nvSpPr>
            <p:cNvPr id="135" name="Rectangle 134">
              <a:extLst>
                <a:ext uri="{FF2B5EF4-FFF2-40B4-BE49-F238E27FC236}">
                  <a16:creationId xmlns:a16="http://schemas.microsoft.com/office/drawing/2014/main" id="{59772708-0AB9-7D33-AC73-FEBFCF9A381D}"/>
                </a:ext>
              </a:extLst>
            </p:cNvPr>
            <p:cNvSpPr/>
            <p:nvPr/>
          </p:nvSpPr>
          <p:spPr>
            <a:xfrm>
              <a:off x="4481722" y="4754692"/>
              <a:ext cx="868633" cy="19936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00" dirty="0">
                <a:solidFill>
                  <a:schemeClr val="tx1"/>
                </a:solidFill>
              </a:endParaRPr>
            </a:p>
          </p:txBody>
        </p:sp>
        <p:sp>
          <p:nvSpPr>
            <p:cNvPr id="136" name="Rectangle 135">
              <a:extLst>
                <a:ext uri="{FF2B5EF4-FFF2-40B4-BE49-F238E27FC236}">
                  <a16:creationId xmlns:a16="http://schemas.microsoft.com/office/drawing/2014/main" id="{ED4409F1-BBD9-8D31-E8EE-FFB7255C5061}"/>
                </a:ext>
              </a:extLst>
            </p:cNvPr>
            <p:cNvSpPr/>
            <p:nvPr/>
          </p:nvSpPr>
          <p:spPr>
            <a:xfrm>
              <a:off x="4479828" y="5037834"/>
              <a:ext cx="868633" cy="19936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00" dirty="0">
                <a:solidFill>
                  <a:schemeClr val="tx1"/>
                </a:solidFill>
              </a:endParaRPr>
            </a:p>
          </p:txBody>
        </p:sp>
        <p:sp>
          <p:nvSpPr>
            <p:cNvPr id="137" name="Rectangle 136">
              <a:extLst>
                <a:ext uri="{FF2B5EF4-FFF2-40B4-BE49-F238E27FC236}">
                  <a16:creationId xmlns:a16="http://schemas.microsoft.com/office/drawing/2014/main" id="{4BF554B5-7EE4-EC41-ECA9-E6388FF1DAB7}"/>
                </a:ext>
              </a:extLst>
            </p:cNvPr>
            <p:cNvSpPr/>
            <p:nvPr/>
          </p:nvSpPr>
          <p:spPr>
            <a:xfrm>
              <a:off x="4479828" y="5320976"/>
              <a:ext cx="868633" cy="19936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00" dirty="0">
                <a:solidFill>
                  <a:schemeClr val="tx1"/>
                </a:solidFill>
              </a:endParaRPr>
            </a:p>
          </p:txBody>
        </p:sp>
        <p:grpSp>
          <p:nvGrpSpPr>
            <p:cNvPr id="138" name="Group 137">
              <a:extLst>
                <a:ext uri="{FF2B5EF4-FFF2-40B4-BE49-F238E27FC236}">
                  <a16:creationId xmlns:a16="http://schemas.microsoft.com/office/drawing/2014/main" id="{C1716F69-F78E-A3DA-FED8-641D64223F56}"/>
                </a:ext>
              </a:extLst>
            </p:cNvPr>
            <p:cNvGrpSpPr/>
            <p:nvPr/>
          </p:nvGrpSpPr>
          <p:grpSpPr>
            <a:xfrm>
              <a:off x="5631394" y="4429767"/>
              <a:ext cx="1040757" cy="1216521"/>
              <a:chOff x="6951232" y="8171080"/>
              <a:chExt cx="1016162" cy="1322550"/>
            </a:xfrm>
          </p:grpSpPr>
          <p:sp>
            <p:nvSpPr>
              <p:cNvPr id="284" name="TextBox 283">
                <a:extLst>
                  <a:ext uri="{FF2B5EF4-FFF2-40B4-BE49-F238E27FC236}">
                    <a16:creationId xmlns:a16="http://schemas.microsoft.com/office/drawing/2014/main" id="{F6CDA2C1-23B6-F9AF-2EE1-8EF4AFB87BE7}"/>
                  </a:ext>
                </a:extLst>
              </p:cNvPr>
              <p:cNvSpPr txBox="1"/>
              <p:nvPr/>
            </p:nvSpPr>
            <p:spPr>
              <a:xfrm>
                <a:off x="6951232" y="8171080"/>
                <a:ext cx="978474" cy="371010"/>
              </a:xfrm>
              <a:prstGeom prst="rect">
                <a:avLst/>
              </a:prstGeom>
              <a:noFill/>
            </p:spPr>
            <p:txBody>
              <a:bodyPr wrap="square">
                <a:spAutoFit/>
              </a:bodyPr>
              <a:lstStyle/>
              <a:p>
                <a:r>
                  <a:rPr lang="en-US" sz="600" dirty="0"/>
                  <a:t>rcoSOLVER</a:t>
                </a:r>
                <a:endParaRPr lang="en-BE" sz="600" dirty="0"/>
              </a:p>
            </p:txBody>
          </p:sp>
          <p:sp>
            <p:nvSpPr>
              <p:cNvPr id="304" name="TextBox 303">
                <a:extLst>
                  <a:ext uri="{FF2B5EF4-FFF2-40B4-BE49-F238E27FC236}">
                    <a16:creationId xmlns:a16="http://schemas.microsoft.com/office/drawing/2014/main" id="{EA828CA9-A0B3-339B-13F6-02499C774754}"/>
                  </a:ext>
                </a:extLst>
              </p:cNvPr>
              <p:cNvSpPr txBox="1"/>
              <p:nvPr/>
            </p:nvSpPr>
            <p:spPr>
              <a:xfrm>
                <a:off x="6978024" y="8488261"/>
                <a:ext cx="978474" cy="371010"/>
              </a:xfrm>
              <a:prstGeom prst="rect">
                <a:avLst/>
              </a:prstGeom>
              <a:noFill/>
            </p:spPr>
            <p:txBody>
              <a:bodyPr wrap="square">
                <a:spAutoFit/>
              </a:bodyPr>
              <a:lstStyle/>
              <a:p>
                <a:r>
                  <a:rPr lang="en-US" sz="600" dirty="0"/>
                  <a:t>cuSOLVER</a:t>
                </a:r>
                <a:endParaRPr lang="en-BE" sz="600" dirty="0"/>
              </a:p>
            </p:txBody>
          </p:sp>
          <p:sp>
            <p:nvSpPr>
              <p:cNvPr id="306" name="TextBox 305">
                <a:extLst>
                  <a:ext uri="{FF2B5EF4-FFF2-40B4-BE49-F238E27FC236}">
                    <a16:creationId xmlns:a16="http://schemas.microsoft.com/office/drawing/2014/main" id="{3D3B71D4-E1BC-276A-CE92-F73CD7461CF6}"/>
                  </a:ext>
                </a:extLst>
              </p:cNvPr>
              <p:cNvSpPr txBox="1"/>
              <p:nvPr/>
            </p:nvSpPr>
            <p:spPr>
              <a:xfrm>
                <a:off x="6988920" y="8805439"/>
                <a:ext cx="978474" cy="371010"/>
              </a:xfrm>
              <a:prstGeom prst="rect">
                <a:avLst/>
              </a:prstGeom>
              <a:noFill/>
            </p:spPr>
            <p:txBody>
              <a:bodyPr wrap="square">
                <a:spAutoFit/>
              </a:bodyPr>
              <a:lstStyle/>
              <a:p>
                <a:r>
                  <a:rPr lang="en-US" sz="600" dirty="0"/>
                  <a:t>oneMKL</a:t>
                </a:r>
                <a:endParaRPr lang="en-BE" sz="600" dirty="0"/>
              </a:p>
            </p:txBody>
          </p:sp>
          <p:sp>
            <p:nvSpPr>
              <p:cNvPr id="307" name="TextBox 306">
                <a:extLst>
                  <a:ext uri="{FF2B5EF4-FFF2-40B4-BE49-F238E27FC236}">
                    <a16:creationId xmlns:a16="http://schemas.microsoft.com/office/drawing/2014/main" id="{2660C022-6201-D5A9-4016-38DD0330BC16}"/>
                  </a:ext>
                </a:extLst>
              </p:cNvPr>
              <p:cNvSpPr txBox="1"/>
              <p:nvPr/>
            </p:nvSpPr>
            <p:spPr>
              <a:xfrm>
                <a:off x="6988920" y="9122620"/>
                <a:ext cx="978474" cy="371010"/>
              </a:xfrm>
              <a:prstGeom prst="rect">
                <a:avLst/>
              </a:prstGeom>
              <a:noFill/>
            </p:spPr>
            <p:txBody>
              <a:bodyPr wrap="square">
                <a:spAutoFit/>
              </a:bodyPr>
              <a:lstStyle/>
              <a:p>
                <a:r>
                  <a:rPr lang="en-US" sz="600" dirty="0"/>
                  <a:t>limited</a:t>
                </a:r>
                <a:endParaRPr lang="en-BE" sz="600" dirty="0"/>
              </a:p>
            </p:txBody>
          </p:sp>
        </p:grpSp>
        <p:sp>
          <p:nvSpPr>
            <p:cNvPr id="139" name="Rectangle 138">
              <a:extLst>
                <a:ext uri="{FF2B5EF4-FFF2-40B4-BE49-F238E27FC236}">
                  <a16:creationId xmlns:a16="http://schemas.microsoft.com/office/drawing/2014/main" id="{D4995A7A-ADDC-7DAD-EDB1-D76959017FD2}"/>
                </a:ext>
              </a:extLst>
            </p:cNvPr>
            <p:cNvSpPr/>
            <p:nvPr/>
          </p:nvSpPr>
          <p:spPr>
            <a:xfrm>
              <a:off x="2101060" y="5705582"/>
              <a:ext cx="1310559" cy="19936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solidFill>
                    <a:schemeClr val="tx1"/>
                  </a:solidFill>
                </a:rPr>
                <a:t>Multiple CPU cores</a:t>
              </a:r>
              <a:endParaRPr lang="en-BE" sz="600" dirty="0">
                <a:solidFill>
                  <a:schemeClr val="tx1"/>
                </a:solidFill>
              </a:endParaRPr>
            </a:p>
          </p:txBody>
        </p:sp>
        <p:sp>
          <p:nvSpPr>
            <p:cNvPr id="140" name="Rectangle 139">
              <a:extLst>
                <a:ext uri="{FF2B5EF4-FFF2-40B4-BE49-F238E27FC236}">
                  <a16:creationId xmlns:a16="http://schemas.microsoft.com/office/drawing/2014/main" id="{23540C6F-272E-EFF3-15CE-F48FFD5123D4}"/>
                </a:ext>
              </a:extLst>
            </p:cNvPr>
            <p:cNvSpPr/>
            <p:nvPr/>
          </p:nvSpPr>
          <p:spPr>
            <a:xfrm>
              <a:off x="2101060" y="5999542"/>
              <a:ext cx="1310559" cy="19936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solidFill>
                    <a:schemeClr val="tx1"/>
                  </a:solidFill>
                </a:rPr>
                <a:t>Multicore GPUs</a:t>
              </a:r>
              <a:endParaRPr lang="en-BE" sz="600" dirty="0">
                <a:solidFill>
                  <a:schemeClr val="tx1"/>
                </a:solidFill>
              </a:endParaRPr>
            </a:p>
          </p:txBody>
        </p:sp>
        <p:sp>
          <p:nvSpPr>
            <p:cNvPr id="252" name="Rectangle 251">
              <a:extLst>
                <a:ext uri="{FF2B5EF4-FFF2-40B4-BE49-F238E27FC236}">
                  <a16:creationId xmlns:a16="http://schemas.microsoft.com/office/drawing/2014/main" id="{DCCB4F19-3127-FA70-1E78-EFD4D5CAE01C}"/>
                </a:ext>
              </a:extLst>
            </p:cNvPr>
            <p:cNvSpPr/>
            <p:nvPr/>
          </p:nvSpPr>
          <p:spPr>
            <a:xfrm>
              <a:off x="2092752" y="6293502"/>
              <a:ext cx="1310559" cy="19936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solidFill>
                    <a:schemeClr val="tx1"/>
                  </a:solidFill>
                </a:rPr>
                <a:t>Mixed GPU-CPUs</a:t>
              </a:r>
              <a:endParaRPr lang="en-BE" sz="600" dirty="0">
                <a:solidFill>
                  <a:schemeClr val="tx1"/>
                </a:solidFill>
              </a:endParaRPr>
            </a:p>
          </p:txBody>
        </p:sp>
        <p:sp>
          <p:nvSpPr>
            <p:cNvPr id="253" name="TextBox 252">
              <a:extLst>
                <a:ext uri="{FF2B5EF4-FFF2-40B4-BE49-F238E27FC236}">
                  <a16:creationId xmlns:a16="http://schemas.microsoft.com/office/drawing/2014/main" id="{E3ED50C7-FCF7-C9D6-B988-33A8B4D596D5}"/>
                </a:ext>
              </a:extLst>
            </p:cNvPr>
            <p:cNvSpPr txBox="1"/>
            <p:nvPr/>
          </p:nvSpPr>
          <p:spPr>
            <a:xfrm>
              <a:off x="3591568" y="5688629"/>
              <a:ext cx="1003353" cy="341266"/>
            </a:xfrm>
            <a:prstGeom prst="rect">
              <a:avLst/>
            </a:prstGeom>
            <a:noFill/>
          </p:spPr>
          <p:txBody>
            <a:bodyPr wrap="square">
              <a:spAutoFit/>
            </a:bodyPr>
            <a:lstStyle/>
            <a:p>
              <a:r>
                <a:rPr lang="en-US" sz="600" dirty="0"/>
                <a:t>PLASMA</a:t>
              </a:r>
              <a:endParaRPr lang="en-BE" sz="600" dirty="0"/>
            </a:p>
          </p:txBody>
        </p:sp>
        <p:sp>
          <p:nvSpPr>
            <p:cNvPr id="254" name="TextBox 253">
              <a:extLst>
                <a:ext uri="{FF2B5EF4-FFF2-40B4-BE49-F238E27FC236}">
                  <a16:creationId xmlns:a16="http://schemas.microsoft.com/office/drawing/2014/main" id="{1DBE7D8D-7329-D506-8298-5BEE357B53A4}"/>
                </a:ext>
              </a:extLst>
            </p:cNvPr>
            <p:cNvSpPr txBox="1"/>
            <p:nvPr/>
          </p:nvSpPr>
          <p:spPr>
            <a:xfrm>
              <a:off x="3582642" y="5978655"/>
              <a:ext cx="1003353" cy="341266"/>
            </a:xfrm>
            <a:prstGeom prst="rect">
              <a:avLst/>
            </a:prstGeom>
            <a:noFill/>
          </p:spPr>
          <p:txBody>
            <a:bodyPr wrap="square">
              <a:spAutoFit/>
            </a:bodyPr>
            <a:lstStyle/>
            <a:p>
              <a:r>
                <a:rPr lang="en-US" sz="600" dirty="0"/>
                <a:t>MAGMA</a:t>
              </a:r>
              <a:endParaRPr lang="en-BE" sz="600" dirty="0"/>
            </a:p>
          </p:txBody>
        </p:sp>
        <p:sp>
          <p:nvSpPr>
            <p:cNvPr id="255" name="TextBox 254">
              <a:extLst>
                <a:ext uri="{FF2B5EF4-FFF2-40B4-BE49-F238E27FC236}">
                  <a16:creationId xmlns:a16="http://schemas.microsoft.com/office/drawing/2014/main" id="{8C17B09C-AEBE-333E-2E58-07BE47A04087}"/>
                </a:ext>
              </a:extLst>
            </p:cNvPr>
            <p:cNvSpPr txBox="1"/>
            <p:nvPr/>
          </p:nvSpPr>
          <p:spPr>
            <a:xfrm>
              <a:off x="3605422" y="6268679"/>
              <a:ext cx="1003353" cy="341266"/>
            </a:xfrm>
            <a:prstGeom prst="rect">
              <a:avLst/>
            </a:prstGeom>
            <a:noFill/>
          </p:spPr>
          <p:txBody>
            <a:bodyPr wrap="square">
              <a:spAutoFit/>
            </a:bodyPr>
            <a:lstStyle/>
            <a:p>
              <a:r>
                <a:rPr lang="en-US" sz="600" dirty="0"/>
                <a:t>SLATE</a:t>
              </a:r>
              <a:endParaRPr lang="en-BE" sz="600" dirty="0"/>
            </a:p>
          </p:txBody>
        </p:sp>
        <p:cxnSp>
          <p:nvCxnSpPr>
            <p:cNvPr id="256" name="Straight Connector 255">
              <a:extLst>
                <a:ext uri="{FF2B5EF4-FFF2-40B4-BE49-F238E27FC236}">
                  <a16:creationId xmlns:a16="http://schemas.microsoft.com/office/drawing/2014/main" id="{ABFF8F21-4C74-48F8-2E02-D019083772FB}"/>
                </a:ext>
              </a:extLst>
            </p:cNvPr>
            <p:cNvCxnSpPr>
              <a:cxnSpLocks/>
            </p:cNvCxnSpPr>
            <p:nvPr/>
          </p:nvCxnSpPr>
          <p:spPr>
            <a:xfrm>
              <a:off x="4345826" y="4548304"/>
              <a:ext cx="0" cy="876660"/>
            </a:xfrm>
            <a:prstGeom prst="line">
              <a:avLst/>
            </a:prstGeom>
            <a:ln w="38100">
              <a:solidFill>
                <a:srgbClr val="47575D"/>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1DA1A49C-612B-1E2E-FF55-86FFED2DDE9C}"/>
                </a:ext>
              </a:extLst>
            </p:cNvPr>
            <p:cNvCxnSpPr>
              <a:cxnSpLocks/>
            </p:cNvCxnSpPr>
            <p:nvPr/>
          </p:nvCxnSpPr>
          <p:spPr>
            <a:xfrm>
              <a:off x="4117639" y="5037834"/>
              <a:ext cx="221824" cy="0"/>
            </a:xfrm>
            <a:prstGeom prst="line">
              <a:avLst/>
            </a:prstGeom>
            <a:ln w="38100">
              <a:solidFill>
                <a:srgbClr val="47575D"/>
              </a:solidFill>
            </a:ln>
          </p:spPr>
          <p:style>
            <a:lnRef idx="1">
              <a:schemeClr val="accent1"/>
            </a:lnRef>
            <a:fillRef idx="0">
              <a:schemeClr val="accent1"/>
            </a:fillRef>
            <a:effectRef idx="0">
              <a:schemeClr val="accent1"/>
            </a:effectRef>
            <a:fontRef idx="minor">
              <a:schemeClr val="tx1"/>
            </a:fontRef>
          </p:style>
        </p:cxnSp>
        <p:sp>
          <p:nvSpPr>
            <p:cNvPr id="258" name="Rectangle 257">
              <a:extLst>
                <a:ext uri="{FF2B5EF4-FFF2-40B4-BE49-F238E27FC236}">
                  <a16:creationId xmlns:a16="http://schemas.microsoft.com/office/drawing/2014/main" id="{387A11D9-B9AA-AF0E-950C-4E8DCF0A94EB}"/>
                </a:ext>
              </a:extLst>
            </p:cNvPr>
            <p:cNvSpPr/>
            <p:nvPr/>
          </p:nvSpPr>
          <p:spPr>
            <a:xfrm>
              <a:off x="3476474" y="4788118"/>
              <a:ext cx="671385" cy="44571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solidFill>
                    <a:schemeClr val="tx1"/>
                  </a:solidFill>
                </a:rPr>
                <a:t>Data fits in GPU</a:t>
              </a:r>
              <a:endParaRPr lang="en-BE" sz="600" dirty="0">
                <a:solidFill>
                  <a:schemeClr val="tx1"/>
                </a:solidFill>
              </a:endParaRPr>
            </a:p>
          </p:txBody>
        </p:sp>
        <p:grpSp>
          <p:nvGrpSpPr>
            <p:cNvPr id="259" name="Group 258">
              <a:extLst>
                <a:ext uri="{FF2B5EF4-FFF2-40B4-BE49-F238E27FC236}">
                  <a16:creationId xmlns:a16="http://schemas.microsoft.com/office/drawing/2014/main" id="{695BD96F-2D84-558A-3FBF-CB92D15BB30F}"/>
                </a:ext>
              </a:extLst>
            </p:cNvPr>
            <p:cNvGrpSpPr/>
            <p:nvPr/>
          </p:nvGrpSpPr>
          <p:grpSpPr>
            <a:xfrm>
              <a:off x="3231665" y="4941565"/>
              <a:ext cx="255089" cy="185499"/>
              <a:chOff x="5270500" y="8169293"/>
              <a:chExt cx="342482" cy="216409"/>
            </a:xfrm>
          </p:grpSpPr>
          <p:cxnSp>
            <p:nvCxnSpPr>
              <p:cNvPr id="282" name="Straight Arrow Connector 281">
                <a:extLst>
                  <a:ext uri="{FF2B5EF4-FFF2-40B4-BE49-F238E27FC236}">
                    <a16:creationId xmlns:a16="http://schemas.microsoft.com/office/drawing/2014/main" id="{93A04B09-DF99-A64A-20A6-899285F2FD3E}"/>
                  </a:ext>
                </a:extLst>
              </p:cNvPr>
              <p:cNvCxnSpPr>
                <a:cxnSpLocks/>
              </p:cNvCxnSpPr>
              <p:nvPr/>
            </p:nvCxnSpPr>
            <p:spPr>
              <a:xfrm>
                <a:off x="5270500" y="8265832"/>
                <a:ext cx="342482" cy="0"/>
              </a:xfrm>
              <a:prstGeom prst="straightConnector1">
                <a:avLst/>
              </a:prstGeom>
              <a:ln w="38100">
                <a:solidFill>
                  <a:srgbClr val="47575D"/>
                </a:solidFill>
                <a:tailEnd type="triangle"/>
              </a:ln>
            </p:spPr>
            <p:style>
              <a:lnRef idx="1">
                <a:schemeClr val="accent1"/>
              </a:lnRef>
              <a:fillRef idx="0">
                <a:schemeClr val="accent1"/>
              </a:fillRef>
              <a:effectRef idx="0">
                <a:schemeClr val="accent1"/>
              </a:effectRef>
              <a:fontRef idx="minor">
                <a:schemeClr val="tx1"/>
              </a:fontRef>
            </p:style>
          </p:cxnSp>
          <p:sp>
            <p:nvSpPr>
              <p:cNvPr id="283" name="Isosceles Triangle 282">
                <a:extLst>
                  <a:ext uri="{FF2B5EF4-FFF2-40B4-BE49-F238E27FC236}">
                    <a16:creationId xmlns:a16="http://schemas.microsoft.com/office/drawing/2014/main" id="{78078ED5-F772-F0BE-4B6C-E22C3D72BD39}"/>
                  </a:ext>
                </a:extLst>
              </p:cNvPr>
              <p:cNvSpPr/>
              <p:nvPr/>
            </p:nvSpPr>
            <p:spPr>
              <a:xfrm rot="5400000" flipH="1">
                <a:off x="5425821" y="8206790"/>
                <a:ext cx="216409" cy="141416"/>
              </a:xfrm>
              <a:prstGeom prst="triangle">
                <a:avLst/>
              </a:prstGeom>
              <a:solidFill>
                <a:srgbClr val="4757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450"/>
              </a:p>
            </p:txBody>
          </p:sp>
        </p:grpSp>
        <p:cxnSp>
          <p:nvCxnSpPr>
            <p:cNvPr id="260" name="Straight Connector 259">
              <a:extLst>
                <a:ext uri="{FF2B5EF4-FFF2-40B4-BE49-F238E27FC236}">
                  <a16:creationId xmlns:a16="http://schemas.microsoft.com/office/drawing/2014/main" id="{322A47D4-83B4-5ABE-B695-79E52D323C61}"/>
                </a:ext>
              </a:extLst>
            </p:cNvPr>
            <p:cNvCxnSpPr>
              <a:cxnSpLocks/>
            </p:cNvCxnSpPr>
            <p:nvPr/>
          </p:nvCxnSpPr>
          <p:spPr>
            <a:xfrm>
              <a:off x="620129" y="5380907"/>
              <a:ext cx="0" cy="717127"/>
            </a:xfrm>
            <a:prstGeom prst="line">
              <a:avLst/>
            </a:prstGeom>
            <a:ln w="38100">
              <a:solidFill>
                <a:srgbClr val="47575D"/>
              </a:solidFill>
            </a:ln>
          </p:spPr>
          <p:style>
            <a:lnRef idx="1">
              <a:schemeClr val="accent1"/>
            </a:lnRef>
            <a:fillRef idx="0">
              <a:schemeClr val="accent1"/>
            </a:fillRef>
            <a:effectRef idx="0">
              <a:schemeClr val="accent1"/>
            </a:effectRef>
            <a:fontRef idx="minor">
              <a:schemeClr val="tx1"/>
            </a:fontRef>
          </p:style>
        </p:cxnSp>
        <p:cxnSp>
          <p:nvCxnSpPr>
            <p:cNvPr id="261" name="Straight Arrow Connector 260">
              <a:extLst>
                <a:ext uri="{FF2B5EF4-FFF2-40B4-BE49-F238E27FC236}">
                  <a16:creationId xmlns:a16="http://schemas.microsoft.com/office/drawing/2014/main" id="{58882643-800B-F922-4874-CD27CEEA0534}"/>
                </a:ext>
              </a:extLst>
            </p:cNvPr>
            <p:cNvCxnSpPr>
              <a:cxnSpLocks/>
            </p:cNvCxnSpPr>
            <p:nvPr/>
          </p:nvCxnSpPr>
          <p:spPr>
            <a:xfrm>
              <a:off x="608954" y="6098034"/>
              <a:ext cx="1428010" cy="0"/>
            </a:xfrm>
            <a:prstGeom prst="straightConnector1">
              <a:avLst/>
            </a:prstGeom>
            <a:ln w="38100">
              <a:solidFill>
                <a:srgbClr val="47575D"/>
              </a:solidFill>
              <a:tailEnd type="triangle"/>
            </a:ln>
          </p:spPr>
          <p:style>
            <a:lnRef idx="1">
              <a:schemeClr val="accent1"/>
            </a:lnRef>
            <a:fillRef idx="0">
              <a:schemeClr val="accent1"/>
            </a:fillRef>
            <a:effectRef idx="0">
              <a:schemeClr val="accent1"/>
            </a:effectRef>
            <a:fontRef idx="minor">
              <a:schemeClr val="tx1"/>
            </a:fontRef>
          </p:style>
        </p:cxnSp>
        <p:sp>
          <p:nvSpPr>
            <p:cNvPr id="262" name="Isosceles Triangle 261">
              <a:extLst>
                <a:ext uri="{FF2B5EF4-FFF2-40B4-BE49-F238E27FC236}">
                  <a16:creationId xmlns:a16="http://schemas.microsoft.com/office/drawing/2014/main" id="{8269F88E-EABD-545C-A6BC-394F2D06DEF3}"/>
                </a:ext>
              </a:extLst>
            </p:cNvPr>
            <p:cNvSpPr/>
            <p:nvPr/>
          </p:nvSpPr>
          <p:spPr>
            <a:xfrm rot="5400000" flipH="1">
              <a:off x="1904403" y="6045135"/>
              <a:ext cx="130433" cy="83893"/>
            </a:xfrm>
            <a:prstGeom prst="triangle">
              <a:avLst/>
            </a:prstGeom>
            <a:solidFill>
              <a:srgbClr val="4757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450"/>
            </a:p>
          </p:txBody>
        </p:sp>
        <p:cxnSp>
          <p:nvCxnSpPr>
            <p:cNvPr id="263" name="Straight Connector 262">
              <a:extLst>
                <a:ext uri="{FF2B5EF4-FFF2-40B4-BE49-F238E27FC236}">
                  <a16:creationId xmlns:a16="http://schemas.microsoft.com/office/drawing/2014/main" id="{E714F828-EC6B-A6A3-836C-6BEE396B7183}"/>
                </a:ext>
              </a:extLst>
            </p:cNvPr>
            <p:cNvCxnSpPr>
              <a:cxnSpLocks/>
            </p:cNvCxnSpPr>
            <p:nvPr/>
          </p:nvCxnSpPr>
          <p:spPr>
            <a:xfrm>
              <a:off x="2425391" y="5097530"/>
              <a:ext cx="0" cy="297957"/>
            </a:xfrm>
            <a:prstGeom prst="line">
              <a:avLst/>
            </a:prstGeom>
            <a:ln w="38100">
              <a:solidFill>
                <a:srgbClr val="47575D"/>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61CE3481-BA8B-B1A8-8863-A5C7A11EE5EC}"/>
                </a:ext>
              </a:extLst>
            </p:cNvPr>
            <p:cNvCxnSpPr>
              <a:cxnSpLocks/>
            </p:cNvCxnSpPr>
            <p:nvPr/>
          </p:nvCxnSpPr>
          <p:spPr>
            <a:xfrm>
              <a:off x="615869" y="5386231"/>
              <a:ext cx="1826455" cy="0"/>
            </a:xfrm>
            <a:prstGeom prst="line">
              <a:avLst/>
            </a:prstGeom>
            <a:ln w="38100">
              <a:solidFill>
                <a:srgbClr val="47575D"/>
              </a:solidFill>
            </a:ln>
          </p:spPr>
          <p:style>
            <a:lnRef idx="1">
              <a:schemeClr val="accent1"/>
            </a:lnRef>
            <a:fillRef idx="0">
              <a:schemeClr val="accent1"/>
            </a:fillRef>
            <a:effectRef idx="0">
              <a:schemeClr val="accent1"/>
            </a:effectRef>
            <a:fontRef idx="minor">
              <a:schemeClr val="tx1"/>
            </a:fontRef>
          </p:style>
        </p:cxnSp>
        <p:sp>
          <p:nvSpPr>
            <p:cNvPr id="265" name="Rectangle 264">
              <a:extLst>
                <a:ext uri="{FF2B5EF4-FFF2-40B4-BE49-F238E27FC236}">
                  <a16:creationId xmlns:a16="http://schemas.microsoft.com/office/drawing/2014/main" id="{1D59A81B-BAB6-70B4-881E-B155A75C0B3D}"/>
                </a:ext>
              </a:extLst>
            </p:cNvPr>
            <p:cNvSpPr/>
            <p:nvPr/>
          </p:nvSpPr>
          <p:spPr>
            <a:xfrm>
              <a:off x="1063425" y="5321543"/>
              <a:ext cx="898622" cy="38330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solidFill>
                    <a:schemeClr val="tx1"/>
                  </a:solidFill>
                </a:rPr>
                <a:t>Data larger than GPU</a:t>
              </a:r>
              <a:endParaRPr lang="en-BE" sz="600" dirty="0">
                <a:solidFill>
                  <a:schemeClr val="tx1"/>
                </a:solidFill>
              </a:endParaRPr>
            </a:p>
          </p:txBody>
        </p:sp>
        <p:cxnSp>
          <p:nvCxnSpPr>
            <p:cNvPr id="266" name="Straight Arrow Connector 265">
              <a:extLst>
                <a:ext uri="{FF2B5EF4-FFF2-40B4-BE49-F238E27FC236}">
                  <a16:creationId xmlns:a16="http://schemas.microsoft.com/office/drawing/2014/main" id="{704BD650-6F44-DB19-19F4-A45A41624021}"/>
                </a:ext>
              </a:extLst>
            </p:cNvPr>
            <p:cNvCxnSpPr>
              <a:cxnSpLocks/>
            </p:cNvCxnSpPr>
            <p:nvPr/>
          </p:nvCxnSpPr>
          <p:spPr>
            <a:xfrm flipV="1">
              <a:off x="5160530" y="5612320"/>
              <a:ext cx="175" cy="583819"/>
            </a:xfrm>
            <a:prstGeom prst="straightConnector1">
              <a:avLst/>
            </a:prstGeom>
            <a:ln w="38100">
              <a:solidFill>
                <a:srgbClr val="47575D"/>
              </a:solidFill>
              <a:tailEnd type="triangle"/>
            </a:ln>
          </p:spPr>
          <p:style>
            <a:lnRef idx="1">
              <a:schemeClr val="accent1"/>
            </a:lnRef>
            <a:fillRef idx="0">
              <a:schemeClr val="accent1"/>
            </a:fillRef>
            <a:effectRef idx="0">
              <a:schemeClr val="accent1"/>
            </a:effectRef>
            <a:fontRef idx="minor">
              <a:schemeClr val="tx1"/>
            </a:fontRef>
          </p:style>
        </p:cxnSp>
        <p:sp>
          <p:nvSpPr>
            <p:cNvPr id="267" name="Isosceles Triangle 266">
              <a:extLst>
                <a:ext uri="{FF2B5EF4-FFF2-40B4-BE49-F238E27FC236}">
                  <a16:creationId xmlns:a16="http://schemas.microsoft.com/office/drawing/2014/main" id="{9D1B258B-A58C-1C6C-7457-2CB46C701535}"/>
                </a:ext>
              </a:extLst>
            </p:cNvPr>
            <p:cNvSpPr/>
            <p:nvPr/>
          </p:nvSpPr>
          <p:spPr>
            <a:xfrm flipH="1">
              <a:off x="5096337" y="5636670"/>
              <a:ext cx="128385" cy="85232"/>
            </a:xfrm>
            <a:prstGeom prst="triangle">
              <a:avLst/>
            </a:prstGeom>
            <a:solidFill>
              <a:srgbClr val="4757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450"/>
            </a:p>
          </p:txBody>
        </p:sp>
        <p:sp>
          <p:nvSpPr>
            <p:cNvPr id="268" name="Rectangle 267">
              <a:extLst>
                <a:ext uri="{FF2B5EF4-FFF2-40B4-BE49-F238E27FC236}">
                  <a16:creationId xmlns:a16="http://schemas.microsoft.com/office/drawing/2014/main" id="{EA4C4E89-0926-FBE4-BF7E-5D8F583DC7C0}"/>
                </a:ext>
              </a:extLst>
            </p:cNvPr>
            <p:cNvSpPr/>
            <p:nvPr/>
          </p:nvSpPr>
          <p:spPr>
            <a:xfrm>
              <a:off x="4611721" y="5914007"/>
              <a:ext cx="1220282" cy="411172"/>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solidFill>
                    <a:schemeClr val="tx1"/>
                  </a:solidFill>
                </a:rPr>
                <a:t>Using GPU</a:t>
              </a:r>
              <a:br>
                <a:rPr lang="en-US" sz="600" dirty="0">
                  <a:solidFill>
                    <a:schemeClr val="tx1"/>
                  </a:solidFill>
                </a:rPr>
              </a:br>
              <a:r>
                <a:rPr lang="en-US" sz="600" dirty="0">
                  <a:solidFill>
                    <a:schemeClr val="tx1"/>
                  </a:solidFill>
                </a:rPr>
                <a:t> vendor software</a:t>
              </a:r>
              <a:endParaRPr lang="en-BE" sz="600" dirty="0">
                <a:solidFill>
                  <a:schemeClr val="tx1"/>
                </a:solidFill>
              </a:endParaRPr>
            </a:p>
          </p:txBody>
        </p:sp>
        <p:cxnSp>
          <p:nvCxnSpPr>
            <p:cNvPr id="269" name="Straight Connector 268">
              <a:extLst>
                <a:ext uri="{FF2B5EF4-FFF2-40B4-BE49-F238E27FC236}">
                  <a16:creationId xmlns:a16="http://schemas.microsoft.com/office/drawing/2014/main" id="{3323D9EF-3559-275B-CFC4-91D6E1433F24}"/>
                </a:ext>
              </a:extLst>
            </p:cNvPr>
            <p:cNvCxnSpPr>
              <a:cxnSpLocks/>
            </p:cNvCxnSpPr>
            <p:nvPr/>
          </p:nvCxnSpPr>
          <p:spPr>
            <a:xfrm flipH="1">
              <a:off x="4432887" y="5766020"/>
              <a:ext cx="8533" cy="637180"/>
            </a:xfrm>
            <a:prstGeom prst="line">
              <a:avLst/>
            </a:prstGeom>
            <a:ln w="38100">
              <a:solidFill>
                <a:srgbClr val="47575D"/>
              </a:solidFill>
            </a:ln>
          </p:spPr>
          <p:style>
            <a:lnRef idx="1">
              <a:schemeClr val="accent1"/>
            </a:lnRef>
            <a:fillRef idx="0">
              <a:schemeClr val="accent1"/>
            </a:fillRef>
            <a:effectRef idx="0">
              <a:schemeClr val="accent1"/>
            </a:effectRef>
            <a:fontRef idx="minor">
              <a:schemeClr val="tx1"/>
            </a:fontRef>
          </p:style>
        </p:cxnSp>
        <p:cxnSp>
          <p:nvCxnSpPr>
            <p:cNvPr id="270" name="Straight Arrow Connector 269">
              <a:extLst>
                <a:ext uri="{FF2B5EF4-FFF2-40B4-BE49-F238E27FC236}">
                  <a16:creationId xmlns:a16="http://schemas.microsoft.com/office/drawing/2014/main" id="{4B41D4C3-F2EE-9FCB-2337-289297A413A8}"/>
                </a:ext>
              </a:extLst>
            </p:cNvPr>
            <p:cNvCxnSpPr>
              <a:cxnSpLocks/>
            </p:cNvCxnSpPr>
            <p:nvPr/>
          </p:nvCxnSpPr>
          <p:spPr>
            <a:xfrm>
              <a:off x="4410968" y="6109277"/>
              <a:ext cx="203176" cy="0"/>
            </a:xfrm>
            <a:prstGeom prst="straightConnector1">
              <a:avLst/>
            </a:prstGeom>
            <a:ln w="38100">
              <a:solidFill>
                <a:srgbClr val="47575D"/>
              </a:solidFill>
              <a:tailEnd type="triangle"/>
            </a:ln>
          </p:spPr>
          <p:style>
            <a:lnRef idx="1">
              <a:schemeClr val="accent1"/>
            </a:lnRef>
            <a:fillRef idx="0">
              <a:schemeClr val="accent1"/>
            </a:fillRef>
            <a:effectRef idx="0">
              <a:schemeClr val="accent1"/>
            </a:effectRef>
            <a:fontRef idx="minor">
              <a:schemeClr val="tx1"/>
            </a:fontRef>
          </p:style>
        </p:cxnSp>
        <p:sp>
          <p:nvSpPr>
            <p:cNvPr id="271" name="Isosceles Triangle 270">
              <a:extLst>
                <a:ext uri="{FF2B5EF4-FFF2-40B4-BE49-F238E27FC236}">
                  <a16:creationId xmlns:a16="http://schemas.microsoft.com/office/drawing/2014/main" id="{B4E18A12-6BC5-DDC8-9CD7-FAA31E77BD35}"/>
                </a:ext>
              </a:extLst>
            </p:cNvPr>
            <p:cNvSpPr/>
            <p:nvPr/>
          </p:nvSpPr>
          <p:spPr>
            <a:xfrm rot="5400000" flipH="1">
              <a:off x="4484220" y="6074361"/>
              <a:ext cx="130433" cy="83893"/>
            </a:xfrm>
            <a:prstGeom prst="triangle">
              <a:avLst/>
            </a:prstGeom>
            <a:solidFill>
              <a:srgbClr val="4757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450"/>
            </a:p>
          </p:txBody>
        </p:sp>
        <p:cxnSp>
          <p:nvCxnSpPr>
            <p:cNvPr id="272" name="Straight Arrow Connector 271">
              <a:extLst>
                <a:ext uri="{FF2B5EF4-FFF2-40B4-BE49-F238E27FC236}">
                  <a16:creationId xmlns:a16="http://schemas.microsoft.com/office/drawing/2014/main" id="{89DB1FCD-75B0-F626-40DA-0CB0230C8AA5}"/>
                </a:ext>
              </a:extLst>
            </p:cNvPr>
            <p:cNvCxnSpPr>
              <a:cxnSpLocks/>
            </p:cNvCxnSpPr>
            <p:nvPr/>
          </p:nvCxnSpPr>
          <p:spPr>
            <a:xfrm>
              <a:off x="4194214" y="6389869"/>
              <a:ext cx="203176" cy="0"/>
            </a:xfrm>
            <a:prstGeom prst="straightConnector1">
              <a:avLst/>
            </a:prstGeom>
            <a:ln w="38100">
              <a:solidFill>
                <a:srgbClr val="47575D"/>
              </a:solidFill>
              <a:tailEnd type="triangle"/>
            </a:ln>
          </p:spPr>
          <p:style>
            <a:lnRef idx="1">
              <a:schemeClr val="accent1"/>
            </a:lnRef>
            <a:fillRef idx="0">
              <a:schemeClr val="accent1"/>
            </a:fillRef>
            <a:effectRef idx="0">
              <a:schemeClr val="accent1"/>
            </a:effectRef>
            <a:fontRef idx="minor">
              <a:schemeClr val="tx1"/>
            </a:fontRef>
          </p:style>
        </p:cxnSp>
        <p:sp>
          <p:nvSpPr>
            <p:cNvPr id="273" name="Isosceles Triangle 272">
              <a:extLst>
                <a:ext uri="{FF2B5EF4-FFF2-40B4-BE49-F238E27FC236}">
                  <a16:creationId xmlns:a16="http://schemas.microsoft.com/office/drawing/2014/main" id="{885865D5-B184-10F2-C63B-1ED06A15D213}"/>
                </a:ext>
              </a:extLst>
            </p:cNvPr>
            <p:cNvSpPr/>
            <p:nvPr/>
          </p:nvSpPr>
          <p:spPr>
            <a:xfrm rot="5400000" flipH="1">
              <a:off x="4267466" y="6354953"/>
              <a:ext cx="130433" cy="83893"/>
            </a:xfrm>
            <a:prstGeom prst="triangle">
              <a:avLst/>
            </a:prstGeom>
            <a:solidFill>
              <a:srgbClr val="4757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450"/>
            </a:p>
          </p:txBody>
        </p:sp>
        <p:cxnSp>
          <p:nvCxnSpPr>
            <p:cNvPr id="274" name="Straight Arrow Connector 273">
              <a:extLst>
                <a:ext uri="{FF2B5EF4-FFF2-40B4-BE49-F238E27FC236}">
                  <a16:creationId xmlns:a16="http://schemas.microsoft.com/office/drawing/2014/main" id="{1920D96F-0F17-FFA5-C121-FD6AD37AE3ED}"/>
                </a:ext>
              </a:extLst>
            </p:cNvPr>
            <p:cNvCxnSpPr>
              <a:cxnSpLocks/>
            </p:cNvCxnSpPr>
            <p:nvPr/>
          </p:nvCxnSpPr>
          <p:spPr>
            <a:xfrm>
              <a:off x="4194214" y="5803754"/>
              <a:ext cx="203176" cy="0"/>
            </a:xfrm>
            <a:prstGeom prst="straightConnector1">
              <a:avLst/>
            </a:prstGeom>
            <a:ln w="38100">
              <a:solidFill>
                <a:srgbClr val="47575D"/>
              </a:solidFill>
              <a:tailEnd type="triangle"/>
            </a:ln>
          </p:spPr>
          <p:style>
            <a:lnRef idx="1">
              <a:schemeClr val="accent1"/>
            </a:lnRef>
            <a:fillRef idx="0">
              <a:schemeClr val="accent1"/>
            </a:fillRef>
            <a:effectRef idx="0">
              <a:schemeClr val="accent1"/>
            </a:effectRef>
            <a:fontRef idx="minor">
              <a:schemeClr val="tx1"/>
            </a:fontRef>
          </p:style>
        </p:cxnSp>
        <p:sp>
          <p:nvSpPr>
            <p:cNvPr id="275" name="Isosceles Triangle 274">
              <a:extLst>
                <a:ext uri="{FF2B5EF4-FFF2-40B4-BE49-F238E27FC236}">
                  <a16:creationId xmlns:a16="http://schemas.microsoft.com/office/drawing/2014/main" id="{7DE21701-0F8B-5E80-D65D-3FCB1FEBE28F}"/>
                </a:ext>
              </a:extLst>
            </p:cNvPr>
            <p:cNvSpPr/>
            <p:nvPr/>
          </p:nvSpPr>
          <p:spPr>
            <a:xfrm rot="5400000" flipH="1">
              <a:off x="4267466" y="5768838"/>
              <a:ext cx="130433" cy="83893"/>
            </a:xfrm>
            <a:prstGeom prst="triangle">
              <a:avLst/>
            </a:prstGeom>
            <a:solidFill>
              <a:srgbClr val="4757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450"/>
            </a:p>
          </p:txBody>
        </p:sp>
        <p:cxnSp>
          <p:nvCxnSpPr>
            <p:cNvPr id="276" name="Straight Arrow Connector 275">
              <a:extLst>
                <a:ext uri="{FF2B5EF4-FFF2-40B4-BE49-F238E27FC236}">
                  <a16:creationId xmlns:a16="http://schemas.microsoft.com/office/drawing/2014/main" id="{46EA3A0B-A603-668F-290E-AA0978ED9784}"/>
                </a:ext>
              </a:extLst>
            </p:cNvPr>
            <p:cNvCxnSpPr>
              <a:cxnSpLocks/>
            </p:cNvCxnSpPr>
            <p:nvPr/>
          </p:nvCxnSpPr>
          <p:spPr>
            <a:xfrm>
              <a:off x="4194214" y="6096811"/>
              <a:ext cx="203176" cy="0"/>
            </a:xfrm>
            <a:prstGeom prst="straightConnector1">
              <a:avLst/>
            </a:prstGeom>
            <a:ln w="38100">
              <a:solidFill>
                <a:srgbClr val="47575D"/>
              </a:solidFill>
              <a:tailEnd type="triangle"/>
            </a:ln>
          </p:spPr>
          <p:style>
            <a:lnRef idx="1">
              <a:schemeClr val="accent1"/>
            </a:lnRef>
            <a:fillRef idx="0">
              <a:schemeClr val="accent1"/>
            </a:fillRef>
            <a:effectRef idx="0">
              <a:schemeClr val="accent1"/>
            </a:effectRef>
            <a:fontRef idx="minor">
              <a:schemeClr val="tx1"/>
            </a:fontRef>
          </p:style>
        </p:cxnSp>
        <p:sp>
          <p:nvSpPr>
            <p:cNvPr id="277" name="Isosceles Triangle 276">
              <a:extLst>
                <a:ext uri="{FF2B5EF4-FFF2-40B4-BE49-F238E27FC236}">
                  <a16:creationId xmlns:a16="http://schemas.microsoft.com/office/drawing/2014/main" id="{4F3D467F-1DBC-A88B-7254-2D2131A09418}"/>
                </a:ext>
              </a:extLst>
            </p:cNvPr>
            <p:cNvSpPr/>
            <p:nvPr/>
          </p:nvSpPr>
          <p:spPr>
            <a:xfrm rot="5400000" flipH="1">
              <a:off x="4267466" y="6061895"/>
              <a:ext cx="130433" cy="83893"/>
            </a:xfrm>
            <a:prstGeom prst="triangle">
              <a:avLst/>
            </a:prstGeom>
            <a:solidFill>
              <a:srgbClr val="4757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450"/>
            </a:p>
          </p:txBody>
        </p:sp>
        <p:pic>
          <p:nvPicPr>
            <p:cNvPr id="278" name="Picture 2" descr="AMD Logo and symbol, meaning, history, PNG, brand">
              <a:extLst>
                <a:ext uri="{FF2B5EF4-FFF2-40B4-BE49-F238E27FC236}">
                  <a16:creationId xmlns:a16="http://schemas.microsoft.com/office/drawing/2014/main" id="{05B25287-4336-C7D9-5C83-3CB34339CF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43793" y="4340155"/>
              <a:ext cx="739433" cy="460665"/>
            </a:xfrm>
            <a:prstGeom prst="rect">
              <a:avLst/>
            </a:prstGeom>
            <a:noFill/>
            <a:extLst>
              <a:ext uri="{909E8E84-426E-40DD-AFC4-6F175D3DCCD1}">
                <a14:hiddenFill xmlns:a14="http://schemas.microsoft.com/office/drawing/2010/main">
                  <a:solidFill>
                    <a:srgbClr val="FFFFFF"/>
                  </a:solidFill>
                </a14:hiddenFill>
              </a:ext>
            </a:extLst>
          </p:spPr>
        </p:pic>
        <p:pic>
          <p:nvPicPr>
            <p:cNvPr id="279" name="Picture 4" descr="CAREERS AT NVIDIA">
              <a:extLst>
                <a:ext uri="{FF2B5EF4-FFF2-40B4-BE49-F238E27FC236}">
                  <a16:creationId xmlns:a16="http://schemas.microsoft.com/office/drawing/2014/main" id="{62F31012-187E-ECCB-E698-153F6919D9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07266" y="4675151"/>
              <a:ext cx="1028922" cy="356829"/>
            </a:xfrm>
            <a:prstGeom prst="rect">
              <a:avLst/>
            </a:prstGeom>
            <a:noFill/>
            <a:extLst>
              <a:ext uri="{909E8E84-426E-40DD-AFC4-6F175D3DCCD1}">
                <a14:hiddenFill xmlns:a14="http://schemas.microsoft.com/office/drawing/2010/main">
                  <a:solidFill>
                    <a:srgbClr val="FFFFFF"/>
                  </a:solidFill>
                </a14:hiddenFill>
              </a:ext>
            </a:extLst>
          </p:spPr>
        </p:pic>
        <p:pic>
          <p:nvPicPr>
            <p:cNvPr id="280" name="Picture 6">
              <a:extLst>
                <a:ext uri="{FF2B5EF4-FFF2-40B4-BE49-F238E27FC236}">
                  <a16:creationId xmlns:a16="http://schemas.microsoft.com/office/drawing/2014/main" id="{C13AB852-02F6-3685-E72F-CCF13DD0A6D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79547" y="5027553"/>
              <a:ext cx="530528" cy="214528"/>
            </a:xfrm>
            <a:prstGeom prst="rect">
              <a:avLst/>
            </a:prstGeom>
            <a:noFill/>
            <a:extLst>
              <a:ext uri="{909E8E84-426E-40DD-AFC4-6F175D3DCCD1}">
                <a14:hiddenFill xmlns:a14="http://schemas.microsoft.com/office/drawing/2010/main">
                  <a:solidFill>
                    <a:srgbClr val="FFFFFF"/>
                  </a:solidFill>
                </a14:hiddenFill>
              </a:ext>
            </a:extLst>
          </p:spPr>
        </p:pic>
        <p:pic>
          <p:nvPicPr>
            <p:cNvPr id="281" name="Picture 8" descr="Download What If Apple Discontinues The Mac Product Line - Apple Logo And  Name PNG Image with No Background - PNGkey.com">
              <a:extLst>
                <a:ext uri="{FF2B5EF4-FFF2-40B4-BE49-F238E27FC236}">
                  <a16:creationId xmlns:a16="http://schemas.microsoft.com/office/drawing/2014/main" id="{0DF04066-BC6E-6518-E648-73F10C0F567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00398" y="5319505"/>
              <a:ext cx="577163" cy="197128"/>
            </a:xfrm>
            <a:prstGeom prst="rect">
              <a:avLst/>
            </a:prstGeom>
            <a:noFill/>
            <a:extLst>
              <a:ext uri="{909E8E84-426E-40DD-AFC4-6F175D3DCCD1}">
                <a14:hiddenFill xmlns:a14="http://schemas.microsoft.com/office/drawing/2010/main">
                  <a:solidFill>
                    <a:srgbClr val="FFFFFF"/>
                  </a:solidFill>
                </a14:hiddenFill>
              </a:ext>
            </a:extLst>
          </p:spPr>
        </p:pic>
      </p:grpSp>
      <p:sp>
        <p:nvSpPr>
          <p:cNvPr id="310" name="Content Placeholder 2">
            <a:extLst>
              <a:ext uri="{FF2B5EF4-FFF2-40B4-BE49-F238E27FC236}">
                <a16:creationId xmlns:a16="http://schemas.microsoft.com/office/drawing/2014/main" id="{956BD255-0C21-7CD4-0CF9-679F40E7ABE7}"/>
              </a:ext>
            </a:extLst>
          </p:cNvPr>
          <p:cNvSpPr txBox="1">
            <a:spLocks/>
          </p:cNvSpPr>
          <p:nvPr/>
        </p:nvSpPr>
        <p:spPr>
          <a:xfrm>
            <a:off x="5853065" y="1335007"/>
            <a:ext cx="3012220" cy="3263504"/>
          </a:xfrm>
          <a:prstGeom prst="rect">
            <a:avLst/>
          </a:prstGeom>
        </p:spPr>
        <p:txBody>
          <a:bodyPr vert="horz" lIns="68580" tIns="34290" rIns="68580" bIns="3429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500" dirty="0">
                <a:solidFill>
                  <a:schemeClr val="bg1"/>
                </a:solidFill>
              </a:rPr>
              <a:t>Driven by different launch models, memory semantics, and compiler intrinsics resulting in different optimal hyperparameter values</a:t>
            </a:r>
          </a:p>
          <a:p>
            <a:endParaRPr lang="en-US" sz="1500" dirty="0">
              <a:solidFill>
                <a:schemeClr val="bg1"/>
              </a:solidFill>
            </a:endParaRPr>
          </a:p>
          <a:p>
            <a:endParaRPr lang="en-US" sz="1500" dirty="0">
              <a:solidFill>
                <a:schemeClr val="bg1"/>
              </a:solidFill>
            </a:endParaRPr>
          </a:p>
          <a:p>
            <a:endParaRPr lang="en-US" sz="1500" dirty="0">
              <a:solidFill>
                <a:schemeClr val="bg1"/>
              </a:solidFill>
            </a:endParaRPr>
          </a:p>
          <a:p>
            <a:endParaRPr lang="en-US" sz="1500" dirty="0">
              <a:solidFill>
                <a:schemeClr val="bg1"/>
              </a:solidFill>
            </a:endParaRPr>
          </a:p>
          <a:p>
            <a:endParaRPr lang="en-US" sz="1500" dirty="0">
              <a:solidFill>
                <a:schemeClr val="bg1"/>
              </a:solidFill>
            </a:endParaRPr>
          </a:p>
          <a:p>
            <a:pPr marL="0" indent="0">
              <a:buNone/>
            </a:pPr>
            <a:r>
              <a:rPr lang="en-US" sz="1500" dirty="0">
                <a:solidFill>
                  <a:schemeClr val="bg1"/>
                </a:solidFill>
              </a:rPr>
              <a:t>Complexity scales as: libraries × vendors × hardware generations</a:t>
            </a:r>
          </a:p>
          <a:p>
            <a:pPr marL="0" indent="0">
              <a:buNone/>
            </a:pPr>
            <a:endParaRPr lang="en-US" sz="1500" dirty="0">
              <a:solidFill>
                <a:schemeClr val="bg1"/>
              </a:solidFill>
            </a:endParaRPr>
          </a:p>
        </p:txBody>
      </p:sp>
      <p:pic>
        <p:nvPicPr>
          <p:cNvPr id="312" name="Picture 311">
            <a:extLst>
              <a:ext uri="{FF2B5EF4-FFF2-40B4-BE49-F238E27FC236}">
                <a16:creationId xmlns:a16="http://schemas.microsoft.com/office/drawing/2014/main" id="{F835FBB2-B1D4-84F3-636F-E0173F93D155}"/>
              </a:ext>
            </a:extLst>
          </p:cNvPr>
          <p:cNvPicPr>
            <a:picLocks noChangeAspect="1"/>
          </p:cNvPicPr>
          <p:nvPr/>
        </p:nvPicPr>
        <p:blipFill>
          <a:blip r:embed="rId8"/>
          <a:srcRect l="2632" t="7871" r="2284" b="54538"/>
          <a:stretch>
            <a:fillRect/>
          </a:stretch>
        </p:blipFill>
        <p:spPr>
          <a:xfrm>
            <a:off x="6108922" y="2292825"/>
            <a:ext cx="2304440" cy="1303619"/>
          </a:xfrm>
          <a:prstGeom prst="rect">
            <a:avLst/>
          </a:prstGeom>
        </p:spPr>
      </p:pic>
    </p:spTree>
    <p:extLst>
      <p:ext uri="{BB962C8B-B14F-4D97-AF65-F5344CB8AC3E}">
        <p14:creationId xmlns:p14="http://schemas.microsoft.com/office/powerpoint/2010/main" val="3974317150"/>
      </p:ext>
    </p:extLst>
  </p:cSld>
  <p:clrMapOvr>
    <a:masterClrMapping/>
  </p:clrMapOvr>
  <mc:AlternateContent xmlns:mc="http://schemas.openxmlformats.org/markup-compatibility/2006" xmlns:p14="http://schemas.microsoft.com/office/powerpoint/2010/main">
    <mc:Choice Requires="p14">
      <p:transition spd="slow" p14:dur="2000" advTm="117479"/>
    </mc:Choice>
    <mc:Fallback xmlns="">
      <p:transition spd="slow" advTm="11747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8069F-5D1C-40D1-C08B-317B17CF542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4B99ACC-46F7-0063-47F8-2BE25FF375E7}"/>
              </a:ext>
            </a:extLst>
          </p:cNvPr>
          <p:cNvSpPr/>
          <p:nvPr/>
        </p:nvSpPr>
        <p:spPr>
          <a:xfrm>
            <a:off x="5905962" y="665018"/>
            <a:ext cx="3304539" cy="4571948"/>
          </a:xfrm>
          <a:prstGeom prst="rect">
            <a:avLst/>
          </a:prstGeom>
          <a:solidFill>
            <a:srgbClr val="213A5F"/>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endParaRPr lang="en-GB" sz="1800" dirty="0">
              <a:solidFill>
                <a:schemeClr val="bg1"/>
              </a:solidFill>
            </a:endParaRPr>
          </a:p>
        </p:txBody>
      </p:sp>
      <p:grpSp>
        <p:nvGrpSpPr>
          <p:cNvPr id="223" name="Group 222">
            <a:extLst>
              <a:ext uri="{FF2B5EF4-FFF2-40B4-BE49-F238E27FC236}">
                <a16:creationId xmlns:a16="http://schemas.microsoft.com/office/drawing/2014/main" id="{A303FC10-EC24-24B4-BE49-8E9CF2E0F36F}"/>
              </a:ext>
            </a:extLst>
          </p:cNvPr>
          <p:cNvGrpSpPr/>
          <p:nvPr/>
        </p:nvGrpSpPr>
        <p:grpSpPr>
          <a:xfrm>
            <a:off x="6126986" y="1439757"/>
            <a:ext cx="2809631" cy="2901291"/>
            <a:chOff x="371763" y="2612675"/>
            <a:chExt cx="3746174" cy="3868388"/>
          </a:xfrm>
        </p:grpSpPr>
        <p:sp>
          <p:nvSpPr>
            <p:cNvPr id="224" name="Content Placeholder 2">
              <a:extLst>
                <a:ext uri="{FF2B5EF4-FFF2-40B4-BE49-F238E27FC236}">
                  <a16:creationId xmlns:a16="http://schemas.microsoft.com/office/drawing/2014/main" id="{428E0DA5-4DF1-DFD3-43A9-D29E1B7F97F9}"/>
                </a:ext>
              </a:extLst>
            </p:cNvPr>
            <p:cNvSpPr txBox="1">
              <a:spLocks/>
            </p:cNvSpPr>
            <p:nvPr/>
          </p:nvSpPr>
          <p:spPr>
            <a:xfrm>
              <a:off x="1795673" y="3144663"/>
              <a:ext cx="2322264" cy="3336400"/>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200" dirty="0">
                  <a:solidFill>
                    <a:schemeClr val="bg1"/>
                  </a:solidFill>
                </a:rPr>
                <a:t>Wide range of hardware </a:t>
              </a:r>
              <a:br>
                <a:rPr lang="en-US" sz="1200" dirty="0">
                  <a:solidFill>
                    <a:schemeClr val="bg1"/>
                  </a:solidFill>
                </a:rPr>
              </a:br>
              <a:endParaRPr lang="en-US" sz="1200" dirty="0">
                <a:solidFill>
                  <a:schemeClr val="bg1"/>
                </a:solidFill>
              </a:endParaRPr>
            </a:p>
            <a:p>
              <a:pPr marL="0" indent="0">
                <a:lnSpc>
                  <a:spcPct val="100000"/>
                </a:lnSpc>
                <a:buNone/>
              </a:pPr>
              <a:r>
                <a:rPr lang="en-US" sz="1200" dirty="0">
                  <a:solidFill>
                    <a:schemeClr val="bg1"/>
                  </a:solidFill>
                </a:rPr>
                <a:t>Novel data precision </a:t>
              </a:r>
              <a:br>
                <a:rPr lang="en-US" sz="1200" dirty="0">
                  <a:solidFill>
                    <a:schemeClr val="bg1"/>
                  </a:solidFill>
                </a:rPr>
              </a:br>
              <a:r>
                <a:rPr lang="en-US" sz="1200" dirty="0">
                  <a:solidFill>
                    <a:schemeClr val="bg1"/>
                  </a:solidFill>
                </a:rPr>
                <a:t>or mixed precision </a:t>
              </a:r>
              <a:br>
                <a:rPr lang="en-US" sz="1200" dirty="0">
                  <a:solidFill>
                    <a:schemeClr val="bg1"/>
                  </a:solidFill>
                </a:rPr>
              </a:br>
              <a:endParaRPr lang="en-US" sz="1200" dirty="0">
                <a:solidFill>
                  <a:schemeClr val="bg1"/>
                </a:solidFill>
              </a:endParaRPr>
            </a:p>
            <a:p>
              <a:pPr marL="0" indent="0">
                <a:lnSpc>
                  <a:spcPct val="100000"/>
                </a:lnSpc>
                <a:buNone/>
              </a:pPr>
              <a:r>
                <a:rPr lang="en-US" sz="1200" dirty="0">
                  <a:solidFill>
                    <a:schemeClr val="bg1"/>
                  </a:solidFill>
                </a:rPr>
                <a:t>HPC code development </a:t>
              </a:r>
              <a:br>
                <a:rPr lang="en-US" sz="1200" dirty="0">
                  <a:solidFill>
                    <a:schemeClr val="bg1"/>
                  </a:solidFill>
                </a:rPr>
              </a:br>
              <a:r>
                <a:rPr lang="en-US" sz="1200" dirty="0">
                  <a:solidFill>
                    <a:schemeClr val="bg1"/>
                  </a:solidFill>
                </a:rPr>
                <a:t>scalability</a:t>
              </a:r>
            </a:p>
          </p:txBody>
        </p:sp>
        <p:grpSp>
          <p:nvGrpSpPr>
            <p:cNvPr id="225" name="Group 224">
              <a:extLst>
                <a:ext uri="{FF2B5EF4-FFF2-40B4-BE49-F238E27FC236}">
                  <a16:creationId xmlns:a16="http://schemas.microsoft.com/office/drawing/2014/main" id="{2F82DB36-3BA1-0FF9-4768-F2CA4E9BC2DC}"/>
                </a:ext>
              </a:extLst>
            </p:cNvPr>
            <p:cNvGrpSpPr/>
            <p:nvPr/>
          </p:nvGrpSpPr>
          <p:grpSpPr>
            <a:xfrm>
              <a:off x="371763" y="3097923"/>
              <a:ext cx="1414439" cy="2614896"/>
              <a:chOff x="371763" y="3097923"/>
              <a:chExt cx="1661949" cy="3383140"/>
            </a:xfrm>
          </p:grpSpPr>
          <p:grpSp>
            <p:nvGrpSpPr>
              <p:cNvPr id="231" name="Group 230">
                <a:extLst>
                  <a:ext uri="{FF2B5EF4-FFF2-40B4-BE49-F238E27FC236}">
                    <a16:creationId xmlns:a16="http://schemas.microsoft.com/office/drawing/2014/main" id="{C6EC78D9-A4F1-5835-1703-2C6D92DCB7CD}"/>
                  </a:ext>
                </a:extLst>
              </p:cNvPr>
              <p:cNvGrpSpPr/>
              <p:nvPr/>
            </p:nvGrpSpPr>
            <p:grpSpPr>
              <a:xfrm>
                <a:off x="463210" y="3097923"/>
                <a:ext cx="1435035" cy="808769"/>
                <a:chOff x="7046973" y="3068512"/>
                <a:chExt cx="1933315" cy="1046682"/>
              </a:xfrm>
            </p:grpSpPr>
            <p:pic>
              <p:nvPicPr>
                <p:cNvPr id="413" name="Picture 2" descr="AMD Radeon™ RX Graphics Cards | AMD">
                  <a:extLst>
                    <a:ext uri="{FF2B5EF4-FFF2-40B4-BE49-F238E27FC236}">
                      <a16:creationId xmlns:a16="http://schemas.microsoft.com/office/drawing/2014/main" id="{43A6A8ED-A0D9-9E5C-8519-C1AA5C54E7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6973" y="3068512"/>
                  <a:ext cx="1155014" cy="534470"/>
                </a:xfrm>
                <a:prstGeom prst="rect">
                  <a:avLst/>
                </a:prstGeom>
                <a:noFill/>
                <a:extLst>
                  <a:ext uri="{909E8E84-426E-40DD-AFC4-6F175D3DCCD1}">
                    <a14:hiddenFill xmlns:a14="http://schemas.microsoft.com/office/drawing/2010/main">
                      <a:solidFill>
                        <a:srgbClr val="FFFFFF"/>
                      </a:solidFill>
                    </a14:hiddenFill>
                  </a:ext>
                </a:extLst>
              </p:spPr>
            </p:pic>
            <p:pic>
              <p:nvPicPr>
                <p:cNvPr id="414" name="Picture 6" descr="Buy NVIDIA Graphics Cards | NVIDIA Store">
                  <a:extLst>
                    <a:ext uri="{FF2B5EF4-FFF2-40B4-BE49-F238E27FC236}">
                      <a16:creationId xmlns:a16="http://schemas.microsoft.com/office/drawing/2014/main" id="{8E3C1E7A-650F-1BF6-93C2-2E524474EA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62723" y="3549320"/>
                  <a:ext cx="1327073" cy="565874"/>
                </a:xfrm>
                <a:prstGeom prst="rect">
                  <a:avLst/>
                </a:prstGeom>
                <a:noFill/>
                <a:extLst>
                  <a:ext uri="{909E8E84-426E-40DD-AFC4-6F175D3DCCD1}">
                    <a14:hiddenFill xmlns:a14="http://schemas.microsoft.com/office/drawing/2010/main">
                      <a:solidFill>
                        <a:srgbClr val="FFFFFF"/>
                      </a:solidFill>
                    </a14:hiddenFill>
                  </a:ext>
                </a:extLst>
              </p:spPr>
            </p:pic>
            <p:pic>
              <p:nvPicPr>
                <p:cNvPr id="415" name="Picture 10" descr="Intel® Arc™ Pro A-Series Graphics for Workstations">
                  <a:extLst>
                    <a:ext uri="{FF2B5EF4-FFF2-40B4-BE49-F238E27FC236}">
                      <a16:creationId xmlns:a16="http://schemas.microsoft.com/office/drawing/2014/main" id="{0FBF13DF-63EB-AB7C-A2DF-A9C9644911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08846" y="3147936"/>
                  <a:ext cx="971442" cy="449366"/>
                </a:xfrm>
                <a:prstGeom prst="rect">
                  <a:avLst/>
                </a:prstGeom>
                <a:noFill/>
                <a:extLst>
                  <a:ext uri="{909E8E84-426E-40DD-AFC4-6F175D3DCCD1}">
                    <a14:hiddenFill xmlns:a14="http://schemas.microsoft.com/office/drawing/2010/main">
                      <a:solidFill>
                        <a:srgbClr val="FFFFFF"/>
                      </a:solidFill>
                    </a14:hiddenFill>
                  </a:ext>
                </a:extLst>
              </p:spPr>
            </p:pic>
            <p:pic>
              <p:nvPicPr>
                <p:cNvPr id="416" name="Picture 3" descr="Apple Silicon Chip – Cheshire Macs">
                  <a:extLst>
                    <a:ext uri="{FF2B5EF4-FFF2-40B4-BE49-F238E27FC236}">
                      <a16:creationId xmlns:a16="http://schemas.microsoft.com/office/drawing/2014/main" id="{539E984E-8EC2-464B-F985-F2D16271CBF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13689" y="3597302"/>
                  <a:ext cx="501631" cy="411520"/>
                </a:xfrm>
                <a:prstGeom prst="rect">
                  <a:avLst/>
                </a:prstGeom>
                <a:extLst>
                  <a:ext uri="{909E8E84-426E-40DD-AFC4-6F175D3DCCD1}">
                    <a14:hiddenFill xmlns:a14="http://schemas.microsoft.com/office/drawing/2010/main">
                      <a:solidFill>
                        <a:srgbClr val="FFFFFF"/>
                      </a:solidFill>
                    </a14:hiddenFill>
                  </a:ext>
                </a:extLst>
              </p:spPr>
            </p:pic>
          </p:grpSp>
          <p:grpSp>
            <p:nvGrpSpPr>
              <p:cNvPr id="232" name="Group 231">
                <a:extLst>
                  <a:ext uri="{FF2B5EF4-FFF2-40B4-BE49-F238E27FC236}">
                    <a16:creationId xmlns:a16="http://schemas.microsoft.com/office/drawing/2014/main" id="{95C4CE81-41B8-8426-7C84-0D366BE1B4BE}"/>
                  </a:ext>
                </a:extLst>
              </p:cNvPr>
              <p:cNvGrpSpPr/>
              <p:nvPr/>
            </p:nvGrpSpPr>
            <p:grpSpPr>
              <a:xfrm>
                <a:off x="371763" y="4203705"/>
                <a:ext cx="1661949" cy="1368200"/>
                <a:chOff x="4536029" y="3860019"/>
                <a:chExt cx="3317603" cy="3698424"/>
              </a:xfrm>
            </p:grpSpPr>
            <p:cxnSp>
              <p:nvCxnSpPr>
                <p:cNvPr id="234" name="Straight Connector 233">
                  <a:extLst>
                    <a:ext uri="{FF2B5EF4-FFF2-40B4-BE49-F238E27FC236}">
                      <a16:creationId xmlns:a16="http://schemas.microsoft.com/office/drawing/2014/main" id="{453DB050-A359-6A3F-6190-991C5EA92209}"/>
                    </a:ext>
                  </a:extLst>
                </p:cNvPr>
                <p:cNvCxnSpPr>
                  <a:cxnSpLocks/>
                </p:cNvCxnSpPr>
                <p:nvPr/>
              </p:nvCxnSpPr>
              <p:spPr>
                <a:xfrm>
                  <a:off x="4949350" y="4368472"/>
                  <a:ext cx="2111163" cy="0"/>
                </a:xfrm>
                <a:prstGeom prst="line">
                  <a:avLst/>
                </a:prstGeom>
                <a:ln w="9525">
                  <a:solidFill>
                    <a:srgbClr val="071420"/>
                  </a:solidFill>
                </a:ln>
              </p:spPr>
              <p:style>
                <a:lnRef idx="2">
                  <a:schemeClr val="accent1"/>
                </a:lnRef>
                <a:fillRef idx="0">
                  <a:schemeClr val="accent1"/>
                </a:fillRef>
                <a:effectRef idx="1">
                  <a:schemeClr val="accent1"/>
                </a:effectRef>
                <a:fontRef idx="minor">
                  <a:schemeClr val="tx1"/>
                </a:fontRef>
              </p:style>
            </p:cxnSp>
            <p:grpSp>
              <p:nvGrpSpPr>
                <p:cNvPr id="235" name="Group 234">
                  <a:extLst>
                    <a:ext uri="{FF2B5EF4-FFF2-40B4-BE49-F238E27FC236}">
                      <a16:creationId xmlns:a16="http://schemas.microsoft.com/office/drawing/2014/main" id="{9BAFCAF2-DA76-854F-91FF-CE62762B2A23}"/>
                    </a:ext>
                  </a:extLst>
                </p:cNvPr>
                <p:cNvGrpSpPr/>
                <p:nvPr/>
              </p:nvGrpSpPr>
              <p:grpSpPr>
                <a:xfrm>
                  <a:off x="5304786" y="4061498"/>
                  <a:ext cx="746300" cy="1901753"/>
                  <a:chOff x="1811867" y="2340741"/>
                  <a:chExt cx="1031082" cy="2155059"/>
                </a:xfrm>
              </p:grpSpPr>
              <p:cxnSp>
                <p:nvCxnSpPr>
                  <p:cNvPr id="410" name="Straight Connector 409">
                    <a:extLst>
                      <a:ext uri="{FF2B5EF4-FFF2-40B4-BE49-F238E27FC236}">
                        <a16:creationId xmlns:a16="http://schemas.microsoft.com/office/drawing/2014/main" id="{2747009B-434A-9110-433A-309EE50DC606}"/>
                      </a:ext>
                    </a:extLst>
                  </p:cNvPr>
                  <p:cNvCxnSpPr/>
                  <p:nvPr/>
                </p:nvCxnSpPr>
                <p:spPr>
                  <a:xfrm>
                    <a:off x="1811867" y="2345267"/>
                    <a:ext cx="0" cy="2133600"/>
                  </a:xfrm>
                  <a:prstGeom prst="line">
                    <a:avLst/>
                  </a:prstGeom>
                  <a:ln w="9525">
                    <a:solidFill>
                      <a:srgbClr val="071420"/>
                    </a:solidFill>
                  </a:ln>
                </p:spPr>
                <p:style>
                  <a:lnRef idx="2">
                    <a:schemeClr val="accent1"/>
                  </a:lnRef>
                  <a:fillRef idx="0">
                    <a:schemeClr val="accent1"/>
                  </a:fillRef>
                  <a:effectRef idx="1">
                    <a:schemeClr val="accent1"/>
                  </a:effectRef>
                  <a:fontRef idx="minor">
                    <a:schemeClr val="tx1"/>
                  </a:fontRef>
                </p:style>
              </p:cxnSp>
              <p:cxnSp>
                <p:nvCxnSpPr>
                  <p:cNvPr id="411" name="Straight Connector 410">
                    <a:extLst>
                      <a:ext uri="{FF2B5EF4-FFF2-40B4-BE49-F238E27FC236}">
                        <a16:creationId xmlns:a16="http://schemas.microsoft.com/office/drawing/2014/main" id="{FB18D042-A563-BC75-BF92-F14212C36B76}"/>
                      </a:ext>
                    </a:extLst>
                  </p:cNvPr>
                  <p:cNvCxnSpPr/>
                  <p:nvPr/>
                </p:nvCxnSpPr>
                <p:spPr>
                  <a:xfrm>
                    <a:off x="2082801" y="2340741"/>
                    <a:ext cx="0" cy="2133600"/>
                  </a:xfrm>
                  <a:prstGeom prst="line">
                    <a:avLst/>
                  </a:prstGeom>
                  <a:ln w="9525">
                    <a:solidFill>
                      <a:srgbClr val="071420"/>
                    </a:solidFill>
                  </a:ln>
                </p:spPr>
                <p:style>
                  <a:lnRef idx="2">
                    <a:schemeClr val="accent1"/>
                  </a:lnRef>
                  <a:fillRef idx="0">
                    <a:schemeClr val="accent1"/>
                  </a:fillRef>
                  <a:effectRef idx="1">
                    <a:schemeClr val="accent1"/>
                  </a:effectRef>
                  <a:fontRef idx="minor">
                    <a:schemeClr val="tx1"/>
                  </a:fontRef>
                </p:style>
              </p:cxnSp>
              <p:cxnSp>
                <p:nvCxnSpPr>
                  <p:cNvPr id="412" name="Straight Connector 411">
                    <a:extLst>
                      <a:ext uri="{FF2B5EF4-FFF2-40B4-BE49-F238E27FC236}">
                        <a16:creationId xmlns:a16="http://schemas.microsoft.com/office/drawing/2014/main" id="{3487292C-B05E-C2DF-A1A1-2AB2E44C365F}"/>
                      </a:ext>
                    </a:extLst>
                  </p:cNvPr>
                  <p:cNvCxnSpPr/>
                  <p:nvPr/>
                </p:nvCxnSpPr>
                <p:spPr>
                  <a:xfrm>
                    <a:off x="2842949" y="2362200"/>
                    <a:ext cx="0" cy="2133600"/>
                  </a:xfrm>
                  <a:prstGeom prst="line">
                    <a:avLst/>
                  </a:prstGeom>
                  <a:ln>
                    <a:solidFill>
                      <a:srgbClr val="071420"/>
                    </a:solidFill>
                  </a:ln>
                </p:spPr>
                <p:style>
                  <a:lnRef idx="2">
                    <a:schemeClr val="accent1"/>
                  </a:lnRef>
                  <a:fillRef idx="0">
                    <a:schemeClr val="accent1"/>
                  </a:fillRef>
                  <a:effectRef idx="1">
                    <a:schemeClr val="accent1"/>
                  </a:effectRef>
                  <a:fontRef idx="minor">
                    <a:schemeClr val="tx1"/>
                  </a:fontRef>
                </p:style>
              </p:cxnSp>
            </p:grpSp>
            <p:sp>
              <p:nvSpPr>
                <p:cNvPr id="236" name="TextBox 235">
                  <a:extLst>
                    <a:ext uri="{FF2B5EF4-FFF2-40B4-BE49-F238E27FC236}">
                      <a16:creationId xmlns:a16="http://schemas.microsoft.com/office/drawing/2014/main" id="{F67C94CB-C592-9E87-6BB3-17BB18B7DE4D}"/>
                    </a:ext>
                  </a:extLst>
                </p:cNvPr>
                <p:cNvSpPr txBox="1"/>
                <p:nvPr/>
              </p:nvSpPr>
              <p:spPr>
                <a:xfrm>
                  <a:off x="5040524" y="3943213"/>
                  <a:ext cx="702851" cy="807288"/>
                </a:xfrm>
                <a:prstGeom prst="rect">
                  <a:avLst/>
                </a:prstGeom>
                <a:noFill/>
                <a:ln w="9525">
                  <a:noFill/>
                </a:ln>
              </p:spPr>
              <p:txBody>
                <a:bodyPr wrap="none" rtlCol="0">
                  <a:spAutoFit/>
                </a:bodyPr>
                <a:lstStyle/>
                <a:p>
                  <a:pPr algn="ctr"/>
                  <a:r>
                    <a:rPr lang="fr-BE" sz="525" b="1" u="sng" dirty="0"/>
                    <a:t>+</a:t>
                  </a:r>
                  <a:endParaRPr lang="en-BE" sz="525" b="1" u="sng" dirty="0"/>
                </a:p>
              </p:txBody>
            </p:sp>
            <p:sp>
              <p:nvSpPr>
                <p:cNvPr id="237" name="TextBox 236">
                  <a:extLst>
                    <a:ext uri="{FF2B5EF4-FFF2-40B4-BE49-F238E27FC236}">
                      <a16:creationId xmlns:a16="http://schemas.microsoft.com/office/drawing/2014/main" id="{A4B6F4C0-8713-A490-DCF3-D78299635D5F}"/>
                    </a:ext>
                  </a:extLst>
                </p:cNvPr>
                <p:cNvSpPr txBox="1"/>
                <p:nvPr/>
              </p:nvSpPr>
              <p:spPr>
                <a:xfrm>
                  <a:off x="5235840" y="3891639"/>
                  <a:ext cx="1013668" cy="914930"/>
                </a:xfrm>
                <a:prstGeom prst="rect">
                  <a:avLst/>
                </a:prstGeom>
                <a:noFill/>
              </p:spPr>
              <p:txBody>
                <a:bodyPr wrap="none" rtlCol="0">
                  <a:spAutoFit/>
                </a:bodyPr>
                <a:lstStyle/>
                <a:p>
                  <a:pPr algn="ctr"/>
                  <a:r>
                    <a:rPr lang="fr-BE" sz="675" dirty="0" err="1"/>
                    <a:t>exp</a:t>
                  </a:r>
                  <a:endParaRPr lang="en-BE" sz="675" dirty="0"/>
                </a:p>
              </p:txBody>
            </p:sp>
            <p:sp>
              <p:nvSpPr>
                <p:cNvPr id="238" name="TextBox 237">
                  <a:extLst>
                    <a:ext uri="{FF2B5EF4-FFF2-40B4-BE49-F238E27FC236}">
                      <a16:creationId xmlns:a16="http://schemas.microsoft.com/office/drawing/2014/main" id="{DBD00239-BDE9-D148-A83E-476D1DC5F4A4}"/>
                    </a:ext>
                  </a:extLst>
                </p:cNvPr>
                <p:cNvSpPr txBox="1"/>
                <p:nvPr/>
              </p:nvSpPr>
              <p:spPr>
                <a:xfrm>
                  <a:off x="5763399" y="3860019"/>
                  <a:ext cx="1660367" cy="914930"/>
                </a:xfrm>
                <a:prstGeom prst="rect">
                  <a:avLst/>
                </a:prstGeom>
                <a:noFill/>
              </p:spPr>
              <p:txBody>
                <a:bodyPr wrap="none" rtlCol="0">
                  <a:spAutoFit/>
                </a:bodyPr>
                <a:lstStyle/>
                <a:p>
                  <a:pPr algn="ctr"/>
                  <a:r>
                    <a:rPr lang="fr-BE" sz="675" dirty="0" err="1"/>
                    <a:t>mantissa</a:t>
                  </a:r>
                  <a:endParaRPr lang="en-BE" sz="675" dirty="0"/>
                </a:p>
              </p:txBody>
            </p:sp>
            <p:sp>
              <p:nvSpPr>
                <p:cNvPr id="239" name="TextBox 238">
                  <a:extLst>
                    <a:ext uri="{FF2B5EF4-FFF2-40B4-BE49-F238E27FC236}">
                      <a16:creationId xmlns:a16="http://schemas.microsoft.com/office/drawing/2014/main" id="{BE085389-0674-FE8A-FEDF-F4B413101BBB}"/>
                    </a:ext>
                  </a:extLst>
                </p:cNvPr>
                <p:cNvSpPr txBox="1"/>
                <p:nvPr/>
              </p:nvSpPr>
              <p:spPr>
                <a:xfrm>
                  <a:off x="4538350" y="5620950"/>
                  <a:ext cx="761314" cy="1937493"/>
                </a:xfrm>
                <a:prstGeom prst="rect">
                  <a:avLst/>
                </a:prstGeom>
                <a:noFill/>
              </p:spPr>
              <p:txBody>
                <a:bodyPr wrap="square" rtlCol="0">
                  <a:spAutoFit/>
                </a:bodyPr>
                <a:lstStyle/>
                <a:p>
                  <a:pPr algn="ctr">
                    <a:spcAft>
                      <a:spcPts val="450"/>
                    </a:spcAft>
                  </a:pPr>
                  <a:r>
                    <a:rPr lang="fr-BE" sz="525" dirty="0"/>
                    <a:t>FP16</a:t>
                  </a:r>
                </a:p>
              </p:txBody>
            </p:sp>
            <p:grpSp>
              <p:nvGrpSpPr>
                <p:cNvPr id="240" name="Group 239">
                  <a:extLst>
                    <a:ext uri="{FF2B5EF4-FFF2-40B4-BE49-F238E27FC236}">
                      <a16:creationId xmlns:a16="http://schemas.microsoft.com/office/drawing/2014/main" id="{21C7D879-A6E4-39EA-7D7D-0FFE56DDA8C9}"/>
                    </a:ext>
                  </a:extLst>
                </p:cNvPr>
                <p:cNvGrpSpPr/>
                <p:nvPr/>
              </p:nvGrpSpPr>
              <p:grpSpPr>
                <a:xfrm>
                  <a:off x="5875455" y="5697719"/>
                  <a:ext cx="170505" cy="159520"/>
                  <a:chOff x="2416231" y="3954063"/>
                  <a:chExt cx="235568" cy="100779"/>
                </a:xfrm>
              </p:grpSpPr>
              <p:sp>
                <p:nvSpPr>
                  <p:cNvPr id="405" name="Rectangle 404">
                    <a:extLst>
                      <a:ext uri="{FF2B5EF4-FFF2-40B4-BE49-F238E27FC236}">
                        <a16:creationId xmlns:a16="http://schemas.microsoft.com/office/drawing/2014/main" id="{29990F11-7389-D8EC-852E-4B23287EDD90}"/>
                      </a:ext>
                    </a:extLst>
                  </p:cNvPr>
                  <p:cNvSpPr/>
                  <p:nvPr/>
                </p:nvSpPr>
                <p:spPr>
                  <a:xfrm>
                    <a:off x="2416231" y="3954063"/>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406" name="Rectangle 405">
                    <a:extLst>
                      <a:ext uri="{FF2B5EF4-FFF2-40B4-BE49-F238E27FC236}">
                        <a16:creationId xmlns:a16="http://schemas.microsoft.com/office/drawing/2014/main" id="{1A70B158-054D-EEC8-ECC7-DC65A68B70F0}"/>
                      </a:ext>
                    </a:extLst>
                  </p:cNvPr>
                  <p:cNvSpPr/>
                  <p:nvPr/>
                </p:nvSpPr>
                <p:spPr>
                  <a:xfrm>
                    <a:off x="2463693" y="3954063"/>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407" name="Rectangle 406">
                    <a:extLst>
                      <a:ext uri="{FF2B5EF4-FFF2-40B4-BE49-F238E27FC236}">
                        <a16:creationId xmlns:a16="http://schemas.microsoft.com/office/drawing/2014/main" id="{E604E28D-F466-87D3-9CBD-20BC51DC0044}"/>
                      </a:ext>
                    </a:extLst>
                  </p:cNvPr>
                  <p:cNvSpPr/>
                  <p:nvPr/>
                </p:nvSpPr>
                <p:spPr>
                  <a:xfrm>
                    <a:off x="2558617" y="3954063"/>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408" name="Rectangle 407">
                    <a:extLst>
                      <a:ext uri="{FF2B5EF4-FFF2-40B4-BE49-F238E27FC236}">
                        <a16:creationId xmlns:a16="http://schemas.microsoft.com/office/drawing/2014/main" id="{71D69652-5A22-6A5C-9BA8-EBF8A2513DD3}"/>
                      </a:ext>
                    </a:extLst>
                  </p:cNvPr>
                  <p:cNvSpPr/>
                  <p:nvPr/>
                </p:nvSpPr>
                <p:spPr>
                  <a:xfrm>
                    <a:off x="2606080" y="3954063"/>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409" name="Rectangle 408">
                    <a:extLst>
                      <a:ext uri="{FF2B5EF4-FFF2-40B4-BE49-F238E27FC236}">
                        <a16:creationId xmlns:a16="http://schemas.microsoft.com/office/drawing/2014/main" id="{BAAB3F7F-936C-D894-F398-D9C15E251595}"/>
                      </a:ext>
                    </a:extLst>
                  </p:cNvPr>
                  <p:cNvSpPr/>
                  <p:nvPr/>
                </p:nvSpPr>
                <p:spPr>
                  <a:xfrm>
                    <a:off x="2511155" y="3954063"/>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sp>
              <p:nvSpPr>
                <p:cNvPr id="241" name="Rectangle 240">
                  <a:extLst>
                    <a:ext uri="{FF2B5EF4-FFF2-40B4-BE49-F238E27FC236}">
                      <a16:creationId xmlns:a16="http://schemas.microsoft.com/office/drawing/2014/main" id="{3FD26536-24B7-6FA9-3B0B-D9D4FD908073}"/>
                    </a:ext>
                  </a:extLst>
                </p:cNvPr>
                <p:cNvSpPr/>
                <p:nvPr/>
              </p:nvSpPr>
              <p:spPr>
                <a:xfrm>
                  <a:off x="5456518" y="5697719"/>
                  <a:ext cx="33092" cy="159520"/>
                </a:xfrm>
                <a:prstGeom prst="rect">
                  <a:avLst/>
                </a:prstGeom>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nvGrpSpPr>
                <p:cNvPr id="242" name="Group 241">
                  <a:extLst>
                    <a:ext uri="{FF2B5EF4-FFF2-40B4-BE49-F238E27FC236}">
                      <a16:creationId xmlns:a16="http://schemas.microsoft.com/office/drawing/2014/main" id="{31B32F83-1B73-3DC5-0FC9-8D25DCDA9E53}"/>
                    </a:ext>
                  </a:extLst>
                </p:cNvPr>
                <p:cNvGrpSpPr/>
                <p:nvPr/>
              </p:nvGrpSpPr>
              <p:grpSpPr>
                <a:xfrm>
                  <a:off x="6055609" y="5697719"/>
                  <a:ext cx="341800" cy="159520"/>
                  <a:chOff x="2868758" y="3984964"/>
                  <a:chExt cx="472229" cy="100779"/>
                </a:xfrm>
              </p:grpSpPr>
              <p:sp>
                <p:nvSpPr>
                  <p:cNvPr id="395" name="Rectangle 394">
                    <a:extLst>
                      <a:ext uri="{FF2B5EF4-FFF2-40B4-BE49-F238E27FC236}">
                        <a16:creationId xmlns:a16="http://schemas.microsoft.com/office/drawing/2014/main" id="{0C34D363-2840-1B58-EF2B-12DB2D987EDC}"/>
                      </a:ext>
                    </a:extLst>
                  </p:cNvPr>
                  <p:cNvSpPr/>
                  <p:nvPr/>
                </p:nvSpPr>
                <p:spPr>
                  <a:xfrm>
                    <a:off x="320048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96" name="Rectangle 395">
                    <a:extLst>
                      <a:ext uri="{FF2B5EF4-FFF2-40B4-BE49-F238E27FC236}">
                        <a16:creationId xmlns:a16="http://schemas.microsoft.com/office/drawing/2014/main" id="{3F5732F6-E709-95A1-986F-5E050EBCEEB1}"/>
                      </a:ext>
                    </a:extLst>
                  </p:cNvPr>
                  <p:cNvSpPr/>
                  <p:nvPr/>
                </p:nvSpPr>
                <p:spPr>
                  <a:xfrm>
                    <a:off x="329526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97" name="Rectangle 396">
                    <a:extLst>
                      <a:ext uri="{FF2B5EF4-FFF2-40B4-BE49-F238E27FC236}">
                        <a16:creationId xmlns:a16="http://schemas.microsoft.com/office/drawing/2014/main" id="{AEABD490-0CF3-6047-103D-D079B1F888FD}"/>
                      </a:ext>
                    </a:extLst>
                  </p:cNvPr>
                  <p:cNvSpPr/>
                  <p:nvPr/>
                </p:nvSpPr>
                <p:spPr>
                  <a:xfrm>
                    <a:off x="324787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98" name="Rectangle 397">
                    <a:extLst>
                      <a:ext uri="{FF2B5EF4-FFF2-40B4-BE49-F238E27FC236}">
                        <a16:creationId xmlns:a16="http://schemas.microsoft.com/office/drawing/2014/main" id="{1BC418BA-63C1-2451-B4F0-E0F5CD568176}"/>
                      </a:ext>
                    </a:extLst>
                  </p:cNvPr>
                  <p:cNvSpPr/>
                  <p:nvPr/>
                </p:nvSpPr>
                <p:spPr>
                  <a:xfrm>
                    <a:off x="301092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99" name="Rectangle 398">
                    <a:extLst>
                      <a:ext uri="{FF2B5EF4-FFF2-40B4-BE49-F238E27FC236}">
                        <a16:creationId xmlns:a16="http://schemas.microsoft.com/office/drawing/2014/main" id="{7819CCEC-932A-76AB-0F59-5CF18EDA8D07}"/>
                      </a:ext>
                    </a:extLst>
                  </p:cNvPr>
                  <p:cNvSpPr/>
                  <p:nvPr/>
                </p:nvSpPr>
                <p:spPr>
                  <a:xfrm>
                    <a:off x="310570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400" name="Rectangle 399">
                    <a:extLst>
                      <a:ext uri="{FF2B5EF4-FFF2-40B4-BE49-F238E27FC236}">
                        <a16:creationId xmlns:a16="http://schemas.microsoft.com/office/drawing/2014/main" id="{3ADCACED-A582-BD42-EB7F-A019934DC07D}"/>
                      </a:ext>
                    </a:extLst>
                  </p:cNvPr>
                  <p:cNvSpPr/>
                  <p:nvPr/>
                </p:nvSpPr>
                <p:spPr>
                  <a:xfrm>
                    <a:off x="315309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401" name="Rectangle 400">
                    <a:extLst>
                      <a:ext uri="{FF2B5EF4-FFF2-40B4-BE49-F238E27FC236}">
                        <a16:creationId xmlns:a16="http://schemas.microsoft.com/office/drawing/2014/main" id="{C6FB2381-9E57-BBEB-49AF-09B0B582B471}"/>
                      </a:ext>
                    </a:extLst>
                  </p:cNvPr>
                  <p:cNvSpPr/>
                  <p:nvPr/>
                </p:nvSpPr>
                <p:spPr>
                  <a:xfrm>
                    <a:off x="305831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402" name="Rectangle 401">
                    <a:extLst>
                      <a:ext uri="{FF2B5EF4-FFF2-40B4-BE49-F238E27FC236}">
                        <a16:creationId xmlns:a16="http://schemas.microsoft.com/office/drawing/2014/main" id="{F12A8245-F12A-0729-2306-8FFB4DDEADA3}"/>
                      </a:ext>
                    </a:extLst>
                  </p:cNvPr>
                  <p:cNvSpPr/>
                  <p:nvPr/>
                </p:nvSpPr>
                <p:spPr>
                  <a:xfrm>
                    <a:off x="286875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403" name="Rectangle 402">
                    <a:extLst>
                      <a:ext uri="{FF2B5EF4-FFF2-40B4-BE49-F238E27FC236}">
                        <a16:creationId xmlns:a16="http://schemas.microsoft.com/office/drawing/2014/main" id="{E93B9664-1851-06C4-65B5-198B84CA6E81}"/>
                      </a:ext>
                    </a:extLst>
                  </p:cNvPr>
                  <p:cNvSpPr/>
                  <p:nvPr/>
                </p:nvSpPr>
                <p:spPr>
                  <a:xfrm>
                    <a:off x="296353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404" name="Rectangle 403">
                    <a:extLst>
                      <a:ext uri="{FF2B5EF4-FFF2-40B4-BE49-F238E27FC236}">
                        <a16:creationId xmlns:a16="http://schemas.microsoft.com/office/drawing/2014/main" id="{EA9EFBCD-0ADC-BE4E-E31F-4325D8AD5229}"/>
                      </a:ext>
                    </a:extLst>
                  </p:cNvPr>
                  <p:cNvSpPr/>
                  <p:nvPr/>
                </p:nvSpPr>
                <p:spPr>
                  <a:xfrm>
                    <a:off x="291614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sp>
              <p:nvSpPr>
                <p:cNvPr id="243" name="TextBox 242">
                  <a:extLst>
                    <a:ext uri="{FF2B5EF4-FFF2-40B4-BE49-F238E27FC236}">
                      <a16:creationId xmlns:a16="http://schemas.microsoft.com/office/drawing/2014/main" id="{A068A3F9-A090-C21C-9E0B-9B14C26FC122}"/>
                    </a:ext>
                  </a:extLst>
                </p:cNvPr>
                <p:cNvSpPr txBox="1"/>
                <p:nvPr/>
              </p:nvSpPr>
              <p:spPr>
                <a:xfrm>
                  <a:off x="4536029" y="5318471"/>
                  <a:ext cx="768426" cy="1937493"/>
                </a:xfrm>
                <a:prstGeom prst="rect">
                  <a:avLst/>
                </a:prstGeom>
                <a:noFill/>
              </p:spPr>
              <p:txBody>
                <a:bodyPr wrap="square" rtlCol="0">
                  <a:spAutoFit/>
                </a:bodyPr>
                <a:lstStyle/>
                <a:p>
                  <a:pPr algn="ctr">
                    <a:spcAft>
                      <a:spcPts val="450"/>
                    </a:spcAft>
                  </a:pPr>
                  <a:r>
                    <a:rPr lang="fr-BE" sz="525" dirty="0"/>
                    <a:t>BF16</a:t>
                  </a:r>
                </a:p>
              </p:txBody>
            </p:sp>
            <p:sp>
              <p:nvSpPr>
                <p:cNvPr id="244" name="Rectangle 243">
                  <a:extLst>
                    <a:ext uri="{FF2B5EF4-FFF2-40B4-BE49-F238E27FC236}">
                      <a16:creationId xmlns:a16="http://schemas.microsoft.com/office/drawing/2014/main" id="{D34DDE49-F59C-3B77-29EC-954D8FCFE0B3}"/>
                    </a:ext>
                  </a:extLst>
                </p:cNvPr>
                <p:cNvSpPr/>
                <p:nvPr/>
              </p:nvSpPr>
              <p:spPr>
                <a:xfrm>
                  <a:off x="5456518" y="5395247"/>
                  <a:ext cx="33092" cy="159520"/>
                </a:xfrm>
                <a:prstGeom prst="rect">
                  <a:avLst/>
                </a:prstGeom>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nvGrpSpPr>
                <p:cNvPr id="245" name="Group 244">
                  <a:extLst>
                    <a:ext uri="{FF2B5EF4-FFF2-40B4-BE49-F238E27FC236}">
                      <a16:creationId xmlns:a16="http://schemas.microsoft.com/office/drawing/2014/main" id="{4BF68907-B8BE-E544-DE38-E5A131290E20}"/>
                    </a:ext>
                  </a:extLst>
                </p:cNvPr>
                <p:cNvGrpSpPr/>
                <p:nvPr/>
              </p:nvGrpSpPr>
              <p:grpSpPr>
                <a:xfrm>
                  <a:off x="5770881" y="5395247"/>
                  <a:ext cx="275330" cy="159520"/>
                  <a:chOff x="2418127" y="3660200"/>
                  <a:chExt cx="380394" cy="100779"/>
                </a:xfrm>
              </p:grpSpPr>
              <p:sp>
                <p:nvSpPr>
                  <p:cNvPr id="387" name="Rectangle 386">
                    <a:extLst>
                      <a:ext uri="{FF2B5EF4-FFF2-40B4-BE49-F238E27FC236}">
                        <a16:creationId xmlns:a16="http://schemas.microsoft.com/office/drawing/2014/main" id="{79DC4ECB-5EAA-94A9-809F-35E68AA68436}"/>
                      </a:ext>
                    </a:extLst>
                  </p:cNvPr>
                  <p:cNvSpPr/>
                  <p:nvPr/>
                </p:nvSpPr>
                <p:spPr>
                  <a:xfrm>
                    <a:off x="2609371"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88" name="Rectangle 387">
                    <a:extLst>
                      <a:ext uri="{FF2B5EF4-FFF2-40B4-BE49-F238E27FC236}">
                        <a16:creationId xmlns:a16="http://schemas.microsoft.com/office/drawing/2014/main" id="{32159786-20DF-D9A0-8BC8-FADC319ED20E}"/>
                      </a:ext>
                    </a:extLst>
                  </p:cNvPr>
                  <p:cNvSpPr/>
                  <p:nvPr/>
                </p:nvSpPr>
                <p:spPr>
                  <a:xfrm>
                    <a:off x="2704993"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89" name="Rectangle 388">
                    <a:extLst>
                      <a:ext uri="{FF2B5EF4-FFF2-40B4-BE49-F238E27FC236}">
                        <a16:creationId xmlns:a16="http://schemas.microsoft.com/office/drawing/2014/main" id="{8E2994C1-7973-398A-0186-E80E35FF57C0}"/>
                      </a:ext>
                    </a:extLst>
                  </p:cNvPr>
                  <p:cNvSpPr/>
                  <p:nvPr/>
                </p:nvSpPr>
                <p:spPr>
                  <a:xfrm>
                    <a:off x="2752802"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90" name="Rectangle 389">
                    <a:extLst>
                      <a:ext uri="{FF2B5EF4-FFF2-40B4-BE49-F238E27FC236}">
                        <a16:creationId xmlns:a16="http://schemas.microsoft.com/office/drawing/2014/main" id="{F25A1066-1BC2-0263-1594-03C28F576344}"/>
                      </a:ext>
                    </a:extLst>
                  </p:cNvPr>
                  <p:cNvSpPr/>
                  <p:nvPr/>
                </p:nvSpPr>
                <p:spPr>
                  <a:xfrm>
                    <a:off x="2657182"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91" name="Rectangle 390">
                    <a:extLst>
                      <a:ext uri="{FF2B5EF4-FFF2-40B4-BE49-F238E27FC236}">
                        <a16:creationId xmlns:a16="http://schemas.microsoft.com/office/drawing/2014/main" id="{BEF86993-F120-4DDA-8514-FA3FBF2E0BCC}"/>
                      </a:ext>
                    </a:extLst>
                  </p:cNvPr>
                  <p:cNvSpPr/>
                  <p:nvPr/>
                </p:nvSpPr>
                <p:spPr>
                  <a:xfrm>
                    <a:off x="2418127"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92" name="Rectangle 391">
                    <a:extLst>
                      <a:ext uri="{FF2B5EF4-FFF2-40B4-BE49-F238E27FC236}">
                        <a16:creationId xmlns:a16="http://schemas.microsoft.com/office/drawing/2014/main" id="{48C4EBCD-7864-7F62-7FD5-9D72A07AD24A}"/>
                      </a:ext>
                    </a:extLst>
                  </p:cNvPr>
                  <p:cNvSpPr/>
                  <p:nvPr/>
                </p:nvSpPr>
                <p:spPr>
                  <a:xfrm>
                    <a:off x="2513749"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93" name="Rectangle 392">
                    <a:extLst>
                      <a:ext uri="{FF2B5EF4-FFF2-40B4-BE49-F238E27FC236}">
                        <a16:creationId xmlns:a16="http://schemas.microsoft.com/office/drawing/2014/main" id="{270A3074-10F0-9345-D6AF-B475B87425A4}"/>
                      </a:ext>
                    </a:extLst>
                  </p:cNvPr>
                  <p:cNvSpPr/>
                  <p:nvPr/>
                </p:nvSpPr>
                <p:spPr>
                  <a:xfrm>
                    <a:off x="2561560"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94" name="Rectangle 393">
                    <a:extLst>
                      <a:ext uri="{FF2B5EF4-FFF2-40B4-BE49-F238E27FC236}">
                        <a16:creationId xmlns:a16="http://schemas.microsoft.com/office/drawing/2014/main" id="{78AAC4ED-07BF-9D17-0C52-56366EDB5B15}"/>
                      </a:ext>
                    </a:extLst>
                  </p:cNvPr>
                  <p:cNvSpPr/>
                  <p:nvPr/>
                </p:nvSpPr>
                <p:spPr>
                  <a:xfrm>
                    <a:off x="2465938"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grpSp>
              <p:nvGrpSpPr>
                <p:cNvPr id="246" name="Group 245">
                  <a:extLst>
                    <a:ext uri="{FF2B5EF4-FFF2-40B4-BE49-F238E27FC236}">
                      <a16:creationId xmlns:a16="http://schemas.microsoft.com/office/drawing/2014/main" id="{E46FBA37-C10B-70BF-CD7F-6F3AD56B18B4}"/>
                    </a:ext>
                  </a:extLst>
                </p:cNvPr>
                <p:cNvGrpSpPr/>
                <p:nvPr/>
              </p:nvGrpSpPr>
              <p:grpSpPr>
                <a:xfrm>
                  <a:off x="6055609" y="5395247"/>
                  <a:ext cx="238897" cy="159520"/>
                  <a:chOff x="2872481" y="3675265"/>
                  <a:chExt cx="330059" cy="100779"/>
                </a:xfrm>
              </p:grpSpPr>
              <p:sp>
                <p:nvSpPr>
                  <p:cNvPr id="380" name="Rectangle 379">
                    <a:extLst>
                      <a:ext uri="{FF2B5EF4-FFF2-40B4-BE49-F238E27FC236}">
                        <a16:creationId xmlns:a16="http://schemas.microsoft.com/office/drawing/2014/main" id="{BDAF7ED3-A304-EBA3-7917-2791A7A72722}"/>
                      </a:ext>
                    </a:extLst>
                  </p:cNvPr>
                  <p:cNvSpPr/>
                  <p:nvPr/>
                </p:nvSpPr>
                <p:spPr>
                  <a:xfrm>
                    <a:off x="3014651" y="3675265"/>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81" name="Rectangle 380">
                    <a:extLst>
                      <a:ext uri="{FF2B5EF4-FFF2-40B4-BE49-F238E27FC236}">
                        <a16:creationId xmlns:a16="http://schemas.microsoft.com/office/drawing/2014/main" id="{517B4D3B-B8E1-3190-8B40-CBEBB36E0EEB}"/>
                      </a:ext>
                    </a:extLst>
                  </p:cNvPr>
                  <p:cNvSpPr/>
                  <p:nvPr/>
                </p:nvSpPr>
                <p:spPr>
                  <a:xfrm>
                    <a:off x="3109431" y="3675265"/>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82" name="Rectangle 381">
                    <a:extLst>
                      <a:ext uri="{FF2B5EF4-FFF2-40B4-BE49-F238E27FC236}">
                        <a16:creationId xmlns:a16="http://schemas.microsoft.com/office/drawing/2014/main" id="{9B2BFA19-6151-6A78-7ADA-08D2AEA4ECB3}"/>
                      </a:ext>
                    </a:extLst>
                  </p:cNvPr>
                  <p:cNvSpPr/>
                  <p:nvPr/>
                </p:nvSpPr>
                <p:spPr>
                  <a:xfrm>
                    <a:off x="3156821" y="3675265"/>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83" name="Rectangle 382">
                    <a:extLst>
                      <a:ext uri="{FF2B5EF4-FFF2-40B4-BE49-F238E27FC236}">
                        <a16:creationId xmlns:a16="http://schemas.microsoft.com/office/drawing/2014/main" id="{565A0617-7334-4C13-C523-045313374D37}"/>
                      </a:ext>
                    </a:extLst>
                  </p:cNvPr>
                  <p:cNvSpPr/>
                  <p:nvPr/>
                </p:nvSpPr>
                <p:spPr>
                  <a:xfrm>
                    <a:off x="3062041" y="3675265"/>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84" name="Rectangle 383">
                    <a:extLst>
                      <a:ext uri="{FF2B5EF4-FFF2-40B4-BE49-F238E27FC236}">
                        <a16:creationId xmlns:a16="http://schemas.microsoft.com/office/drawing/2014/main" id="{6A7513FD-6AF8-76E8-AA43-3D326FD31480}"/>
                      </a:ext>
                    </a:extLst>
                  </p:cNvPr>
                  <p:cNvSpPr/>
                  <p:nvPr/>
                </p:nvSpPr>
                <p:spPr>
                  <a:xfrm>
                    <a:off x="2872481" y="3675265"/>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85" name="Rectangle 384">
                    <a:extLst>
                      <a:ext uri="{FF2B5EF4-FFF2-40B4-BE49-F238E27FC236}">
                        <a16:creationId xmlns:a16="http://schemas.microsoft.com/office/drawing/2014/main" id="{2A2AD15C-A9F7-1E40-1887-1C80EBA98C79}"/>
                      </a:ext>
                    </a:extLst>
                  </p:cNvPr>
                  <p:cNvSpPr/>
                  <p:nvPr/>
                </p:nvSpPr>
                <p:spPr>
                  <a:xfrm>
                    <a:off x="2967261" y="3675265"/>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86" name="Rectangle 385">
                    <a:extLst>
                      <a:ext uri="{FF2B5EF4-FFF2-40B4-BE49-F238E27FC236}">
                        <a16:creationId xmlns:a16="http://schemas.microsoft.com/office/drawing/2014/main" id="{CB7FEBB5-99AC-10D8-E588-2D6760A7BE40}"/>
                      </a:ext>
                    </a:extLst>
                  </p:cNvPr>
                  <p:cNvSpPr/>
                  <p:nvPr/>
                </p:nvSpPr>
                <p:spPr>
                  <a:xfrm>
                    <a:off x="2919871" y="3675265"/>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sp>
              <p:nvSpPr>
                <p:cNvPr id="247" name="TextBox 246">
                  <a:extLst>
                    <a:ext uri="{FF2B5EF4-FFF2-40B4-BE49-F238E27FC236}">
                      <a16:creationId xmlns:a16="http://schemas.microsoft.com/office/drawing/2014/main" id="{B5BC9413-75EE-6576-E9CD-EEB2DB926350}"/>
                    </a:ext>
                  </a:extLst>
                </p:cNvPr>
                <p:cNvSpPr txBox="1"/>
                <p:nvPr/>
              </p:nvSpPr>
              <p:spPr>
                <a:xfrm>
                  <a:off x="4546462" y="5016006"/>
                  <a:ext cx="736423" cy="1937493"/>
                </a:xfrm>
                <a:prstGeom prst="rect">
                  <a:avLst/>
                </a:prstGeom>
                <a:noFill/>
              </p:spPr>
              <p:txBody>
                <a:bodyPr wrap="square" rtlCol="0">
                  <a:spAutoFit/>
                </a:bodyPr>
                <a:lstStyle/>
                <a:p>
                  <a:pPr algn="ctr">
                    <a:spcAft>
                      <a:spcPts val="450"/>
                    </a:spcAft>
                  </a:pPr>
                  <a:r>
                    <a:rPr lang="fr-BE" sz="525" dirty="0"/>
                    <a:t>TF32</a:t>
                  </a:r>
                </a:p>
              </p:txBody>
            </p:sp>
            <p:sp>
              <p:nvSpPr>
                <p:cNvPr id="248" name="Rectangle 247">
                  <a:extLst>
                    <a:ext uri="{FF2B5EF4-FFF2-40B4-BE49-F238E27FC236}">
                      <a16:creationId xmlns:a16="http://schemas.microsoft.com/office/drawing/2014/main" id="{A66E64D0-4E97-777E-D43C-08AEBABB7860}"/>
                    </a:ext>
                  </a:extLst>
                </p:cNvPr>
                <p:cNvSpPr/>
                <p:nvPr/>
              </p:nvSpPr>
              <p:spPr>
                <a:xfrm>
                  <a:off x="5456518" y="5092779"/>
                  <a:ext cx="33092" cy="159520"/>
                </a:xfrm>
                <a:prstGeom prst="rect">
                  <a:avLst/>
                </a:prstGeom>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nvGrpSpPr>
                <p:cNvPr id="249" name="Group 248">
                  <a:extLst>
                    <a:ext uri="{FF2B5EF4-FFF2-40B4-BE49-F238E27FC236}">
                      <a16:creationId xmlns:a16="http://schemas.microsoft.com/office/drawing/2014/main" id="{85176C47-B047-DD8F-D3B2-D8515B44B080}"/>
                    </a:ext>
                  </a:extLst>
                </p:cNvPr>
                <p:cNvGrpSpPr/>
                <p:nvPr/>
              </p:nvGrpSpPr>
              <p:grpSpPr>
                <a:xfrm>
                  <a:off x="5776657" y="5092779"/>
                  <a:ext cx="275330" cy="159520"/>
                  <a:chOff x="2418127" y="3660200"/>
                  <a:chExt cx="380394" cy="100779"/>
                </a:xfrm>
              </p:grpSpPr>
              <p:sp>
                <p:nvSpPr>
                  <p:cNvPr id="372" name="Rectangle 371">
                    <a:extLst>
                      <a:ext uri="{FF2B5EF4-FFF2-40B4-BE49-F238E27FC236}">
                        <a16:creationId xmlns:a16="http://schemas.microsoft.com/office/drawing/2014/main" id="{81171906-E6D0-A0AE-9D33-B0A9A8103BB8}"/>
                      </a:ext>
                    </a:extLst>
                  </p:cNvPr>
                  <p:cNvSpPr/>
                  <p:nvPr/>
                </p:nvSpPr>
                <p:spPr>
                  <a:xfrm>
                    <a:off x="2609371"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73" name="Rectangle 372">
                    <a:extLst>
                      <a:ext uri="{FF2B5EF4-FFF2-40B4-BE49-F238E27FC236}">
                        <a16:creationId xmlns:a16="http://schemas.microsoft.com/office/drawing/2014/main" id="{94C8082C-CE41-1D96-EAD9-65918B3A58A8}"/>
                      </a:ext>
                    </a:extLst>
                  </p:cNvPr>
                  <p:cNvSpPr/>
                  <p:nvPr/>
                </p:nvSpPr>
                <p:spPr>
                  <a:xfrm>
                    <a:off x="2704993"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74" name="Rectangle 373">
                    <a:extLst>
                      <a:ext uri="{FF2B5EF4-FFF2-40B4-BE49-F238E27FC236}">
                        <a16:creationId xmlns:a16="http://schemas.microsoft.com/office/drawing/2014/main" id="{5D7E3EBB-2C73-5DAE-063D-BB55674F3917}"/>
                      </a:ext>
                    </a:extLst>
                  </p:cNvPr>
                  <p:cNvSpPr/>
                  <p:nvPr/>
                </p:nvSpPr>
                <p:spPr>
                  <a:xfrm>
                    <a:off x="2752802"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75" name="Rectangle 374">
                    <a:extLst>
                      <a:ext uri="{FF2B5EF4-FFF2-40B4-BE49-F238E27FC236}">
                        <a16:creationId xmlns:a16="http://schemas.microsoft.com/office/drawing/2014/main" id="{0400A07F-EC59-9C2C-52D4-FBAC542F4168}"/>
                      </a:ext>
                    </a:extLst>
                  </p:cNvPr>
                  <p:cNvSpPr/>
                  <p:nvPr/>
                </p:nvSpPr>
                <p:spPr>
                  <a:xfrm>
                    <a:off x="2657182"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76" name="Rectangle 375">
                    <a:extLst>
                      <a:ext uri="{FF2B5EF4-FFF2-40B4-BE49-F238E27FC236}">
                        <a16:creationId xmlns:a16="http://schemas.microsoft.com/office/drawing/2014/main" id="{1A001DAA-9CB4-B0AF-14A2-E9F7C3F8463E}"/>
                      </a:ext>
                    </a:extLst>
                  </p:cNvPr>
                  <p:cNvSpPr/>
                  <p:nvPr/>
                </p:nvSpPr>
                <p:spPr>
                  <a:xfrm>
                    <a:off x="2418127"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77" name="Rectangle 376">
                    <a:extLst>
                      <a:ext uri="{FF2B5EF4-FFF2-40B4-BE49-F238E27FC236}">
                        <a16:creationId xmlns:a16="http://schemas.microsoft.com/office/drawing/2014/main" id="{B91B3FB5-24EE-DA62-96D9-B7E18B3AA14E}"/>
                      </a:ext>
                    </a:extLst>
                  </p:cNvPr>
                  <p:cNvSpPr/>
                  <p:nvPr/>
                </p:nvSpPr>
                <p:spPr>
                  <a:xfrm>
                    <a:off x="2513749"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78" name="Rectangle 377">
                    <a:extLst>
                      <a:ext uri="{FF2B5EF4-FFF2-40B4-BE49-F238E27FC236}">
                        <a16:creationId xmlns:a16="http://schemas.microsoft.com/office/drawing/2014/main" id="{6F2FDB22-954B-E2B5-7E2B-E0F47F37C946}"/>
                      </a:ext>
                    </a:extLst>
                  </p:cNvPr>
                  <p:cNvSpPr/>
                  <p:nvPr/>
                </p:nvSpPr>
                <p:spPr>
                  <a:xfrm>
                    <a:off x="2561560"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79" name="Rectangle 378">
                    <a:extLst>
                      <a:ext uri="{FF2B5EF4-FFF2-40B4-BE49-F238E27FC236}">
                        <a16:creationId xmlns:a16="http://schemas.microsoft.com/office/drawing/2014/main" id="{AD1AD5CE-5AF8-779A-CC5C-EED5F17EB118}"/>
                      </a:ext>
                    </a:extLst>
                  </p:cNvPr>
                  <p:cNvSpPr/>
                  <p:nvPr/>
                </p:nvSpPr>
                <p:spPr>
                  <a:xfrm>
                    <a:off x="2465938"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grpSp>
              <p:nvGrpSpPr>
                <p:cNvPr id="250" name="Group 249">
                  <a:extLst>
                    <a:ext uri="{FF2B5EF4-FFF2-40B4-BE49-F238E27FC236}">
                      <a16:creationId xmlns:a16="http://schemas.microsoft.com/office/drawing/2014/main" id="{479C4BAE-B160-2ACD-252C-5D91E269C612}"/>
                    </a:ext>
                  </a:extLst>
                </p:cNvPr>
                <p:cNvGrpSpPr/>
                <p:nvPr/>
              </p:nvGrpSpPr>
              <p:grpSpPr>
                <a:xfrm>
                  <a:off x="6055609" y="5092779"/>
                  <a:ext cx="341800" cy="159520"/>
                  <a:chOff x="2868758" y="3984964"/>
                  <a:chExt cx="472229" cy="100779"/>
                </a:xfrm>
              </p:grpSpPr>
              <p:sp>
                <p:nvSpPr>
                  <p:cNvPr id="362" name="Rectangle 361">
                    <a:extLst>
                      <a:ext uri="{FF2B5EF4-FFF2-40B4-BE49-F238E27FC236}">
                        <a16:creationId xmlns:a16="http://schemas.microsoft.com/office/drawing/2014/main" id="{D9EA50D8-CD4C-304D-DE2C-0C9F5C32A527}"/>
                      </a:ext>
                    </a:extLst>
                  </p:cNvPr>
                  <p:cNvSpPr/>
                  <p:nvPr/>
                </p:nvSpPr>
                <p:spPr>
                  <a:xfrm>
                    <a:off x="320048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63" name="Rectangle 362">
                    <a:extLst>
                      <a:ext uri="{FF2B5EF4-FFF2-40B4-BE49-F238E27FC236}">
                        <a16:creationId xmlns:a16="http://schemas.microsoft.com/office/drawing/2014/main" id="{085BA0B0-275D-0572-D698-30DE844710C9}"/>
                      </a:ext>
                    </a:extLst>
                  </p:cNvPr>
                  <p:cNvSpPr/>
                  <p:nvPr/>
                </p:nvSpPr>
                <p:spPr>
                  <a:xfrm>
                    <a:off x="329526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64" name="Rectangle 363">
                    <a:extLst>
                      <a:ext uri="{FF2B5EF4-FFF2-40B4-BE49-F238E27FC236}">
                        <a16:creationId xmlns:a16="http://schemas.microsoft.com/office/drawing/2014/main" id="{90EAAC24-D686-1770-C825-A24AC0408F03}"/>
                      </a:ext>
                    </a:extLst>
                  </p:cNvPr>
                  <p:cNvSpPr/>
                  <p:nvPr/>
                </p:nvSpPr>
                <p:spPr>
                  <a:xfrm>
                    <a:off x="324787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65" name="Rectangle 364">
                    <a:extLst>
                      <a:ext uri="{FF2B5EF4-FFF2-40B4-BE49-F238E27FC236}">
                        <a16:creationId xmlns:a16="http://schemas.microsoft.com/office/drawing/2014/main" id="{C1757724-1257-2A51-975A-4E6E5FA674C0}"/>
                      </a:ext>
                    </a:extLst>
                  </p:cNvPr>
                  <p:cNvSpPr/>
                  <p:nvPr/>
                </p:nvSpPr>
                <p:spPr>
                  <a:xfrm>
                    <a:off x="301092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66" name="Rectangle 365">
                    <a:extLst>
                      <a:ext uri="{FF2B5EF4-FFF2-40B4-BE49-F238E27FC236}">
                        <a16:creationId xmlns:a16="http://schemas.microsoft.com/office/drawing/2014/main" id="{235F8458-3F07-836E-1DB7-F0CAF5ADB5CF}"/>
                      </a:ext>
                    </a:extLst>
                  </p:cNvPr>
                  <p:cNvSpPr/>
                  <p:nvPr/>
                </p:nvSpPr>
                <p:spPr>
                  <a:xfrm>
                    <a:off x="310570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67" name="Rectangle 366">
                    <a:extLst>
                      <a:ext uri="{FF2B5EF4-FFF2-40B4-BE49-F238E27FC236}">
                        <a16:creationId xmlns:a16="http://schemas.microsoft.com/office/drawing/2014/main" id="{95E7A296-CD08-2263-5180-A9162F76BFD1}"/>
                      </a:ext>
                    </a:extLst>
                  </p:cNvPr>
                  <p:cNvSpPr/>
                  <p:nvPr/>
                </p:nvSpPr>
                <p:spPr>
                  <a:xfrm>
                    <a:off x="315309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68" name="Rectangle 367">
                    <a:extLst>
                      <a:ext uri="{FF2B5EF4-FFF2-40B4-BE49-F238E27FC236}">
                        <a16:creationId xmlns:a16="http://schemas.microsoft.com/office/drawing/2014/main" id="{FBF95C87-55FF-2494-F0F2-8917F72E285C}"/>
                      </a:ext>
                    </a:extLst>
                  </p:cNvPr>
                  <p:cNvSpPr/>
                  <p:nvPr/>
                </p:nvSpPr>
                <p:spPr>
                  <a:xfrm>
                    <a:off x="305831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69" name="Rectangle 368">
                    <a:extLst>
                      <a:ext uri="{FF2B5EF4-FFF2-40B4-BE49-F238E27FC236}">
                        <a16:creationId xmlns:a16="http://schemas.microsoft.com/office/drawing/2014/main" id="{8E84CE02-F1C8-0F02-F3D7-248A61C272E1}"/>
                      </a:ext>
                    </a:extLst>
                  </p:cNvPr>
                  <p:cNvSpPr/>
                  <p:nvPr/>
                </p:nvSpPr>
                <p:spPr>
                  <a:xfrm>
                    <a:off x="286875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70" name="Rectangle 369">
                    <a:extLst>
                      <a:ext uri="{FF2B5EF4-FFF2-40B4-BE49-F238E27FC236}">
                        <a16:creationId xmlns:a16="http://schemas.microsoft.com/office/drawing/2014/main" id="{D3DD690A-3327-429D-BE43-CC02225185F2}"/>
                      </a:ext>
                    </a:extLst>
                  </p:cNvPr>
                  <p:cNvSpPr/>
                  <p:nvPr/>
                </p:nvSpPr>
                <p:spPr>
                  <a:xfrm>
                    <a:off x="296353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71" name="Rectangle 370">
                    <a:extLst>
                      <a:ext uri="{FF2B5EF4-FFF2-40B4-BE49-F238E27FC236}">
                        <a16:creationId xmlns:a16="http://schemas.microsoft.com/office/drawing/2014/main" id="{24D09BCF-FF2D-B088-EDB5-913972ABC9C6}"/>
                      </a:ext>
                    </a:extLst>
                  </p:cNvPr>
                  <p:cNvSpPr/>
                  <p:nvPr/>
                </p:nvSpPr>
                <p:spPr>
                  <a:xfrm>
                    <a:off x="291614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sp>
              <p:nvSpPr>
                <p:cNvPr id="251" name="TextBox 250">
                  <a:extLst>
                    <a:ext uri="{FF2B5EF4-FFF2-40B4-BE49-F238E27FC236}">
                      <a16:creationId xmlns:a16="http://schemas.microsoft.com/office/drawing/2014/main" id="{BB616194-E3C4-DE00-B232-43F9BF9AFC57}"/>
                    </a:ext>
                  </a:extLst>
                </p:cNvPr>
                <p:cNvSpPr txBox="1"/>
                <p:nvPr/>
              </p:nvSpPr>
              <p:spPr>
                <a:xfrm>
                  <a:off x="4538350" y="4713541"/>
                  <a:ext cx="761314" cy="1937493"/>
                </a:xfrm>
                <a:prstGeom prst="rect">
                  <a:avLst/>
                </a:prstGeom>
                <a:noFill/>
              </p:spPr>
              <p:txBody>
                <a:bodyPr wrap="square" rtlCol="0">
                  <a:spAutoFit/>
                </a:bodyPr>
                <a:lstStyle/>
                <a:p>
                  <a:pPr algn="ctr">
                    <a:spcAft>
                      <a:spcPts val="450"/>
                    </a:spcAft>
                  </a:pPr>
                  <a:r>
                    <a:rPr lang="fr-BE" sz="525" dirty="0"/>
                    <a:t>FP32</a:t>
                  </a:r>
                </a:p>
              </p:txBody>
            </p:sp>
            <p:sp>
              <p:nvSpPr>
                <p:cNvPr id="252" name="Rectangle 251">
                  <a:extLst>
                    <a:ext uri="{FF2B5EF4-FFF2-40B4-BE49-F238E27FC236}">
                      <a16:creationId xmlns:a16="http://schemas.microsoft.com/office/drawing/2014/main" id="{BBC3FFB5-2C0A-5D2D-F71C-4345CF39C1F0}"/>
                    </a:ext>
                  </a:extLst>
                </p:cNvPr>
                <p:cNvSpPr/>
                <p:nvPr/>
              </p:nvSpPr>
              <p:spPr>
                <a:xfrm>
                  <a:off x="5456518" y="4790310"/>
                  <a:ext cx="33092" cy="159520"/>
                </a:xfrm>
                <a:prstGeom prst="rect">
                  <a:avLst/>
                </a:prstGeom>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nvGrpSpPr>
                <p:cNvPr id="253" name="Group 252">
                  <a:extLst>
                    <a:ext uri="{FF2B5EF4-FFF2-40B4-BE49-F238E27FC236}">
                      <a16:creationId xmlns:a16="http://schemas.microsoft.com/office/drawing/2014/main" id="{C5DD6C94-A0E8-4667-E890-DBE0971789BC}"/>
                    </a:ext>
                  </a:extLst>
                </p:cNvPr>
                <p:cNvGrpSpPr/>
                <p:nvPr/>
              </p:nvGrpSpPr>
              <p:grpSpPr>
                <a:xfrm>
                  <a:off x="5770125" y="4790310"/>
                  <a:ext cx="275330" cy="159520"/>
                  <a:chOff x="2418127" y="3660200"/>
                  <a:chExt cx="380394" cy="100779"/>
                </a:xfrm>
              </p:grpSpPr>
              <p:sp>
                <p:nvSpPr>
                  <p:cNvPr id="354" name="Rectangle 353">
                    <a:extLst>
                      <a:ext uri="{FF2B5EF4-FFF2-40B4-BE49-F238E27FC236}">
                        <a16:creationId xmlns:a16="http://schemas.microsoft.com/office/drawing/2014/main" id="{F818B079-36D9-8257-017A-492DC8E5D678}"/>
                      </a:ext>
                    </a:extLst>
                  </p:cNvPr>
                  <p:cNvSpPr/>
                  <p:nvPr/>
                </p:nvSpPr>
                <p:spPr>
                  <a:xfrm>
                    <a:off x="2609371"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55" name="Rectangle 354">
                    <a:extLst>
                      <a:ext uri="{FF2B5EF4-FFF2-40B4-BE49-F238E27FC236}">
                        <a16:creationId xmlns:a16="http://schemas.microsoft.com/office/drawing/2014/main" id="{EC18CAFA-1E3C-1402-237D-1E5C3B7D47A9}"/>
                      </a:ext>
                    </a:extLst>
                  </p:cNvPr>
                  <p:cNvSpPr/>
                  <p:nvPr/>
                </p:nvSpPr>
                <p:spPr>
                  <a:xfrm>
                    <a:off x="2704993"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56" name="Rectangle 355">
                    <a:extLst>
                      <a:ext uri="{FF2B5EF4-FFF2-40B4-BE49-F238E27FC236}">
                        <a16:creationId xmlns:a16="http://schemas.microsoft.com/office/drawing/2014/main" id="{EFB44CF7-F7E2-0F6A-4B0F-994A0739F149}"/>
                      </a:ext>
                    </a:extLst>
                  </p:cNvPr>
                  <p:cNvSpPr/>
                  <p:nvPr/>
                </p:nvSpPr>
                <p:spPr>
                  <a:xfrm>
                    <a:off x="2752802"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57" name="Rectangle 356">
                    <a:extLst>
                      <a:ext uri="{FF2B5EF4-FFF2-40B4-BE49-F238E27FC236}">
                        <a16:creationId xmlns:a16="http://schemas.microsoft.com/office/drawing/2014/main" id="{7416981C-B842-5C6D-64E5-8AE2467C36DA}"/>
                      </a:ext>
                    </a:extLst>
                  </p:cNvPr>
                  <p:cNvSpPr/>
                  <p:nvPr/>
                </p:nvSpPr>
                <p:spPr>
                  <a:xfrm>
                    <a:off x="2657182"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58" name="Rectangle 357">
                    <a:extLst>
                      <a:ext uri="{FF2B5EF4-FFF2-40B4-BE49-F238E27FC236}">
                        <a16:creationId xmlns:a16="http://schemas.microsoft.com/office/drawing/2014/main" id="{16D768CD-338F-20F5-621C-474D7ACDA848}"/>
                      </a:ext>
                    </a:extLst>
                  </p:cNvPr>
                  <p:cNvSpPr/>
                  <p:nvPr/>
                </p:nvSpPr>
                <p:spPr>
                  <a:xfrm>
                    <a:off x="2418127"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59" name="Rectangle 358">
                    <a:extLst>
                      <a:ext uri="{FF2B5EF4-FFF2-40B4-BE49-F238E27FC236}">
                        <a16:creationId xmlns:a16="http://schemas.microsoft.com/office/drawing/2014/main" id="{09D4BDDB-0955-376D-4DFC-7D15C470B5CE}"/>
                      </a:ext>
                    </a:extLst>
                  </p:cNvPr>
                  <p:cNvSpPr/>
                  <p:nvPr/>
                </p:nvSpPr>
                <p:spPr>
                  <a:xfrm>
                    <a:off x="2513749"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60" name="Rectangle 359">
                    <a:extLst>
                      <a:ext uri="{FF2B5EF4-FFF2-40B4-BE49-F238E27FC236}">
                        <a16:creationId xmlns:a16="http://schemas.microsoft.com/office/drawing/2014/main" id="{45B3433F-41D2-2716-03E1-31DB8D325B2C}"/>
                      </a:ext>
                    </a:extLst>
                  </p:cNvPr>
                  <p:cNvSpPr/>
                  <p:nvPr/>
                </p:nvSpPr>
                <p:spPr>
                  <a:xfrm>
                    <a:off x="2561560"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61" name="Rectangle 360">
                    <a:extLst>
                      <a:ext uri="{FF2B5EF4-FFF2-40B4-BE49-F238E27FC236}">
                        <a16:creationId xmlns:a16="http://schemas.microsoft.com/office/drawing/2014/main" id="{F5725D7B-4283-A671-D6BB-E24B99CF93F6}"/>
                      </a:ext>
                    </a:extLst>
                  </p:cNvPr>
                  <p:cNvSpPr/>
                  <p:nvPr/>
                </p:nvSpPr>
                <p:spPr>
                  <a:xfrm>
                    <a:off x="2465938"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grpSp>
              <p:nvGrpSpPr>
                <p:cNvPr id="254" name="Group 253">
                  <a:extLst>
                    <a:ext uri="{FF2B5EF4-FFF2-40B4-BE49-F238E27FC236}">
                      <a16:creationId xmlns:a16="http://schemas.microsoft.com/office/drawing/2014/main" id="{290B8D60-4E9B-4A03-4C25-361F48C491A4}"/>
                    </a:ext>
                  </a:extLst>
                </p:cNvPr>
                <p:cNvGrpSpPr/>
                <p:nvPr/>
              </p:nvGrpSpPr>
              <p:grpSpPr>
                <a:xfrm>
                  <a:off x="6055609" y="4790310"/>
                  <a:ext cx="795009" cy="159520"/>
                  <a:chOff x="2873316" y="3008689"/>
                  <a:chExt cx="1098378" cy="100779"/>
                </a:xfrm>
              </p:grpSpPr>
              <p:grpSp>
                <p:nvGrpSpPr>
                  <p:cNvPr id="329" name="Group 328">
                    <a:extLst>
                      <a:ext uri="{FF2B5EF4-FFF2-40B4-BE49-F238E27FC236}">
                        <a16:creationId xmlns:a16="http://schemas.microsoft.com/office/drawing/2014/main" id="{16C6C7D2-8D15-B067-8352-D5548FF45B2F}"/>
                      </a:ext>
                    </a:extLst>
                  </p:cNvPr>
                  <p:cNvGrpSpPr/>
                  <p:nvPr/>
                </p:nvGrpSpPr>
                <p:grpSpPr>
                  <a:xfrm>
                    <a:off x="2873316" y="3008689"/>
                    <a:ext cx="472229" cy="100779"/>
                    <a:chOff x="2868758" y="3984964"/>
                    <a:chExt cx="472229" cy="100779"/>
                  </a:xfrm>
                </p:grpSpPr>
                <p:sp>
                  <p:nvSpPr>
                    <p:cNvPr id="344" name="Rectangle 343">
                      <a:extLst>
                        <a:ext uri="{FF2B5EF4-FFF2-40B4-BE49-F238E27FC236}">
                          <a16:creationId xmlns:a16="http://schemas.microsoft.com/office/drawing/2014/main" id="{41357916-080F-055F-91F5-7D8113CC40D2}"/>
                        </a:ext>
                      </a:extLst>
                    </p:cNvPr>
                    <p:cNvSpPr/>
                    <p:nvPr/>
                  </p:nvSpPr>
                  <p:spPr>
                    <a:xfrm>
                      <a:off x="320048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45" name="Rectangle 344">
                      <a:extLst>
                        <a:ext uri="{FF2B5EF4-FFF2-40B4-BE49-F238E27FC236}">
                          <a16:creationId xmlns:a16="http://schemas.microsoft.com/office/drawing/2014/main" id="{7036A71B-98F7-11DF-EB9A-17AE20959673}"/>
                        </a:ext>
                      </a:extLst>
                    </p:cNvPr>
                    <p:cNvSpPr/>
                    <p:nvPr/>
                  </p:nvSpPr>
                  <p:spPr>
                    <a:xfrm>
                      <a:off x="329526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46" name="Rectangle 345">
                      <a:extLst>
                        <a:ext uri="{FF2B5EF4-FFF2-40B4-BE49-F238E27FC236}">
                          <a16:creationId xmlns:a16="http://schemas.microsoft.com/office/drawing/2014/main" id="{F40A8579-49DE-73CB-5835-989C140DA73E}"/>
                        </a:ext>
                      </a:extLst>
                    </p:cNvPr>
                    <p:cNvSpPr/>
                    <p:nvPr/>
                  </p:nvSpPr>
                  <p:spPr>
                    <a:xfrm>
                      <a:off x="324787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47" name="Rectangle 346">
                      <a:extLst>
                        <a:ext uri="{FF2B5EF4-FFF2-40B4-BE49-F238E27FC236}">
                          <a16:creationId xmlns:a16="http://schemas.microsoft.com/office/drawing/2014/main" id="{2422231B-EE0B-21DB-FA5C-47CA9A2292AC}"/>
                        </a:ext>
                      </a:extLst>
                    </p:cNvPr>
                    <p:cNvSpPr/>
                    <p:nvPr/>
                  </p:nvSpPr>
                  <p:spPr>
                    <a:xfrm>
                      <a:off x="301092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48" name="Rectangle 347">
                      <a:extLst>
                        <a:ext uri="{FF2B5EF4-FFF2-40B4-BE49-F238E27FC236}">
                          <a16:creationId xmlns:a16="http://schemas.microsoft.com/office/drawing/2014/main" id="{DF262049-8371-1D51-C4AA-91B5380EF31B}"/>
                        </a:ext>
                      </a:extLst>
                    </p:cNvPr>
                    <p:cNvSpPr/>
                    <p:nvPr/>
                  </p:nvSpPr>
                  <p:spPr>
                    <a:xfrm>
                      <a:off x="310570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49" name="Rectangle 348">
                      <a:extLst>
                        <a:ext uri="{FF2B5EF4-FFF2-40B4-BE49-F238E27FC236}">
                          <a16:creationId xmlns:a16="http://schemas.microsoft.com/office/drawing/2014/main" id="{9573A23B-9E24-8216-16BF-5C883DDBF666}"/>
                        </a:ext>
                      </a:extLst>
                    </p:cNvPr>
                    <p:cNvSpPr/>
                    <p:nvPr/>
                  </p:nvSpPr>
                  <p:spPr>
                    <a:xfrm>
                      <a:off x="315309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50" name="Rectangle 349">
                      <a:extLst>
                        <a:ext uri="{FF2B5EF4-FFF2-40B4-BE49-F238E27FC236}">
                          <a16:creationId xmlns:a16="http://schemas.microsoft.com/office/drawing/2014/main" id="{16C0F5EE-B00E-135B-AC7D-6CCB7577627F}"/>
                        </a:ext>
                      </a:extLst>
                    </p:cNvPr>
                    <p:cNvSpPr/>
                    <p:nvPr/>
                  </p:nvSpPr>
                  <p:spPr>
                    <a:xfrm>
                      <a:off x="305831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51" name="Rectangle 350">
                      <a:extLst>
                        <a:ext uri="{FF2B5EF4-FFF2-40B4-BE49-F238E27FC236}">
                          <a16:creationId xmlns:a16="http://schemas.microsoft.com/office/drawing/2014/main" id="{3C78053F-9918-D5EA-547F-0A76AB67136F}"/>
                        </a:ext>
                      </a:extLst>
                    </p:cNvPr>
                    <p:cNvSpPr/>
                    <p:nvPr/>
                  </p:nvSpPr>
                  <p:spPr>
                    <a:xfrm>
                      <a:off x="286875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52" name="Rectangle 351">
                      <a:extLst>
                        <a:ext uri="{FF2B5EF4-FFF2-40B4-BE49-F238E27FC236}">
                          <a16:creationId xmlns:a16="http://schemas.microsoft.com/office/drawing/2014/main" id="{8FF40BA2-EAA8-6DDA-64C5-EBE84CB88D06}"/>
                        </a:ext>
                      </a:extLst>
                    </p:cNvPr>
                    <p:cNvSpPr/>
                    <p:nvPr/>
                  </p:nvSpPr>
                  <p:spPr>
                    <a:xfrm>
                      <a:off x="296353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53" name="Rectangle 352">
                      <a:extLst>
                        <a:ext uri="{FF2B5EF4-FFF2-40B4-BE49-F238E27FC236}">
                          <a16:creationId xmlns:a16="http://schemas.microsoft.com/office/drawing/2014/main" id="{DD2DBA1E-BF8C-3DEE-971C-BDAD24B3FF26}"/>
                        </a:ext>
                      </a:extLst>
                    </p:cNvPr>
                    <p:cNvSpPr/>
                    <p:nvPr/>
                  </p:nvSpPr>
                  <p:spPr>
                    <a:xfrm>
                      <a:off x="291614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grpSp>
                <p:nvGrpSpPr>
                  <p:cNvPr id="330" name="Group 329">
                    <a:extLst>
                      <a:ext uri="{FF2B5EF4-FFF2-40B4-BE49-F238E27FC236}">
                        <a16:creationId xmlns:a16="http://schemas.microsoft.com/office/drawing/2014/main" id="{20EAD5A3-073C-DB2E-F09F-D8590F43D088}"/>
                      </a:ext>
                    </a:extLst>
                  </p:cNvPr>
                  <p:cNvGrpSpPr/>
                  <p:nvPr/>
                </p:nvGrpSpPr>
                <p:grpSpPr>
                  <a:xfrm>
                    <a:off x="3349736" y="3008689"/>
                    <a:ext cx="472229" cy="100779"/>
                    <a:chOff x="2868758" y="3984964"/>
                    <a:chExt cx="472229" cy="100779"/>
                  </a:xfrm>
                </p:grpSpPr>
                <p:sp>
                  <p:nvSpPr>
                    <p:cNvPr id="334" name="Rectangle 333">
                      <a:extLst>
                        <a:ext uri="{FF2B5EF4-FFF2-40B4-BE49-F238E27FC236}">
                          <a16:creationId xmlns:a16="http://schemas.microsoft.com/office/drawing/2014/main" id="{BD6DC40F-DE08-FAB5-E3F5-8F3796B2521A}"/>
                        </a:ext>
                      </a:extLst>
                    </p:cNvPr>
                    <p:cNvSpPr/>
                    <p:nvPr/>
                  </p:nvSpPr>
                  <p:spPr>
                    <a:xfrm>
                      <a:off x="320048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35" name="Rectangle 334">
                      <a:extLst>
                        <a:ext uri="{FF2B5EF4-FFF2-40B4-BE49-F238E27FC236}">
                          <a16:creationId xmlns:a16="http://schemas.microsoft.com/office/drawing/2014/main" id="{7F32E55A-E922-DF7D-AE7B-13B0ECA1D52B}"/>
                        </a:ext>
                      </a:extLst>
                    </p:cNvPr>
                    <p:cNvSpPr/>
                    <p:nvPr/>
                  </p:nvSpPr>
                  <p:spPr>
                    <a:xfrm>
                      <a:off x="329526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36" name="Rectangle 335">
                      <a:extLst>
                        <a:ext uri="{FF2B5EF4-FFF2-40B4-BE49-F238E27FC236}">
                          <a16:creationId xmlns:a16="http://schemas.microsoft.com/office/drawing/2014/main" id="{01E59821-2958-177A-2901-2552440A03F6}"/>
                        </a:ext>
                      </a:extLst>
                    </p:cNvPr>
                    <p:cNvSpPr/>
                    <p:nvPr/>
                  </p:nvSpPr>
                  <p:spPr>
                    <a:xfrm>
                      <a:off x="324787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37" name="Rectangle 336">
                      <a:extLst>
                        <a:ext uri="{FF2B5EF4-FFF2-40B4-BE49-F238E27FC236}">
                          <a16:creationId xmlns:a16="http://schemas.microsoft.com/office/drawing/2014/main" id="{A83C9EF7-67E1-07CA-1B5F-828D23AB9484}"/>
                        </a:ext>
                      </a:extLst>
                    </p:cNvPr>
                    <p:cNvSpPr/>
                    <p:nvPr/>
                  </p:nvSpPr>
                  <p:spPr>
                    <a:xfrm>
                      <a:off x="301092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38" name="Rectangle 337">
                      <a:extLst>
                        <a:ext uri="{FF2B5EF4-FFF2-40B4-BE49-F238E27FC236}">
                          <a16:creationId xmlns:a16="http://schemas.microsoft.com/office/drawing/2014/main" id="{D01D12EA-7960-B86A-DC6D-5F4E7B918314}"/>
                        </a:ext>
                      </a:extLst>
                    </p:cNvPr>
                    <p:cNvSpPr/>
                    <p:nvPr/>
                  </p:nvSpPr>
                  <p:spPr>
                    <a:xfrm>
                      <a:off x="310570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39" name="Rectangle 338">
                      <a:extLst>
                        <a:ext uri="{FF2B5EF4-FFF2-40B4-BE49-F238E27FC236}">
                          <a16:creationId xmlns:a16="http://schemas.microsoft.com/office/drawing/2014/main" id="{9D4F6BD1-DE88-3763-D257-A17B87DB7C54}"/>
                        </a:ext>
                      </a:extLst>
                    </p:cNvPr>
                    <p:cNvSpPr/>
                    <p:nvPr/>
                  </p:nvSpPr>
                  <p:spPr>
                    <a:xfrm>
                      <a:off x="315309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40" name="Rectangle 339">
                      <a:extLst>
                        <a:ext uri="{FF2B5EF4-FFF2-40B4-BE49-F238E27FC236}">
                          <a16:creationId xmlns:a16="http://schemas.microsoft.com/office/drawing/2014/main" id="{820C7270-9C34-3CD8-E0F1-207610D64756}"/>
                        </a:ext>
                      </a:extLst>
                    </p:cNvPr>
                    <p:cNvSpPr/>
                    <p:nvPr/>
                  </p:nvSpPr>
                  <p:spPr>
                    <a:xfrm>
                      <a:off x="305831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41" name="Rectangle 340">
                      <a:extLst>
                        <a:ext uri="{FF2B5EF4-FFF2-40B4-BE49-F238E27FC236}">
                          <a16:creationId xmlns:a16="http://schemas.microsoft.com/office/drawing/2014/main" id="{9D9C8D2C-A356-9FD9-7AA4-020A4576AFAD}"/>
                        </a:ext>
                      </a:extLst>
                    </p:cNvPr>
                    <p:cNvSpPr/>
                    <p:nvPr/>
                  </p:nvSpPr>
                  <p:spPr>
                    <a:xfrm>
                      <a:off x="286875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42" name="Rectangle 341">
                      <a:extLst>
                        <a:ext uri="{FF2B5EF4-FFF2-40B4-BE49-F238E27FC236}">
                          <a16:creationId xmlns:a16="http://schemas.microsoft.com/office/drawing/2014/main" id="{3E6DD199-E741-F00A-4D5C-A6E0B1B40CAE}"/>
                        </a:ext>
                      </a:extLst>
                    </p:cNvPr>
                    <p:cNvSpPr/>
                    <p:nvPr/>
                  </p:nvSpPr>
                  <p:spPr>
                    <a:xfrm>
                      <a:off x="296353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43" name="Rectangle 342">
                      <a:extLst>
                        <a:ext uri="{FF2B5EF4-FFF2-40B4-BE49-F238E27FC236}">
                          <a16:creationId xmlns:a16="http://schemas.microsoft.com/office/drawing/2014/main" id="{0B57D471-E7DA-527E-BCDF-23D9BB06E968}"/>
                        </a:ext>
                      </a:extLst>
                    </p:cNvPr>
                    <p:cNvSpPr/>
                    <p:nvPr/>
                  </p:nvSpPr>
                  <p:spPr>
                    <a:xfrm>
                      <a:off x="291614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sp>
                <p:nvSpPr>
                  <p:cNvPr id="331" name="Rectangle 330">
                    <a:extLst>
                      <a:ext uri="{FF2B5EF4-FFF2-40B4-BE49-F238E27FC236}">
                        <a16:creationId xmlns:a16="http://schemas.microsoft.com/office/drawing/2014/main" id="{4A49C1E8-4DE1-94EF-FCED-0058CA106622}"/>
                      </a:ext>
                    </a:extLst>
                  </p:cNvPr>
                  <p:cNvSpPr/>
                  <p:nvPr/>
                </p:nvSpPr>
                <p:spPr>
                  <a:xfrm>
                    <a:off x="3876066" y="3008689"/>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32" name="Rectangle 331">
                    <a:extLst>
                      <a:ext uri="{FF2B5EF4-FFF2-40B4-BE49-F238E27FC236}">
                        <a16:creationId xmlns:a16="http://schemas.microsoft.com/office/drawing/2014/main" id="{B86CF61A-5CDE-57AC-2C52-DBE4CB258847}"/>
                      </a:ext>
                    </a:extLst>
                  </p:cNvPr>
                  <p:cNvSpPr/>
                  <p:nvPr/>
                </p:nvSpPr>
                <p:spPr>
                  <a:xfrm>
                    <a:off x="3925975" y="3008689"/>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33" name="Rectangle 332">
                    <a:extLst>
                      <a:ext uri="{FF2B5EF4-FFF2-40B4-BE49-F238E27FC236}">
                        <a16:creationId xmlns:a16="http://schemas.microsoft.com/office/drawing/2014/main" id="{3949486F-A884-2B07-0B07-08685C2B16BF}"/>
                      </a:ext>
                    </a:extLst>
                  </p:cNvPr>
                  <p:cNvSpPr/>
                  <p:nvPr/>
                </p:nvSpPr>
                <p:spPr>
                  <a:xfrm>
                    <a:off x="3826156" y="3008689"/>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sp>
              <p:nvSpPr>
                <p:cNvPr id="255" name="TextBox 254">
                  <a:extLst>
                    <a:ext uri="{FF2B5EF4-FFF2-40B4-BE49-F238E27FC236}">
                      <a16:creationId xmlns:a16="http://schemas.microsoft.com/office/drawing/2014/main" id="{823A4DB1-A58E-61C9-0198-1CF3B0EFDCFE}"/>
                    </a:ext>
                  </a:extLst>
                </p:cNvPr>
                <p:cNvSpPr txBox="1"/>
                <p:nvPr/>
              </p:nvSpPr>
              <p:spPr>
                <a:xfrm>
                  <a:off x="4538350" y="4402594"/>
                  <a:ext cx="761314" cy="1937493"/>
                </a:xfrm>
                <a:prstGeom prst="rect">
                  <a:avLst/>
                </a:prstGeom>
                <a:noFill/>
              </p:spPr>
              <p:txBody>
                <a:bodyPr wrap="square" rtlCol="0">
                  <a:spAutoFit/>
                </a:bodyPr>
                <a:lstStyle/>
                <a:p>
                  <a:pPr algn="ctr">
                    <a:spcAft>
                      <a:spcPts val="450"/>
                    </a:spcAft>
                  </a:pPr>
                  <a:r>
                    <a:rPr lang="fr-BE" sz="525" dirty="0"/>
                    <a:t>FP64</a:t>
                  </a:r>
                </a:p>
              </p:txBody>
            </p:sp>
            <p:sp>
              <p:nvSpPr>
                <p:cNvPr id="256" name="Rectangle 255">
                  <a:extLst>
                    <a:ext uri="{FF2B5EF4-FFF2-40B4-BE49-F238E27FC236}">
                      <a16:creationId xmlns:a16="http://schemas.microsoft.com/office/drawing/2014/main" id="{F7CC20C2-72A5-39CA-9F18-8733B7E86D76}"/>
                    </a:ext>
                  </a:extLst>
                </p:cNvPr>
                <p:cNvSpPr/>
                <p:nvPr/>
              </p:nvSpPr>
              <p:spPr>
                <a:xfrm>
                  <a:off x="5456518" y="4487842"/>
                  <a:ext cx="33092" cy="159520"/>
                </a:xfrm>
                <a:prstGeom prst="rect">
                  <a:avLst/>
                </a:prstGeom>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nvGrpSpPr>
                <p:cNvPr id="257" name="Group 256">
                  <a:extLst>
                    <a:ext uri="{FF2B5EF4-FFF2-40B4-BE49-F238E27FC236}">
                      <a16:creationId xmlns:a16="http://schemas.microsoft.com/office/drawing/2014/main" id="{3B92B935-FEEC-3144-4575-A42233F2AAB8}"/>
                    </a:ext>
                  </a:extLst>
                </p:cNvPr>
                <p:cNvGrpSpPr/>
                <p:nvPr/>
              </p:nvGrpSpPr>
              <p:grpSpPr>
                <a:xfrm>
                  <a:off x="5668597" y="4487842"/>
                  <a:ext cx="376102" cy="159520"/>
                  <a:chOff x="2314505" y="2775048"/>
                  <a:chExt cx="519620" cy="100779"/>
                </a:xfrm>
              </p:grpSpPr>
              <p:sp>
                <p:nvSpPr>
                  <p:cNvPr id="318" name="Rectangle 317">
                    <a:extLst>
                      <a:ext uri="{FF2B5EF4-FFF2-40B4-BE49-F238E27FC236}">
                        <a16:creationId xmlns:a16="http://schemas.microsoft.com/office/drawing/2014/main" id="{B1D8D94A-9FED-ADA6-AAE4-7837083B285C}"/>
                      </a:ext>
                    </a:extLst>
                  </p:cNvPr>
                  <p:cNvSpPr/>
                  <p:nvPr/>
                </p:nvSpPr>
                <p:spPr>
                  <a:xfrm>
                    <a:off x="2646235" y="2775048"/>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19" name="Rectangle 318">
                    <a:extLst>
                      <a:ext uri="{FF2B5EF4-FFF2-40B4-BE49-F238E27FC236}">
                        <a16:creationId xmlns:a16="http://schemas.microsoft.com/office/drawing/2014/main" id="{2E89FF16-9363-E39C-AE32-59483524DADC}"/>
                      </a:ext>
                    </a:extLst>
                  </p:cNvPr>
                  <p:cNvSpPr/>
                  <p:nvPr/>
                </p:nvSpPr>
                <p:spPr>
                  <a:xfrm>
                    <a:off x="2741015" y="2775048"/>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20" name="Rectangle 319">
                    <a:extLst>
                      <a:ext uri="{FF2B5EF4-FFF2-40B4-BE49-F238E27FC236}">
                        <a16:creationId xmlns:a16="http://schemas.microsoft.com/office/drawing/2014/main" id="{D256057C-A61C-F8F5-0C84-E174C7ED6B3E}"/>
                      </a:ext>
                    </a:extLst>
                  </p:cNvPr>
                  <p:cNvSpPr/>
                  <p:nvPr/>
                </p:nvSpPr>
                <p:spPr>
                  <a:xfrm>
                    <a:off x="2788406" y="2775048"/>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21" name="Rectangle 320">
                    <a:extLst>
                      <a:ext uri="{FF2B5EF4-FFF2-40B4-BE49-F238E27FC236}">
                        <a16:creationId xmlns:a16="http://schemas.microsoft.com/office/drawing/2014/main" id="{C7DBAFCB-DE5D-FAB3-1250-AF7137F90DE4}"/>
                      </a:ext>
                    </a:extLst>
                  </p:cNvPr>
                  <p:cNvSpPr/>
                  <p:nvPr/>
                </p:nvSpPr>
                <p:spPr>
                  <a:xfrm>
                    <a:off x="2693625" y="2775048"/>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22" name="Rectangle 321">
                    <a:extLst>
                      <a:ext uri="{FF2B5EF4-FFF2-40B4-BE49-F238E27FC236}">
                        <a16:creationId xmlns:a16="http://schemas.microsoft.com/office/drawing/2014/main" id="{7F2E02F2-B303-B33A-89A1-C01595E32730}"/>
                      </a:ext>
                    </a:extLst>
                  </p:cNvPr>
                  <p:cNvSpPr/>
                  <p:nvPr/>
                </p:nvSpPr>
                <p:spPr>
                  <a:xfrm>
                    <a:off x="2456675" y="2775048"/>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23" name="Rectangle 322">
                    <a:extLst>
                      <a:ext uri="{FF2B5EF4-FFF2-40B4-BE49-F238E27FC236}">
                        <a16:creationId xmlns:a16="http://schemas.microsoft.com/office/drawing/2014/main" id="{62D7DC88-7E20-914B-9D1F-08A5F4156014}"/>
                      </a:ext>
                    </a:extLst>
                  </p:cNvPr>
                  <p:cNvSpPr/>
                  <p:nvPr/>
                </p:nvSpPr>
                <p:spPr>
                  <a:xfrm>
                    <a:off x="2551455" y="2775048"/>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24" name="Rectangle 323">
                    <a:extLst>
                      <a:ext uri="{FF2B5EF4-FFF2-40B4-BE49-F238E27FC236}">
                        <a16:creationId xmlns:a16="http://schemas.microsoft.com/office/drawing/2014/main" id="{65FEAB6D-DACB-00E4-1AF5-EA5A39CEA8C0}"/>
                      </a:ext>
                    </a:extLst>
                  </p:cNvPr>
                  <p:cNvSpPr/>
                  <p:nvPr/>
                </p:nvSpPr>
                <p:spPr>
                  <a:xfrm>
                    <a:off x="2598845" y="2775048"/>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25" name="Rectangle 324">
                    <a:extLst>
                      <a:ext uri="{FF2B5EF4-FFF2-40B4-BE49-F238E27FC236}">
                        <a16:creationId xmlns:a16="http://schemas.microsoft.com/office/drawing/2014/main" id="{AAAFB599-3228-F510-FAE6-07F75E492519}"/>
                      </a:ext>
                    </a:extLst>
                  </p:cNvPr>
                  <p:cNvSpPr/>
                  <p:nvPr/>
                </p:nvSpPr>
                <p:spPr>
                  <a:xfrm>
                    <a:off x="2504065" y="2775048"/>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26" name="Rectangle 325">
                    <a:extLst>
                      <a:ext uri="{FF2B5EF4-FFF2-40B4-BE49-F238E27FC236}">
                        <a16:creationId xmlns:a16="http://schemas.microsoft.com/office/drawing/2014/main" id="{81C08759-3D8E-F730-A476-C63F234D18FC}"/>
                      </a:ext>
                    </a:extLst>
                  </p:cNvPr>
                  <p:cNvSpPr/>
                  <p:nvPr/>
                </p:nvSpPr>
                <p:spPr>
                  <a:xfrm>
                    <a:off x="2314505" y="2775048"/>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27" name="Rectangle 326">
                    <a:extLst>
                      <a:ext uri="{FF2B5EF4-FFF2-40B4-BE49-F238E27FC236}">
                        <a16:creationId xmlns:a16="http://schemas.microsoft.com/office/drawing/2014/main" id="{E899BDC0-D96A-31FD-07DF-262C8A66A57F}"/>
                      </a:ext>
                    </a:extLst>
                  </p:cNvPr>
                  <p:cNvSpPr/>
                  <p:nvPr/>
                </p:nvSpPr>
                <p:spPr>
                  <a:xfrm>
                    <a:off x="2409285" y="2775048"/>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28" name="Rectangle 327">
                    <a:extLst>
                      <a:ext uri="{FF2B5EF4-FFF2-40B4-BE49-F238E27FC236}">
                        <a16:creationId xmlns:a16="http://schemas.microsoft.com/office/drawing/2014/main" id="{78616BBF-FC11-D5C3-346D-992D114D7A5C}"/>
                      </a:ext>
                    </a:extLst>
                  </p:cNvPr>
                  <p:cNvSpPr/>
                  <p:nvPr/>
                </p:nvSpPr>
                <p:spPr>
                  <a:xfrm>
                    <a:off x="2361895" y="2775048"/>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grpSp>
              <p:nvGrpSpPr>
                <p:cNvPr id="258" name="Group 257">
                  <a:extLst>
                    <a:ext uri="{FF2B5EF4-FFF2-40B4-BE49-F238E27FC236}">
                      <a16:creationId xmlns:a16="http://schemas.microsoft.com/office/drawing/2014/main" id="{2BF87E33-2553-672E-6938-2831858E1FB3}"/>
                    </a:ext>
                  </a:extLst>
                </p:cNvPr>
                <p:cNvGrpSpPr/>
                <p:nvPr/>
              </p:nvGrpSpPr>
              <p:grpSpPr>
                <a:xfrm>
                  <a:off x="6055609" y="4487842"/>
                  <a:ext cx="1798023" cy="159520"/>
                  <a:chOff x="2849198" y="2724987"/>
                  <a:chExt cx="2484135" cy="100779"/>
                </a:xfrm>
              </p:grpSpPr>
              <p:grpSp>
                <p:nvGrpSpPr>
                  <p:cNvPr id="259" name="Group 258">
                    <a:extLst>
                      <a:ext uri="{FF2B5EF4-FFF2-40B4-BE49-F238E27FC236}">
                        <a16:creationId xmlns:a16="http://schemas.microsoft.com/office/drawing/2014/main" id="{95CA8AAE-5C1E-C6A1-E4F0-63224781567D}"/>
                      </a:ext>
                    </a:extLst>
                  </p:cNvPr>
                  <p:cNvGrpSpPr/>
                  <p:nvPr/>
                </p:nvGrpSpPr>
                <p:grpSpPr>
                  <a:xfrm>
                    <a:off x="2849198" y="2724987"/>
                    <a:ext cx="1098378" cy="100779"/>
                    <a:chOff x="2873316" y="3008689"/>
                    <a:chExt cx="1098378" cy="100779"/>
                  </a:xfrm>
                </p:grpSpPr>
                <p:grpSp>
                  <p:nvGrpSpPr>
                    <p:cNvPr id="293" name="Group 292">
                      <a:extLst>
                        <a:ext uri="{FF2B5EF4-FFF2-40B4-BE49-F238E27FC236}">
                          <a16:creationId xmlns:a16="http://schemas.microsoft.com/office/drawing/2014/main" id="{4B1394A1-396E-4143-1A89-408DBC8823A4}"/>
                        </a:ext>
                      </a:extLst>
                    </p:cNvPr>
                    <p:cNvGrpSpPr/>
                    <p:nvPr/>
                  </p:nvGrpSpPr>
                  <p:grpSpPr>
                    <a:xfrm>
                      <a:off x="2873316" y="3008689"/>
                      <a:ext cx="472229" cy="100779"/>
                      <a:chOff x="2868758" y="3984964"/>
                      <a:chExt cx="472229" cy="100779"/>
                    </a:xfrm>
                  </p:grpSpPr>
                  <p:sp>
                    <p:nvSpPr>
                      <p:cNvPr id="308" name="Rectangle 307">
                        <a:extLst>
                          <a:ext uri="{FF2B5EF4-FFF2-40B4-BE49-F238E27FC236}">
                            <a16:creationId xmlns:a16="http://schemas.microsoft.com/office/drawing/2014/main" id="{951A6E63-9BDD-C1EE-F192-C9CA8AB43A03}"/>
                          </a:ext>
                        </a:extLst>
                      </p:cNvPr>
                      <p:cNvSpPr/>
                      <p:nvPr/>
                    </p:nvSpPr>
                    <p:spPr>
                      <a:xfrm>
                        <a:off x="320048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09" name="Rectangle 308">
                        <a:extLst>
                          <a:ext uri="{FF2B5EF4-FFF2-40B4-BE49-F238E27FC236}">
                            <a16:creationId xmlns:a16="http://schemas.microsoft.com/office/drawing/2014/main" id="{2CD3DA33-089B-89C3-348E-ED6A2C8483C0}"/>
                          </a:ext>
                        </a:extLst>
                      </p:cNvPr>
                      <p:cNvSpPr/>
                      <p:nvPr/>
                    </p:nvSpPr>
                    <p:spPr>
                      <a:xfrm>
                        <a:off x="329526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10" name="Rectangle 309">
                        <a:extLst>
                          <a:ext uri="{FF2B5EF4-FFF2-40B4-BE49-F238E27FC236}">
                            <a16:creationId xmlns:a16="http://schemas.microsoft.com/office/drawing/2014/main" id="{A1A121F0-4422-1A80-5356-0C843443C7C8}"/>
                          </a:ext>
                        </a:extLst>
                      </p:cNvPr>
                      <p:cNvSpPr/>
                      <p:nvPr/>
                    </p:nvSpPr>
                    <p:spPr>
                      <a:xfrm>
                        <a:off x="324787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11" name="Rectangle 310">
                        <a:extLst>
                          <a:ext uri="{FF2B5EF4-FFF2-40B4-BE49-F238E27FC236}">
                            <a16:creationId xmlns:a16="http://schemas.microsoft.com/office/drawing/2014/main" id="{1344D3BD-97C9-DDEE-8026-136D528EFDA9}"/>
                          </a:ext>
                        </a:extLst>
                      </p:cNvPr>
                      <p:cNvSpPr/>
                      <p:nvPr/>
                    </p:nvSpPr>
                    <p:spPr>
                      <a:xfrm>
                        <a:off x="301092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12" name="Rectangle 311">
                        <a:extLst>
                          <a:ext uri="{FF2B5EF4-FFF2-40B4-BE49-F238E27FC236}">
                            <a16:creationId xmlns:a16="http://schemas.microsoft.com/office/drawing/2014/main" id="{F9CB7604-D381-5FBD-5D39-BDDB252026E3}"/>
                          </a:ext>
                        </a:extLst>
                      </p:cNvPr>
                      <p:cNvSpPr/>
                      <p:nvPr/>
                    </p:nvSpPr>
                    <p:spPr>
                      <a:xfrm>
                        <a:off x="310570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13" name="Rectangle 312">
                        <a:extLst>
                          <a:ext uri="{FF2B5EF4-FFF2-40B4-BE49-F238E27FC236}">
                            <a16:creationId xmlns:a16="http://schemas.microsoft.com/office/drawing/2014/main" id="{B02FA422-1FFC-1C2A-A570-A80F09F6F766}"/>
                          </a:ext>
                        </a:extLst>
                      </p:cNvPr>
                      <p:cNvSpPr/>
                      <p:nvPr/>
                    </p:nvSpPr>
                    <p:spPr>
                      <a:xfrm>
                        <a:off x="315309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14" name="Rectangle 313">
                        <a:extLst>
                          <a:ext uri="{FF2B5EF4-FFF2-40B4-BE49-F238E27FC236}">
                            <a16:creationId xmlns:a16="http://schemas.microsoft.com/office/drawing/2014/main" id="{F36DFB24-2D2C-C481-5B06-3CDB4F1297FE}"/>
                          </a:ext>
                        </a:extLst>
                      </p:cNvPr>
                      <p:cNvSpPr/>
                      <p:nvPr/>
                    </p:nvSpPr>
                    <p:spPr>
                      <a:xfrm>
                        <a:off x="305831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15" name="Rectangle 314">
                        <a:extLst>
                          <a:ext uri="{FF2B5EF4-FFF2-40B4-BE49-F238E27FC236}">
                            <a16:creationId xmlns:a16="http://schemas.microsoft.com/office/drawing/2014/main" id="{77AD625E-5D91-DD2F-B3EF-3E1EA6533069}"/>
                          </a:ext>
                        </a:extLst>
                      </p:cNvPr>
                      <p:cNvSpPr/>
                      <p:nvPr/>
                    </p:nvSpPr>
                    <p:spPr>
                      <a:xfrm>
                        <a:off x="286875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16" name="Rectangle 315">
                        <a:extLst>
                          <a:ext uri="{FF2B5EF4-FFF2-40B4-BE49-F238E27FC236}">
                            <a16:creationId xmlns:a16="http://schemas.microsoft.com/office/drawing/2014/main" id="{2CB6CA1B-A959-20DF-BEAF-B249A7876F30}"/>
                          </a:ext>
                        </a:extLst>
                      </p:cNvPr>
                      <p:cNvSpPr/>
                      <p:nvPr/>
                    </p:nvSpPr>
                    <p:spPr>
                      <a:xfrm>
                        <a:off x="296353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17" name="Rectangle 316">
                        <a:extLst>
                          <a:ext uri="{FF2B5EF4-FFF2-40B4-BE49-F238E27FC236}">
                            <a16:creationId xmlns:a16="http://schemas.microsoft.com/office/drawing/2014/main" id="{27A982F5-8081-7957-2CAE-B5264B9EC0AA}"/>
                          </a:ext>
                        </a:extLst>
                      </p:cNvPr>
                      <p:cNvSpPr/>
                      <p:nvPr/>
                    </p:nvSpPr>
                    <p:spPr>
                      <a:xfrm>
                        <a:off x="291614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grpSp>
                  <p:nvGrpSpPr>
                    <p:cNvPr id="294" name="Group 293">
                      <a:extLst>
                        <a:ext uri="{FF2B5EF4-FFF2-40B4-BE49-F238E27FC236}">
                          <a16:creationId xmlns:a16="http://schemas.microsoft.com/office/drawing/2014/main" id="{B7210949-3F43-F3FF-85A0-E56FD4DA7281}"/>
                        </a:ext>
                      </a:extLst>
                    </p:cNvPr>
                    <p:cNvGrpSpPr/>
                    <p:nvPr/>
                  </p:nvGrpSpPr>
                  <p:grpSpPr>
                    <a:xfrm>
                      <a:off x="3349736" y="3008689"/>
                      <a:ext cx="472229" cy="100779"/>
                      <a:chOff x="2868758" y="3984964"/>
                      <a:chExt cx="472229" cy="100779"/>
                    </a:xfrm>
                  </p:grpSpPr>
                  <p:sp>
                    <p:nvSpPr>
                      <p:cNvPr id="298" name="Rectangle 297">
                        <a:extLst>
                          <a:ext uri="{FF2B5EF4-FFF2-40B4-BE49-F238E27FC236}">
                            <a16:creationId xmlns:a16="http://schemas.microsoft.com/office/drawing/2014/main" id="{4D9133F7-5CD1-C1A0-E594-D3BCFEF8E5AF}"/>
                          </a:ext>
                        </a:extLst>
                      </p:cNvPr>
                      <p:cNvSpPr/>
                      <p:nvPr/>
                    </p:nvSpPr>
                    <p:spPr>
                      <a:xfrm>
                        <a:off x="320048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99" name="Rectangle 298">
                        <a:extLst>
                          <a:ext uri="{FF2B5EF4-FFF2-40B4-BE49-F238E27FC236}">
                            <a16:creationId xmlns:a16="http://schemas.microsoft.com/office/drawing/2014/main" id="{22C72208-0FF2-9BA2-9004-E07F4EF681E0}"/>
                          </a:ext>
                        </a:extLst>
                      </p:cNvPr>
                      <p:cNvSpPr/>
                      <p:nvPr/>
                    </p:nvSpPr>
                    <p:spPr>
                      <a:xfrm>
                        <a:off x="329526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00" name="Rectangle 299">
                        <a:extLst>
                          <a:ext uri="{FF2B5EF4-FFF2-40B4-BE49-F238E27FC236}">
                            <a16:creationId xmlns:a16="http://schemas.microsoft.com/office/drawing/2014/main" id="{D85C602E-19CA-59CE-63C5-EA5FFD28B77F}"/>
                          </a:ext>
                        </a:extLst>
                      </p:cNvPr>
                      <p:cNvSpPr/>
                      <p:nvPr/>
                    </p:nvSpPr>
                    <p:spPr>
                      <a:xfrm>
                        <a:off x="324787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01" name="Rectangle 300">
                        <a:extLst>
                          <a:ext uri="{FF2B5EF4-FFF2-40B4-BE49-F238E27FC236}">
                            <a16:creationId xmlns:a16="http://schemas.microsoft.com/office/drawing/2014/main" id="{BA650629-C86D-76FD-8321-1CC3DD24228C}"/>
                          </a:ext>
                        </a:extLst>
                      </p:cNvPr>
                      <p:cNvSpPr/>
                      <p:nvPr/>
                    </p:nvSpPr>
                    <p:spPr>
                      <a:xfrm>
                        <a:off x="301092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02" name="Rectangle 301">
                        <a:extLst>
                          <a:ext uri="{FF2B5EF4-FFF2-40B4-BE49-F238E27FC236}">
                            <a16:creationId xmlns:a16="http://schemas.microsoft.com/office/drawing/2014/main" id="{E9C59A2D-B15A-5136-F521-76D94BB6F893}"/>
                          </a:ext>
                        </a:extLst>
                      </p:cNvPr>
                      <p:cNvSpPr/>
                      <p:nvPr/>
                    </p:nvSpPr>
                    <p:spPr>
                      <a:xfrm>
                        <a:off x="310570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03" name="Rectangle 302">
                        <a:extLst>
                          <a:ext uri="{FF2B5EF4-FFF2-40B4-BE49-F238E27FC236}">
                            <a16:creationId xmlns:a16="http://schemas.microsoft.com/office/drawing/2014/main" id="{94103EAF-EC9C-1916-B494-17CED8E0D7D4}"/>
                          </a:ext>
                        </a:extLst>
                      </p:cNvPr>
                      <p:cNvSpPr/>
                      <p:nvPr/>
                    </p:nvSpPr>
                    <p:spPr>
                      <a:xfrm>
                        <a:off x="315309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04" name="Rectangle 303">
                        <a:extLst>
                          <a:ext uri="{FF2B5EF4-FFF2-40B4-BE49-F238E27FC236}">
                            <a16:creationId xmlns:a16="http://schemas.microsoft.com/office/drawing/2014/main" id="{1B50CE5D-56D1-0FC2-1831-102520F8ECF9}"/>
                          </a:ext>
                        </a:extLst>
                      </p:cNvPr>
                      <p:cNvSpPr/>
                      <p:nvPr/>
                    </p:nvSpPr>
                    <p:spPr>
                      <a:xfrm>
                        <a:off x="305831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05" name="Rectangle 304">
                        <a:extLst>
                          <a:ext uri="{FF2B5EF4-FFF2-40B4-BE49-F238E27FC236}">
                            <a16:creationId xmlns:a16="http://schemas.microsoft.com/office/drawing/2014/main" id="{C6C46599-3572-EF80-8543-999FD61CE9FB}"/>
                          </a:ext>
                        </a:extLst>
                      </p:cNvPr>
                      <p:cNvSpPr/>
                      <p:nvPr/>
                    </p:nvSpPr>
                    <p:spPr>
                      <a:xfrm>
                        <a:off x="286875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06" name="Rectangle 305">
                        <a:extLst>
                          <a:ext uri="{FF2B5EF4-FFF2-40B4-BE49-F238E27FC236}">
                            <a16:creationId xmlns:a16="http://schemas.microsoft.com/office/drawing/2014/main" id="{1B3DA789-424F-36FC-8EDD-30C8F602DAE4}"/>
                          </a:ext>
                        </a:extLst>
                      </p:cNvPr>
                      <p:cNvSpPr/>
                      <p:nvPr/>
                    </p:nvSpPr>
                    <p:spPr>
                      <a:xfrm>
                        <a:off x="296353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07" name="Rectangle 306">
                        <a:extLst>
                          <a:ext uri="{FF2B5EF4-FFF2-40B4-BE49-F238E27FC236}">
                            <a16:creationId xmlns:a16="http://schemas.microsoft.com/office/drawing/2014/main" id="{994B6FFA-1E9E-744B-17B6-62EEFA6770A7}"/>
                          </a:ext>
                        </a:extLst>
                      </p:cNvPr>
                      <p:cNvSpPr/>
                      <p:nvPr/>
                    </p:nvSpPr>
                    <p:spPr>
                      <a:xfrm>
                        <a:off x="291614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sp>
                  <p:nvSpPr>
                    <p:cNvPr id="295" name="Rectangle 294">
                      <a:extLst>
                        <a:ext uri="{FF2B5EF4-FFF2-40B4-BE49-F238E27FC236}">
                          <a16:creationId xmlns:a16="http://schemas.microsoft.com/office/drawing/2014/main" id="{507D1DBE-36C3-841C-F90F-2D56C3C5F3E6}"/>
                        </a:ext>
                      </a:extLst>
                    </p:cNvPr>
                    <p:cNvSpPr/>
                    <p:nvPr/>
                  </p:nvSpPr>
                  <p:spPr>
                    <a:xfrm>
                      <a:off x="3876066" y="3008689"/>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96" name="Rectangle 295">
                      <a:extLst>
                        <a:ext uri="{FF2B5EF4-FFF2-40B4-BE49-F238E27FC236}">
                          <a16:creationId xmlns:a16="http://schemas.microsoft.com/office/drawing/2014/main" id="{BDBED669-8FA7-CA8E-637C-CD579EEAB902}"/>
                        </a:ext>
                      </a:extLst>
                    </p:cNvPr>
                    <p:cNvSpPr/>
                    <p:nvPr/>
                  </p:nvSpPr>
                  <p:spPr>
                    <a:xfrm>
                      <a:off x="3925975" y="3008689"/>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97" name="Rectangle 296">
                      <a:extLst>
                        <a:ext uri="{FF2B5EF4-FFF2-40B4-BE49-F238E27FC236}">
                          <a16:creationId xmlns:a16="http://schemas.microsoft.com/office/drawing/2014/main" id="{C27365BB-03A2-B07E-EE9E-61D5E03DE900}"/>
                        </a:ext>
                      </a:extLst>
                    </p:cNvPr>
                    <p:cNvSpPr/>
                    <p:nvPr/>
                  </p:nvSpPr>
                  <p:spPr>
                    <a:xfrm>
                      <a:off x="3826156" y="3008689"/>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grpSp>
                <p:nvGrpSpPr>
                  <p:cNvPr id="260" name="Group 259">
                    <a:extLst>
                      <a:ext uri="{FF2B5EF4-FFF2-40B4-BE49-F238E27FC236}">
                        <a16:creationId xmlns:a16="http://schemas.microsoft.com/office/drawing/2014/main" id="{BA426451-4EF7-D6AA-70C2-25E40B7719CB}"/>
                      </a:ext>
                    </a:extLst>
                  </p:cNvPr>
                  <p:cNvGrpSpPr/>
                  <p:nvPr/>
                </p:nvGrpSpPr>
                <p:grpSpPr>
                  <a:xfrm>
                    <a:off x="3950437" y="2724987"/>
                    <a:ext cx="1098378" cy="100779"/>
                    <a:chOff x="2873316" y="3008689"/>
                    <a:chExt cx="1098378" cy="100779"/>
                  </a:xfrm>
                </p:grpSpPr>
                <p:grpSp>
                  <p:nvGrpSpPr>
                    <p:cNvPr id="268" name="Group 267">
                      <a:extLst>
                        <a:ext uri="{FF2B5EF4-FFF2-40B4-BE49-F238E27FC236}">
                          <a16:creationId xmlns:a16="http://schemas.microsoft.com/office/drawing/2014/main" id="{92282D95-D796-B709-E3A3-09CF90C784E3}"/>
                        </a:ext>
                      </a:extLst>
                    </p:cNvPr>
                    <p:cNvGrpSpPr/>
                    <p:nvPr/>
                  </p:nvGrpSpPr>
                  <p:grpSpPr>
                    <a:xfrm>
                      <a:off x="2873316" y="3008689"/>
                      <a:ext cx="472229" cy="100779"/>
                      <a:chOff x="2868758" y="3984964"/>
                      <a:chExt cx="472229" cy="100779"/>
                    </a:xfrm>
                  </p:grpSpPr>
                  <p:sp>
                    <p:nvSpPr>
                      <p:cNvPr id="283" name="Rectangle 282">
                        <a:extLst>
                          <a:ext uri="{FF2B5EF4-FFF2-40B4-BE49-F238E27FC236}">
                            <a16:creationId xmlns:a16="http://schemas.microsoft.com/office/drawing/2014/main" id="{6E29BCD4-BC41-CE36-24A6-A20432DAB495}"/>
                          </a:ext>
                        </a:extLst>
                      </p:cNvPr>
                      <p:cNvSpPr/>
                      <p:nvPr/>
                    </p:nvSpPr>
                    <p:spPr>
                      <a:xfrm>
                        <a:off x="320048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84" name="Rectangle 283">
                        <a:extLst>
                          <a:ext uri="{FF2B5EF4-FFF2-40B4-BE49-F238E27FC236}">
                            <a16:creationId xmlns:a16="http://schemas.microsoft.com/office/drawing/2014/main" id="{BD98ADAF-D590-51C3-C9AC-8381E96F659A}"/>
                          </a:ext>
                        </a:extLst>
                      </p:cNvPr>
                      <p:cNvSpPr/>
                      <p:nvPr/>
                    </p:nvSpPr>
                    <p:spPr>
                      <a:xfrm>
                        <a:off x="329526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85" name="Rectangle 284">
                        <a:extLst>
                          <a:ext uri="{FF2B5EF4-FFF2-40B4-BE49-F238E27FC236}">
                            <a16:creationId xmlns:a16="http://schemas.microsoft.com/office/drawing/2014/main" id="{499E00ED-A60A-8549-8E20-7DF533F32F77}"/>
                          </a:ext>
                        </a:extLst>
                      </p:cNvPr>
                      <p:cNvSpPr/>
                      <p:nvPr/>
                    </p:nvSpPr>
                    <p:spPr>
                      <a:xfrm>
                        <a:off x="324787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86" name="Rectangle 285">
                        <a:extLst>
                          <a:ext uri="{FF2B5EF4-FFF2-40B4-BE49-F238E27FC236}">
                            <a16:creationId xmlns:a16="http://schemas.microsoft.com/office/drawing/2014/main" id="{2989B658-6977-BCD1-6C02-2E475A788F76}"/>
                          </a:ext>
                        </a:extLst>
                      </p:cNvPr>
                      <p:cNvSpPr/>
                      <p:nvPr/>
                    </p:nvSpPr>
                    <p:spPr>
                      <a:xfrm>
                        <a:off x="301092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87" name="Rectangle 286">
                        <a:extLst>
                          <a:ext uri="{FF2B5EF4-FFF2-40B4-BE49-F238E27FC236}">
                            <a16:creationId xmlns:a16="http://schemas.microsoft.com/office/drawing/2014/main" id="{6176B549-27A0-43F6-9ADF-2C5C0FC89C95}"/>
                          </a:ext>
                        </a:extLst>
                      </p:cNvPr>
                      <p:cNvSpPr/>
                      <p:nvPr/>
                    </p:nvSpPr>
                    <p:spPr>
                      <a:xfrm>
                        <a:off x="310570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88" name="Rectangle 287">
                        <a:extLst>
                          <a:ext uri="{FF2B5EF4-FFF2-40B4-BE49-F238E27FC236}">
                            <a16:creationId xmlns:a16="http://schemas.microsoft.com/office/drawing/2014/main" id="{B2997211-0750-1188-1C20-C30E27A4CC23}"/>
                          </a:ext>
                        </a:extLst>
                      </p:cNvPr>
                      <p:cNvSpPr/>
                      <p:nvPr/>
                    </p:nvSpPr>
                    <p:spPr>
                      <a:xfrm>
                        <a:off x="315309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89" name="Rectangle 288">
                        <a:extLst>
                          <a:ext uri="{FF2B5EF4-FFF2-40B4-BE49-F238E27FC236}">
                            <a16:creationId xmlns:a16="http://schemas.microsoft.com/office/drawing/2014/main" id="{8FFA6324-57E1-6E3A-BF17-96AC1ADDB5B6}"/>
                          </a:ext>
                        </a:extLst>
                      </p:cNvPr>
                      <p:cNvSpPr/>
                      <p:nvPr/>
                    </p:nvSpPr>
                    <p:spPr>
                      <a:xfrm>
                        <a:off x="305831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90" name="Rectangle 289">
                        <a:extLst>
                          <a:ext uri="{FF2B5EF4-FFF2-40B4-BE49-F238E27FC236}">
                            <a16:creationId xmlns:a16="http://schemas.microsoft.com/office/drawing/2014/main" id="{49A6B008-1F78-820A-C401-8C3157B0E6AE}"/>
                          </a:ext>
                        </a:extLst>
                      </p:cNvPr>
                      <p:cNvSpPr/>
                      <p:nvPr/>
                    </p:nvSpPr>
                    <p:spPr>
                      <a:xfrm>
                        <a:off x="286875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91" name="Rectangle 290">
                        <a:extLst>
                          <a:ext uri="{FF2B5EF4-FFF2-40B4-BE49-F238E27FC236}">
                            <a16:creationId xmlns:a16="http://schemas.microsoft.com/office/drawing/2014/main" id="{057A59C0-A51D-4352-8832-02925A408883}"/>
                          </a:ext>
                        </a:extLst>
                      </p:cNvPr>
                      <p:cNvSpPr/>
                      <p:nvPr/>
                    </p:nvSpPr>
                    <p:spPr>
                      <a:xfrm>
                        <a:off x="296353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92" name="Rectangle 291">
                        <a:extLst>
                          <a:ext uri="{FF2B5EF4-FFF2-40B4-BE49-F238E27FC236}">
                            <a16:creationId xmlns:a16="http://schemas.microsoft.com/office/drawing/2014/main" id="{BBA1AD88-1863-765D-4BAA-2B0772463700}"/>
                          </a:ext>
                        </a:extLst>
                      </p:cNvPr>
                      <p:cNvSpPr/>
                      <p:nvPr/>
                    </p:nvSpPr>
                    <p:spPr>
                      <a:xfrm>
                        <a:off x="291614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grpSp>
                  <p:nvGrpSpPr>
                    <p:cNvPr id="269" name="Group 268">
                      <a:extLst>
                        <a:ext uri="{FF2B5EF4-FFF2-40B4-BE49-F238E27FC236}">
                          <a16:creationId xmlns:a16="http://schemas.microsoft.com/office/drawing/2014/main" id="{8CF8F04A-A5DA-E1C9-D701-7529905F5A9B}"/>
                        </a:ext>
                      </a:extLst>
                    </p:cNvPr>
                    <p:cNvGrpSpPr/>
                    <p:nvPr/>
                  </p:nvGrpSpPr>
                  <p:grpSpPr>
                    <a:xfrm>
                      <a:off x="3349736" y="3008689"/>
                      <a:ext cx="472229" cy="100779"/>
                      <a:chOff x="2868758" y="3984964"/>
                      <a:chExt cx="472229" cy="100779"/>
                    </a:xfrm>
                  </p:grpSpPr>
                  <p:sp>
                    <p:nvSpPr>
                      <p:cNvPr id="273" name="Rectangle 272">
                        <a:extLst>
                          <a:ext uri="{FF2B5EF4-FFF2-40B4-BE49-F238E27FC236}">
                            <a16:creationId xmlns:a16="http://schemas.microsoft.com/office/drawing/2014/main" id="{E74BBA22-CE66-D874-DC5F-74000BBD1D09}"/>
                          </a:ext>
                        </a:extLst>
                      </p:cNvPr>
                      <p:cNvSpPr/>
                      <p:nvPr/>
                    </p:nvSpPr>
                    <p:spPr>
                      <a:xfrm>
                        <a:off x="320048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74" name="Rectangle 273">
                        <a:extLst>
                          <a:ext uri="{FF2B5EF4-FFF2-40B4-BE49-F238E27FC236}">
                            <a16:creationId xmlns:a16="http://schemas.microsoft.com/office/drawing/2014/main" id="{D0244D9A-CCD8-3DF2-7D5D-7D8A4FC5F20C}"/>
                          </a:ext>
                        </a:extLst>
                      </p:cNvPr>
                      <p:cNvSpPr/>
                      <p:nvPr/>
                    </p:nvSpPr>
                    <p:spPr>
                      <a:xfrm>
                        <a:off x="329526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75" name="Rectangle 274">
                        <a:extLst>
                          <a:ext uri="{FF2B5EF4-FFF2-40B4-BE49-F238E27FC236}">
                            <a16:creationId xmlns:a16="http://schemas.microsoft.com/office/drawing/2014/main" id="{82239FD2-85E8-2A0B-7EAE-F1D9E308291E}"/>
                          </a:ext>
                        </a:extLst>
                      </p:cNvPr>
                      <p:cNvSpPr/>
                      <p:nvPr/>
                    </p:nvSpPr>
                    <p:spPr>
                      <a:xfrm>
                        <a:off x="324787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76" name="Rectangle 275">
                        <a:extLst>
                          <a:ext uri="{FF2B5EF4-FFF2-40B4-BE49-F238E27FC236}">
                            <a16:creationId xmlns:a16="http://schemas.microsoft.com/office/drawing/2014/main" id="{F1C88545-3B43-113E-959B-A5EC896115CE}"/>
                          </a:ext>
                        </a:extLst>
                      </p:cNvPr>
                      <p:cNvSpPr/>
                      <p:nvPr/>
                    </p:nvSpPr>
                    <p:spPr>
                      <a:xfrm>
                        <a:off x="301092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77" name="Rectangle 276">
                        <a:extLst>
                          <a:ext uri="{FF2B5EF4-FFF2-40B4-BE49-F238E27FC236}">
                            <a16:creationId xmlns:a16="http://schemas.microsoft.com/office/drawing/2014/main" id="{BE0F8369-28A1-ED4E-071D-13B34A45A73E}"/>
                          </a:ext>
                        </a:extLst>
                      </p:cNvPr>
                      <p:cNvSpPr/>
                      <p:nvPr/>
                    </p:nvSpPr>
                    <p:spPr>
                      <a:xfrm>
                        <a:off x="310570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78" name="Rectangle 277">
                        <a:extLst>
                          <a:ext uri="{FF2B5EF4-FFF2-40B4-BE49-F238E27FC236}">
                            <a16:creationId xmlns:a16="http://schemas.microsoft.com/office/drawing/2014/main" id="{23786135-BB1A-F10E-7C29-9D54D0691184}"/>
                          </a:ext>
                        </a:extLst>
                      </p:cNvPr>
                      <p:cNvSpPr/>
                      <p:nvPr/>
                    </p:nvSpPr>
                    <p:spPr>
                      <a:xfrm>
                        <a:off x="315309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79" name="Rectangle 278">
                        <a:extLst>
                          <a:ext uri="{FF2B5EF4-FFF2-40B4-BE49-F238E27FC236}">
                            <a16:creationId xmlns:a16="http://schemas.microsoft.com/office/drawing/2014/main" id="{535A5586-1CAE-99B6-E766-1E132732A89B}"/>
                          </a:ext>
                        </a:extLst>
                      </p:cNvPr>
                      <p:cNvSpPr/>
                      <p:nvPr/>
                    </p:nvSpPr>
                    <p:spPr>
                      <a:xfrm>
                        <a:off x="305831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80" name="Rectangle 279">
                        <a:extLst>
                          <a:ext uri="{FF2B5EF4-FFF2-40B4-BE49-F238E27FC236}">
                            <a16:creationId xmlns:a16="http://schemas.microsoft.com/office/drawing/2014/main" id="{546B6467-521C-4B7C-B5F7-063504F78DE4}"/>
                          </a:ext>
                        </a:extLst>
                      </p:cNvPr>
                      <p:cNvSpPr/>
                      <p:nvPr/>
                    </p:nvSpPr>
                    <p:spPr>
                      <a:xfrm>
                        <a:off x="286875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81" name="Rectangle 280">
                        <a:extLst>
                          <a:ext uri="{FF2B5EF4-FFF2-40B4-BE49-F238E27FC236}">
                            <a16:creationId xmlns:a16="http://schemas.microsoft.com/office/drawing/2014/main" id="{40E8DF84-5288-5E15-0FC4-5F74B5FDB9F7}"/>
                          </a:ext>
                        </a:extLst>
                      </p:cNvPr>
                      <p:cNvSpPr/>
                      <p:nvPr/>
                    </p:nvSpPr>
                    <p:spPr>
                      <a:xfrm>
                        <a:off x="296353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82" name="Rectangle 281">
                        <a:extLst>
                          <a:ext uri="{FF2B5EF4-FFF2-40B4-BE49-F238E27FC236}">
                            <a16:creationId xmlns:a16="http://schemas.microsoft.com/office/drawing/2014/main" id="{0E45BB1D-49E5-3A98-5C22-B4927D1B9881}"/>
                          </a:ext>
                        </a:extLst>
                      </p:cNvPr>
                      <p:cNvSpPr/>
                      <p:nvPr/>
                    </p:nvSpPr>
                    <p:spPr>
                      <a:xfrm>
                        <a:off x="291614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sp>
                  <p:nvSpPr>
                    <p:cNvPr id="270" name="Rectangle 269">
                      <a:extLst>
                        <a:ext uri="{FF2B5EF4-FFF2-40B4-BE49-F238E27FC236}">
                          <a16:creationId xmlns:a16="http://schemas.microsoft.com/office/drawing/2014/main" id="{8DE3AD46-5381-4798-68C8-67EF92967496}"/>
                        </a:ext>
                      </a:extLst>
                    </p:cNvPr>
                    <p:cNvSpPr/>
                    <p:nvPr/>
                  </p:nvSpPr>
                  <p:spPr>
                    <a:xfrm>
                      <a:off x="3876066" y="3008689"/>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71" name="Rectangle 270">
                      <a:extLst>
                        <a:ext uri="{FF2B5EF4-FFF2-40B4-BE49-F238E27FC236}">
                          <a16:creationId xmlns:a16="http://schemas.microsoft.com/office/drawing/2014/main" id="{55A4C0E2-2249-AF17-820A-B2EFDADF7F22}"/>
                        </a:ext>
                      </a:extLst>
                    </p:cNvPr>
                    <p:cNvSpPr/>
                    <p:nvPr/>
                  </p:nvSpPr>
                  <p:spPr>
                    <a:xfrm>
                      <a:off x="3925975" y="3008689"/>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72" name="Rectangle 271">
                      <a:extLst>
                        <a:ext uri="{FF2B5EF4-FFF2-40B4-BE49-F238E27FC236}">
                          <a16:creationId xmlns:a16="http://schemas.microsoft.com/office/drawing/2014/main" id="{CD4657C8-4FF5-6D8C-E326-6A8A83DF1997}"/>
                        </a:ext>
                      </a:extLst>
                    </p:cNvPr>
                    <p:cNvSpPr/>
                    <p:nvPr/>
                  </p:nvSpPr>
                  <p:spPr>
                    <a:xfrm>
                      <a:off x="3826156" y="3008689"/>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grpSp>
                <p:nvGrpSpPr>
                  <p:cNvPr id="261" name="Group 260">
                    <a:extLst>
                      <a:ext uri="{FF2B5EF4-FFF2-40B4-BE49-F238E27FC236}">
                        <a16:creationId xmlns:a16="http://schemas.microsoft.com/office/drawing/2014/main" id="{026AC2DC-51D8-617A-B759-A094025422BE}"/>
                      </a:ext>
                    </a:extLst>
                  </p:cNvPr>
                  <p:cNvGrpSpPr/>
                  <p:nvPr/>
                </p:nvGrpSpPr>
                <p:grpSpPr>
                  <a:xfrm>
                    <a:off x="5050664" y="2724987"/>
                    <a:ext cx="282669" cy="100779"/>
                    <a:chOff x="3024881" y="3827665"/>
                    <a:chExt cx="282669" cy="100779"/>
                  </a:xfrm>
                </p:grpSpPr>
                <p:sp>
                  <p:nvSpPr>
                    <p:cNvPr id="262" name="Rectangle 261">
                      <a:extLst>
                        <a:ext uri="{FF2B5EF4-FFF2-40B4-BE49-F238E27FC236}">
                          <a16:creationId xmlns:a16="http://schemas.microsoft.com/office/drawing/2014/main" id="{2FBE83F9-0023-F682-896A-46A04F129C8E}"/>
                        </a:ext>
                      </a:extLst>
                    </p:cNvPr>
                    <p:cNvSpPr/>
                    <p:nvPr/>
                  </p:nvSpPr>
                  <p:spPr>
                    <a:xfrm>
                      <a:off x="3167051" y="3827665"/>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63" name="Rectangle 262">
                      <a:extLst>
                        <a:ext uri="{FF2B5EF4-FFF2-40B4-BE49-F238E27FC236}">
                          <a16:creationId xmlns:a16="http://schemas.microsoft.com/office/drawing/2014/main" id="{44A34EBA-3C57-0D5D-088B-3E5769C6DAAC}"/>
                        </a:ext>
                      </a:extLst>
                    </p:cNvPr>
                    <p:cNvSpPr/>
                    <p:nvPr/>
                  </p:nvSpPr>
                  <p:spPr>
                    <a:xfrm>
                      <a:off x="3261831" y="3827665"/>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64" name="Rectangle 263">
                      <a:extLst>
                        <a:ext uri="{FF2B5EF4-FFF2-40B4-BE49-F238E27FC236}">
                          <a16:creationId xmlns:a16="http://schemas.microsoft.com/office/drawing/2014/main" id="{6B452B00-AF97-52C3-9947-4290BBC6EA5C}"/>
                        </a:ext>
                      </a:extLst>
                    </p:cNvPr>
                    <p:cNvSpPr/>
                    <p:nvPr/>
                  </p:nvSpPr>
                  <p:spPr>
                    <a:xfrm>
                      <a:off x="3214441" y="3827665"/>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65" name="Rectangle 264">
                      <a:extLst>
                        <a:ext uri="{FF2B5EF4-FFF2-40B4-BE49-F238E27FC236}">
                          <a16:creationId xmlns:a16="http://schemas.microsoft.com/office/drawing/2014/main" id="{DCC6D2DE-1B7A-4A35-D455-1793735EFFA6}"/>
                        </a:ext>
                      </a:extLst>
                    </p:cNvPr>
                    <p:cNvSpPr/>
                    <p:nvPr/>
                  </p:nvSpPr>
                  <p:spPr>
                    <a:xfrm>
                      <a:off x="3024881" y="3827665"/>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66" name="Rectangle 265">
                      <a:extLst>
                        <a:ext uri="{FF2B5EF4-FFF2-40B4-BE49-F238E27FC236}">
                          <a16:creationId xmlns:a16="http://schemas.microsoft.com/office/drawing/2014/main" id="{ABD2D506-E654-B87D-44E9-7E93C406F6DA}"/>
                        </a:ext>
                      </a:extLst>
                    </p:cNvPr>
                    <p:cNvSpPr/>
                    <p:nvPr/>
                  </p:nvSpPr>
                  <p:spPr>
                    <a:xfrm>
                      <a:off x="3119661" y="3827665"/>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67" name="Rectangle 266">
                      <a:extLst>
                        <a:ext uri="{FF2B5EF4-FFF2-40B4-BE49-F238E27FC236}">
                          <a16:creationId xmlns:a16="http://schemas.microsoft.com/office/drawing/2014/main" id="{DE75FE71-D0DC-F489-5B2A-571123D2C28E}"/>
                        </a:ext>
                      </a:extLst>
                    </p:cNvPr>
                    <p:cNvSpPr/>
                    <p:nvPr/>
                  </p:nvSpPr>
                  <p:spPr>
                    <a:xfrm>
                      <a:off x="3072271" y="3827665"/>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grpSp>
          </p:grpSp>
          <p:pic>
            <p:nvPicPr>
              <p:cNvPr id="233" name="Picture 232" descr="A black background with a black square&#10;&#10;AI-generated content may be incorrect.">
                <a:extLst>
                  <a:ext uri="{FF2B5EF4-FFF2-40B4-BE49-F238E27FC236}">
                    <a16:creationId xmlns:a16="http://schemas.microsoft.com/office/drawing/2014/main" id="{15BBBD68-D522-0AD5-4E7F-4BAF6365215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9680" y="5363463"/>
                <a:ext cx="1200831" cy="1117600"/>
              </a:xfrm>
              <a:prstGeom prst="rect">
                <a:avLst/>
              </a:prstGeom>
            </p:spPr>
          </p:pic>
        </p:grpSp>
        <p:sp>
          <p:nvSpPr>
            <p:cNvPr id="227" name="Content Placeholder 2">
              <a:extLst>
                <a:ext uri="{FF2B5EF4-FFF2-40B4-BE49-F238E27FC236}">
                  <a16:creationId xmlns:a16="http://schemas.microsoft.com/office/drawing/2014/main" id="{AC5AB610-4DAF-8D44-CE04-6A050413C54B}"/>
                </a:ext>
              </a:extLst>
            </p:cNvPr>
            <p:cNvSpPr txBox="1">
              <a:spLocks/>
            </p:cNvSpPr>
            <p:nvPr/>
          </p:nvSpPr>
          <p:spPr>
            <a:xfrm>
              <a:off x="469763" y="2612675"/>
              <a:ext cx="3350941" cy="507963"/>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sz="1500" b="1" dirty="0">
                  <a:solidFill>
                    <a:schemeClr val="bg1"/>
                  </a:solidFill>
                </a:rPr>
                <a:t>Seamless support for</a:t>
              </a:r>
              <a:endParaRPr lang="en-US" sz="1350" b="1" dirty="0">
                <a:solidFill>
                  <a:schemeClr val="bg1"/>
                </a:solidFill>
              </a:endParaRPr>
            </a:p>
          </p:txBody>
        </p:sp>
      </p:grpSp>
      <p:grpSp>
        <p:nvGrpSpPr>
          <p:cNvPr id="443" name="Group 442">
            <a:extLst>
              <a:ext uri="{FF2B5EF4-FFF2-40B4-BE49-F238E27FC236}">
                <a16:creationId xmlns:a16="http://schemas.microsoft.com/office/drawing/2014/main" id="{FA06C25A-D13F-BA9C-D41D-47BFB7EDDABD}"/>
              </a:ext>
            </a:extLst>
          </p:cNvPr>
          <p:cNvGrpSpPr/>
          <p:nvPr/>
        </p:nvGrpSpPr>
        <p:grpSpPr>
          <a:xfrm>
            <a:off x="7887" y="1072915"/>
            <a:ext cx="5650413" cy="3470460"/>
            <a:chOff x="4787932" y="1943049"/>
            <a:chExt cx="7533883" cy="4627279"/>
          </a:xfrm>
        </p:grpSpPr>
        <p:pic>
          <p:nvPicPr>
            <p:cNvPr id="423" name="Picture 422">
              <a:extLst>
                <a:ext uri="{FF2B5EF4-FFF2-40B4-BE49-F238E27FC236}">
                  <a16:creationId xmlns:a16="http://schemas.microsoft.com/office/drawing/2014/main" id="{867D0D89-9083-BF48-5094-BCE7F7103BA0}"/>
                </a:ext>
              </a:extLst>
            </p:cNvPr>
            <p:cNvPicPr>
              <a:picLocks noChangeAspect="1"/>
            </p:cNvPicPr>
            <p:nvPr/>
          </p:nvPicPr>
          <p:blipFill>
            <a:blip r:embed="rId8"/>
            <a:srcRect t="10486"/>
            <a:stretch/>
          </p:blipFill>
          <p:spPr>
            <a:xfrm>
              <a:off x="5134023" y="3828321"/>
              <a:ext cx="2726034" cy="1445908"/>
            </a:xfrm>
            <a:prstGeom prst="rect">
              <a:avLst/>
            </a:prstGeom>
          </p:spPr>
        </p:pic>
        <p:sp>
          <p:nvSpPr>
            <p:cNvPr id="424" name="TextBox 423">
              <a:extLst>
                <a:ext uri="{FF2B5EF4-FFF2-40B4-BE49-F238E27FC236}">
                  <a16:creationId xmlns:a16="http://schemas.microsoft.com/office/drawing/2014/main" id="{3DD73F24-2E8A-BDCD-9B7D-BE9121AB8559}"/>
                </a:ext>
              </a:extLst>
            </p:cNvPr>
            <p:cNvSpPr txBox="1"/>
            <p:nvPr/>
          </p:nvSpPr>
          <p:spPr>
            <a:xfrm>
              <a:off x="6292200" y="5221826"/>
              <a:ext cx="1629079" cy="266740"/>
            </a:xfrm>
            <a:prstGeom prst="rect">
              <a:avLst/>
            </a:prstGeom>
            <a:noFill/>
          </p:spPr>
          <p:txBody>
            <a:bodyPr wrap="none" rtlCol="0">
              <a:spAutoFit/>
            </a:bodyPr>
            <a:lstStyle/>
            <a:p>
              <a:pPr algn="ctr"/>
              <a:r>
                <a:rPr lang="en-US" sz="700" dirty="0"/>
                <a:t>(Bezanson, </a:t>
              </a:r>
              <a:r>
                <a:rPr lang="en-US" sz="700" dirty="0" err="1"/>
                <a:t>e.a.</a:t>
              </a:r>
              <a:r>
                <a:rPr lang="en-US" sz="700" dirty="0"/>
                <a:t>, 2019 [2])</a:t>
              </a:r>
            </a:p>
          </p:txBody>
        </p:sp>
        <p:grpSp>
          <p:nvGrpSpPr>
            <p:cNvPr id="425" name="Group 424">
              <a:extLst>
                <a:ext uri="{FF2B5EF4-FFF2-40B4-BE49-F238E27FC236}">
                  <a16:creationId xmlns:a16="http://schemas.microsoft.com/office/drawing/2014/main" id="{2C762F40-6535-43CE-4F03-D196185B73D5}"/>
                </a:ext>
              </a:extLst>
            </p:cNvPr>
            <p:cNvGrpSpPr/>
            <p:nvPr/>
          </p:nvGrpSpPr>
          <p:grpSpPr>
            <a:xfrm>
              <a:off x="4885775" y="2690983"/>
              <a:ext cx="3222530" cy="642903"/>
              <a:chOff x="501495" y="2041198"/>
              <a:chExt cx="3222530" cy="642903"/>
            </a:xfrm>
          </p:grpSpPr>
          <p:sp>
            <p:nvSpPr>
              <p:cNvPr id="426" name="TextBox 425">
                <a:extLst>
                  <a:ext uri="{FF2B5EF4-FFF2-40B4-BE49-F238E27FC236}">
                    <a16:creationId xmlns:a16="http://schemas.microsoft.com/office/drawing/2014/main" id="{BA89F6C3-1CFC-CF20-8B7D-D482E3575737}"/>
                  </a:ext>
                </a:extLst>
              </p:cNvPr>
              <p:cNvSpPr txBox="1"/>
              <p:nvPr/>
            </p:nvSpPr>
            <p:spPr>
              <a:xfrm>
                <a:off x="501495" y="2041198"/>
                <a:ext cx="3222530" cy="553998"/>
              </a:xfrm>
              <a:prstGeom prst="rect">
                <a:avLst/>
              </a:prstGeom>
              <a:noFill/>
            </p:spPr>
            <p:txBody>
              <a:bodyPr wrap="square">
                <a:spAutoFit/>
              </a:bodyPr>
              <a:lstStyle/>
              <a:p>
                <a:pPr algn="ctr"/>
                <a:r>
                  <a:rPr lang="en-US" sz="1050" dirty="0"/>
                  <a:t>Multiple-dispatch provides composability</a:t>
                </a:r>
                <a:endParaRPr lang="en-BE" sz="1050" dirty="0"/>
              </a:p>
            </p:txBody>
          </p:sp>
          <p:cxnSp>
            <p:nvCxnSpPr>
              <p:cNvPr id="427" name="Straight Connector 426">
                <a:extLst>
                  <a:ext uri="{FF2B5EF4-FFF2-40B4-BE49-F238E27FC236}">
                    <a16:creationId xmlns:a16="http://schemas.microsoft.com/office/drawing/2014/main" id="{A08C6FF0-4B54-F8A1-3B2E-1D29B9E8D4F7}"/>
                  </a:ext>
                </a:extLst>
              </p:cNvPr>
              <p:cNvCxnSpPr>
                <a:cxnSpLocks/>
              </p:cNvCxnSpPr>
              <p:nvPr/>
            </p:nvCxnSpPr>
            <p:spPr>
              <a:xfrm>
                <a:off x="562246" y="2047571"/>
                <a:ext cx="3101027"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28" name="Straight Connector 427">
                <a:extLst>
                  <a:ext uri="{FF2B5EF4-FFF2-40B4-BE49-F238E27FC236}">
                    <a16:creationId xmlns:a16="http://schemas.microsoft.com/office/drawing/2014/main" id="{AF40C75D-D7F0-E0CA-FC3E-4BDB35F5D712}"/>
                  </a:ext>
                </a:extLst>
              </p:cNvPr>
              <p:cNvCxnSpPr>
                <a:cxnSpLocks/>
              </p:cNvCxnSpPr>
              <p:nvPr/>
            </p:nvCxnSpPr>
            <p:spPr>
              <a:xfrm>
                <a:off x="562246" y="2684101"/>
                <a:ext cx="3101027"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grpSp>
          <p:nvGrpSpPr>
            <p:cNvPr id="429" name="Group 428">
              <a:extLst>
                <a:ext uri="{FF2B5EF4-FFF2-40B4-BE49-F238E27FC236}">
                  <a16:creationId xmlns:a16="http://schemas.microsoft.com/office/drawing/2014/main" id="{4086E212-9489-342E-F6BB-9EFED6AA5E69}"/>
                </a:ext>
              </a:extLst>
            </p:cNvPr>
            <p:cNvGrpSpPr/>
            <p:nvPr/>
          </p:nvGrpSpPr>
          <p:grpSpPr>
            <a:xfrm>
              <a:off x="8188316" y="2696435"/>
              <a:ext cx="3591242" cy="642903"/>
              <a:chOff x="537763" y="1549619"/>
              <a:chExt cx="4206548" cy="889092"/>
            </a:xfrm>
          </p:grpSpPr>
          <p:sp>
            <p:nvSpPr>
              <p:cNvPr id="430" name="TextBox 429">
                <a:extLst>
                  <a:ext uri="{FF2B5EF4-FFF2-40B4-BE49-F238E27FC236}">
                    <a16:creationId xmlns:a16="http://schemas.microsoft.com/office/drawing/2014/main" id="{059F123E-C5D5-A8B4-24A8-E32C03B39421}"/>
                  </a:ext>
                </a:extLst>
              </p:cNvPr>
              <p:cNvSpPr txBox="1"/>
              <p:nvPr/>
            </p:nvSpPr>
            <p:spPr>
              <a:xfrm>
                <a:off x="537763" y="1549619"/>
                <a:ext cx="4206548" cy="766142"/>
              </a:xfrm>
              <a:prstGeom prst="rect">
                <a:avLst/>
              </a:prstGeom>
              <a:noFill/>
            </p:spPr>
            <p:txBody>
              <a:bodyPr wrap="square">
                <a:spAutoFit/>
              </a:bodyPr>
              <a:lstStyle/>
              <a:p>
                <a:pPr algn="ctr"/>
                <a:r>
                  <a:rPr lang="en-US" sz="1050" dirty="0"/>
                  <a:t>Kernel abstractions: portable code across GPU vendors</a:t>
                </a:r>
                <a:endParaRPr lang="en-BE" sz="1050" dirty="0"/>
              </a:p>
            </p:txBody>
          </p:sp>
          <p:cxnSp>
            <p:nvCxnSpPr>
              <p:cNvPr id="431" name="Straight Connector 430">
                <a:extLst>
                  <a:ext uri="{FF2B5EF4-FFF2-40B4-BE49-F238E27FC236}">
                    <a16:creationId xmlns:a16="http://schemas.microsoft.com/office/drawing/2014/main" id="{83D71F7A-C4E1-8109-4CF9-9FDCA837CCC1}"/>
                  </a:ext>
                </a:extLst>
              </p:cNvPr>
              <p:cNvCxnSpPr>
                <a:cxnSpLocks/>
              </p:cNvCxnSpPr>
              <p:nvPr/>
            </p:nvCxnSpPr>
            <p:spPr>
              <a:xfrm>
                <a:off x="617065" y="1558432"/>
                <a:ext cx="4047944"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32" name="Straight Connector 431">
                <a:extLst>
                  <a:ext uri="{FF2B5EF4-FFF2-40B4-BE49-F238E27FC236}">
                    <a16:creationId xmlns:a16="http://schemas.microsoft.com/office/drawing/2014/main" id="{9F9901AB-A1AE-22E2-4E53-A06D3801A6B8}"/>
                  </a:ext>
                </a:extLst>
              </p:cNvPr>
              <p:cNvCxnSpPr>
                <a:cxnSpLocks/>
              </p:cNvCxnSpPr>
              <p:nvPr/>
            </p:nvCxnSpPr>
            <p:spPr>
              <a:xfrm>
                <a:off x="617065" y="2438711"/>
                <a:ext cx="4047944"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sp>
          <p:nvSpPr>
            <p:cNvPr id="433" name="TextBox 432">
              <a:extLst>
                <a:ext uri="{FF2B5EF4-FFF2-40B4-BE49-F238E27FC236}">
                  <a16:creationId xmlns:a16="http://schemas.microsoft.com/office/drawing/2014/main" id="{2E07167E-180B-4A06-B610-C9C40F0972B8}"/>
                </a:ext>
              </a:extLst>
            </p:cNvPr>
            <p:cNvSpPr txBox="1"/>
            <p:nvPr/>
          </p:nvSpPr>
          <p:spPr>
            <a:xfrm>
              <a:off x="8372223" y="3833773"/>
              <a:ext cx="3223428" cy="861775"/>
            </a:xfrm>
            <a:prstGeom prst="rect">
              <a:avLst/>
            </a:prstGeom>
            <a:noFill/>
          </p:spPr>
          <p:txBody>
            <a:bodyPr wrap="square" rtlCol="0">
              <a:spAutoFit/>
            </a:bodyPr>
            <a:lstStyle/>
            <a:p>
              <a:r>
                <a:rPr lang="en-US" sz="1200" dirty="0"/>
                <a:t>Kernels compiled to native code through LLVM</a:t>
              </a:r>
              <a:br>
                <a:rPr lang="en-US" sz="1200" dirty="0"/>
              </a:br>
              <a:endParaRPr lang="en-US" sz="1200" dirty="0"/>
            </a:p>
          </p:txBody>
        </p:sp>
        <p:sp>
          <p:nvSpPr>
            <p:cNvPr id="434" name="TextBox 433">
              <a:extLst>
                <a:ext uri="{FF2B5EF4-FFF2-40B4-BE49-F238E27FC236}">
                  <a16:creationId xmlns:a16="http://schemas.microsoft.com/office/drawing/2014/main" id="{64EF9737-CE8C-CEE2-7655-D94C3130D476}"/>
                </a:ext>
              </a:extLst>
            </p:cNvPr>
            <p:cNvSpPr txBox="1"/>
            <p:nvPr/>
          </p:nvSpPr>
          <p:spPr>
            <a:xfrm>
              <a:off x="4787932" y="5636058"/>
              <a:ext cx="3523540" cy="769441"/>
            </a:xfrm>
            <a:prstGeom prst="rect">
              <a:avLst/>
            </a:prstGeom>
            <a:noFill/>
          </p:spPr>
          <p:txBody>
            <a:bodyPr wrap="square" rtlCol="0">
              <a:spAutoFit/>
            </a:bodyPr>
            <a:lstStyle/>
            <a:p>
              <a:r>
                <a:rPr lang="en-US" sz="1050" dirty="0"/>
                <a:t>High-level abstractions allow plugging in low-level building blocks and extending to new building blocks seamlessly</a:t>
              </a:r>
            </a:p>
          </p:txBody>
        </p:sp>
        <p:pic>
          <p:nvPicPr>
            <p:cNvPr id="435" name="Picture 434">
              <a:extLst>
                <a:ext uri="{FF2B5EF4-FFF2-40B4-BE49-F238E27FC236}">
                  <a16:creationId xmlns:a16="http://schemas.microsoft.com/office/drawing/2014/main" id="{E09B228D-0E5D-2D15-86D8-3DE7D0330F5F}"/>
                </a:ext>
              </a:extLst>
            </p:cNvPr>
            <p:cNvPicPr>
              <a:picLocks noChangeAspect="1"/>
            </p:cNvPicPr>
            <p:nvPr/>
          </p:nvPicPr>
          <p:blipFill>
            <a:blip r:embed="rId9"/>
            <a:stretch>
              <a:fillRect/>
            </a:stretch>
          </p:blipFill>
          <p:spPr>
            <a:xfrm>
              <a:off x="8916438" y="4281675"/>
              <a:ext cx="2260436" cy="1990898"/>
            </a:xfrm>
            <a:prstGeom prst="rect">
              <a:avLst/>
            </a:prstGeom>
          </p:spPr>
        </p:pic>
        <p:sp>
          <p:nvSpPr>
            <p:cNvPr id="436" name="TextBox 435">
              <a:extLst>
                <a:ext uri="{FF2B5EF4-FFF2-40B4-BE49-F238E27FC236}">
                  <a16:creationId xmlns:a16="http://schemas.microsoft.com/office/drawing/2014/main" id="{8BEABAC2-0792-14FA-EE32-D45917CD049F}"/>
                </a:ext>
              </a:extLst>
            </p:cNvPr>
            <p:cNvSpPr txBox="1"/>
            <p:nvPr/>
          </p:nvSpPr>
          <p:spPr>
            <a:xfrm>
              <a:off x="9505576" y="6139441"/>
              <a:ext cx="2003112" cy="430887"/>
            </a:xfrm>
            <a:prstGeom prst="rect">
              <a:avLst/>
            </a:prstGeom>
            <a:noFill/>
          </p:spPr>
          <p:txBody>
            <a:bodyPr wrap="none" rtlCol="0">
              <a:spAutoFit/>
            </a:bodyPr>
            <a:lstStyle/>
            <a:p>
              <a:pPr algn="r"/>
              <a:r>
                <a:rPr lang="en-US" sz="750" dirty="0"/>
                <a:t>(Utkarsh, </a:t>
              </a:r>
              <a:r>
                <a:rPr lang="en-US" sz="750" dirty="0" err="1"/>
                <a:t>e.a.</a:t>
              </a:r>
              <a:r>
                <a:rPr lang="en-US" sz="750" dirty="0"/>
                <a:t>, 2023 [3], </a:t>
              </a:r>
              <a:br>
                <a:rPr lang="en-US" sz="750" dirty="0"/>
              </a:br>
              <a:r>
                <a:rPr lang="en-US" sz="750" dirty="0"/>
                <a:t>library: Churavy, </a:t>
              </a:r>
              <a:r>
                <a:rPr lang="en-US" sz="750" dirty="0" err="1"/>
                <a:t>e.a.</a:t>
              </a:r>
              <a:r>
                <a:rPr lang="en-US" sz="750" dirty="0"/>
                <a:t>, 2023 [4])</a:t>
              </a:r>
            </a:p>
          </p:txBody>
        </p:sp>
        <p:sp>
          <p:nvSpPr>
            <p:cNvPr id="438" name="Title 1">
              <a:extLst>
                <a:ext uri="{FF2B5EF4-FFF2-40B4-BE49-F238E27FC236}">
                  <a16:creationId xmlns:a16="http://schemas.microsoft.com/office/drawing/2014/main" id="{91B7C5A5-1AFC-FBEC-DA6C-695086C9548A}"/>
                </a:ext>
              </a:extLst>
            </p:cNvPr>
            <p:cNvSpPr txBox="1">
              <a:spLocks/>
            </p:cNvSpPr>
            <p:nvPr/>
          </p:nvSpPr>
          <p:spPr>
            <a:xfrm>
              <a:off x="5037761" y="1943049"/>
              <a:ext cx="7284054" cy="857276"/>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solidFill>
                    <a:schemeClr val="bg1"/>
                  </a:solidFill>
                </a:rPr>
                <a:t>Julia</a:t>
              </a:r>
              <a:r>
                <a:rPr lang="en-US" sz="1800" dirty="0"/>
                <a:t>: performance through compiler JIT optimization</a:t>
              </a:r>
            </a:p>
          </p:txBody>
        </p:sp>
      </p:grpSp>
      <p:sp>
        <p:nvSpPr>
          <p:cNvPr id="442" name="Title 1">
            <a:extLst>
              <a:ext uri="{FF2B5EF4-FFF2-40B4-BE49-F238E27FC236}">
                <a16:creationId xmlns:a16="http://schemas.microsoft.com/office/drawing/2014/main" id="{FC5E93D4-C758-41DF-FB7B-7C26E5AEB582}"/>
              </a:ext>
            </a:extLst>
          </p:cNvPr>
          <p:cNvSpPr>
            <a:spLocks noGrp="1"/>
          </p:cNvSpPr>
          <p:nvPr>
            <p:ph type="title"/>
          </p:nvPr>
        </p:nvSpPr>
        <p:spPr>
          <a:xfrm>
            <a:off x="99754" y="73152"/>
            <a:ext cx="6093066" cy="530352"/>
          </a:xfrm>
        </p:spPr>
        <p:txBody>
          <a:bodyPr>
            <a:noAutofit/>
          </a:bodyPr>
          <a:lstStyle/>
          <a:p>
            <a:r>
              <a:rPr lang="en-US" sz="2000" dirty="0"/>
              <a:t>The Dream: performant, extensible, sustainable</a:t>
            </a:r>
            <a:endParaRPr lang="en-BE" sz="2000" dirty="0"/>
          </a:p>
        </p:txBody>
      </p:sp>
      <p:sp>
        <p:nvSpPr>
          <p:cNvPr id="2" name="Footer Placeholder 1">
            <a:extLst>
              <a:ext uri="{FF2B5EF4-FFF2-40B4-BE49-F238E27FC236}">
                <a16:creationId xmlns:a16="http://schemas.microsoft.com/office/drawing/2014/main" id="{102BE673-E71D-6329-F634-411A95FFE1B1}"/>
              </a:ext>
            </a:extLst>
          </p:cNvPr>
          <p:cNvSpPr>
            <a:spLocks noGrp="1"/>
          </p:cNvSpPr>
          <p:nvPr>
            <p:ph type="ftr" sz="quarter" idx="4294967295"/>
          </p:nvPr>
        </p:nvSpPr>
        <p:spPr>
          <a:xfrm>
            <a:off x="50292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Portable to Efficient: Auto-Tuning Hardware-Agnostic GPU Kernels in Julia</a:t>
            </a:r>
          </a:p>
        </p:txBody>
      </p:sp>
      <p:pic>
        <p:nvPicPr>
          <p:cNvPr id="445" name="Picture 8" descr="Julia (programming language) - Wikipedia">
            <a:extLst>
              <a:ext uri="{FF2B5EF4-FFF2-40B4-BE49-F238E27FC236}">
                <a16:creationId xmlns:a16="http://schemas.microsoft.com/office/drawing/2014/main" id="{55037701-7585-3C84-3838-DD33F9C33B4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334" y="1145862"/>
            <a:ext cx="612419" cy="3950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9606619"/>
      </p:ext>
    </p:extLst>
  </p:cSld>
  <p:clrMapOvr>
    <a:masterClrMapping/>
  </p:clrMapOvr>
  <mc:AlternateContent xmlns:mc="http://schemas.openxmlformats.org/markup-compatibility/2006" xmlns:p14="http://schemas.microsoft.com/office/powerpoint/2010/main">
    <mc:Choice Requires="p14">
      <p:transition spd="slow" p14:dur="2000" advTm="121857"/>
    </mc:Choice>
    <mc:Fallback xmlns="">
      <p:transition spd="slow" advTm="121857"/>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57088-C170-CC32-2C0C-F99605FD0B7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B8A8538-1CAE-4DB4-FD5D-DB7838C8EF60}"/>
              </a:ext>
            </a:extLst>
          </p:cNvPr>
          <p:cNvSpPr/>
          <p:nvPr/>
        </p:nvSpPr>
        <p:spPr>
          <a:xfrm>
            <a:off x="5905963" y="665018"/>
            <a:ext cx="3312852" cy="4571948"/>
          </a:xfrm>
          <a:prstGeom prst="rect">
            <a:avLst/>
          </a:prstGeom>
          <a:solidFill>
            <a:srgbClr val="213A5F"/>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endParaRPr lang="en-GB" sz="1800" dirty="0">
              <a:solidFill>
                <a:schemeClr val="bg1"/>
              </a:solidFill>
            </a:endParaRPr>
          </a:p>
        </p:txBody>
      </p:sp>
      <p:grpSp>
        <p:nvGrpSpPr>
          <p:cNvPr id="223" name="Group 222">
            <a:extLst>
              <a:ext uri="{FF2B5EF4-FFF2-40B4-BE49-F238E27FC236}">
                <a16:creationId xmlns:a16="http://schemas.microsoft.com/office/drawing/2014/main" id="{86C17C3F-3AA8-BCF3-35D7-06E61CAF295B}"/>
              </a:ext>
            </a:extLst>
          </p:cNvPr>
          <p:cNvGrpSpPr/>
          <p:nvPr/>
        </p:nvGrpSpPr>
        <p:grpSpPr>
          <a:xfrm>
            <a:off x="6126986" y="1439757"/>
            <a:ext cx="2809631" cy="2901291"/>
            <a:chOff x="371763" y="2612675"/>
            <a:chExt cx="3746174" cy="3868388"/>
          </a:xfrm>
        </p:grpSpPr>
        <p:sp>
          <p:nvSpPr>
            <p:cNvPr id="224" name="Content Placeholder 2">
              <a:extLst>
                <a:ext uri="{FF2B5EF4-FFF2-40B4-BE49-F238E27FC236}">
                  <a16:creationId xmlns:a16="http://schemas.microsoft.com/office/drawing/2014/main" id="{823274B6-2430-579D-40E6-54DD542AF9AD}"/>
                </a:ext>
              </a:extLst>
            </p:cNvPr>
            <p:cNvSpPr txBox="1">
              <a:spLocks/>
            </p:cNvSpPr>
            <p:nvPr/>
          </p:nvSpPr>
          <p:spPr>
            <a:xfrm>
              <a:off x="1795673" y="3144663"/>
              <a:ext cx="2322264" cy="3336400"/>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200" dirty="0">
                  <a:solidFill>
                    <a:schemeClr val="bg1"/>
                  </a:solidFill>
                </a:rPr>
                <a:t>Wide range of hardware </a:t>
              </a:r>
              <a:br>
                <a:rPr lang="en-US" sz="1200" dirty="0">
                  <a:solidFill>
                    <a:schemeClr val="bg1"/>
                  </a:solidFill>
                </a:rPr>
              </a:br>
              <a:endParaRPr lang="en-US" sz="1200" dirty="0">
                <a:solidFill>
                  <a:schemeClr val="bg1"/>
                </a:solidFill>
              </a:endParaRPr>
            </a:p>
            <a:p>
              <a:pPr marL="0" indent="0">
                <a:lnSpc>
                  <a:spcPct val="100000"/>
                </a:lnSpc>
                <a:buNone/>
              </a:pPr>
              <a:r>
                <a:rPr lang="en-US" sz="1200" dirty="0">
                  <a:solidFill>
                    <a:schemeClr val="bg1"/>
                  </a:solidFill>
                </a:rPr>
                <a:t>Novel data precision </a:t>
              </a:r>
              <a:br>
                <a:rPr lang="en-US" sz="1200" dirty="0">
                  <a:solidFill>
                    <a:schemeClr val="bg1"/>
                  </a:solidFill>
                </a:rPr>
              </a:br>
              <a:r>
                <a:rPr lang="en-US" sz="1200" dirty="0">
                  <a:solidFill>
                    <a:schemeClr val="bg1"/>
                  </a:solidFill>
                </a:rPr>
                <a:t>or mixed precision </a:t>
              </a:r>
              <a:br>
                <a:rPr lang="en-US" sz="1200" dirty="0">
                  <a:solidFill>
                    <a:schemeClr val="bg1"/>
                  </a:solidFill>
                </a:rPr>
              </a:br>
              <a:endParaRPr lang="en-US" sz="1200" dirty="0">
                <a:solidFill>
                  <a:schemeClr val="bg1"/>
                </a:solidFill>
              </a:endParaRPr>
            </a:p>
            <a:p>
              <a:pPr marL="0" indent="0">
                <a:lnSpc>
                  <a:spcPct val="100000"/>
                </a:lnSpc>
                <a:buNone/>
              </a:pPr>
              <a:r>
                <a:rPr lang="en-US" sz="1200" dirty="0">
                  <a:solidFill>
                    <a:schemeClr val="bg1"/>
                  </a:solidFill>
                </a:rPr>
                <a:t>HPC code development </a:t>
              </a:r>
              <a:br>
                <a:rPr lang="en-US" sz="1200" dirty="0">
                  <a:solidFill>
                    <a:schemeClr val="bg1"/>
                  </a:solidFill>
                </a:rPr>
              </a:br>
              <a:r>
                <a:rPr lang="en-US" sz="1200" dirty="0">
                  <a:solidFill>
                    <a:schemeClr val="bg1"/>
                  </a:solidFill>
                </a:rPr>
                <a:t>scalability</a:t>
              </a:r>
            </a:p>
          </p:txBody>
        </p:sp>
        <p:grpSp>
          <p:nvGrpSpPr>
            <p:cNvPr id="225" name="Group 224">
              <a:extLst>
                <a:ext uri="{FF2B5EF4-FFF2-40B4-BE49-F238E27FC236}">
                  <a16:creationId xmlns:a16="http://schemas.microsoft.com/office/drawing/2014/main" id="{0CF07452-6FD1-D3CC-E930-FB68D20F2AC1}"/>
                </a:ext>
              </a:extLst>
            </p:cNvPr>
            <p:cNvGrpSpPr/>
            <p:nvPr/>
          </p:nvGrpSpPr>
          <p:grpSpPr>
            <a:xfrm>
              <a:off x="371763" y="3097923"/>
              <a:ext cx="1414439" cy="2614896"/>
              <a:chOff x="371763" y="3097923"/>
              <a:chExt cx="1661949" cy="3383140"/>
            </a:xfrm>
          </p:grpSpPr>
          <p:grpSp>
            <p:nvGrpSpPr>
              <p:cNvPr id="231" name="Group 230">
                <a:extLst>
                  <a:ext uri="{FF2B5EF4-FFF2-40B4-BE49-F238E27FC236}">
                    <a16:creationId xmlns:a16="http://schemas.microsoft.com/office/drawing/2014/main" id="{A3448901-D291-ECFE-2AD2-552F39535162}"/>
                  </a:ext>
                </a:extLst>
              </p:cNvPr>
              <p:cNvGrpSpPr/>
              <p:nvPr/>
            </p:nvGrpSpPr>
            <p:grpSpPr>
              <a:xfrm>
                <a:off x="463210" y="3097923"/>
                <a:ext cx="1435035" cy="808769"/>
                <a:chOff x="7046973" y="3068512"/>
                <a:chExt cx="1933315" cy="1046682"/>
              </a:xfrm>
            </p:grpSpPr>
            <p:pic>
              <p:nvPicPr>
                <p:cNvPr id="413" name="Picture 2" descr="AMD Radeon™ RX Graphics Cards | AMD">
                  <a:extLst>
                    <a:ext uri="{FF2B5EF4-FFF2-40B4-BE49-F238E27FC236}">
                      <a16:creationId xmlns:a16="http://schemas.microsoft.com/office/drawing/2014/main" id="{6D7A5DCB-306A-51C7-1E8B-86C59A1207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6973" y="3068512"/>
                  <a:ext cx="1155014" cy="534470"/>
                </a:xfrm>
                <a:prstGeom prst="rect">
                  <a:avLst/>
                </a:prstGeom>
                <a:noFill/>
                <a:extLst>
                  <a:ext uri="{909E8E84-426E-40DD-AFC4-6F175D3DCCD1}">
                    <a14:hiddenFill xmlns:a14="http://schemas.microsoft.com/office/drawing/2010/main">
                      <a:solidFill>
                        <a:srgbClr val="FFFFFF"/>
                      </a:solidFill>
                    </a14:hiddenFill>
                  </a:ext>
                </a:extLst>
              </p:spPr>
            </p:pic>
            <p:pic>
              <p:nvPicPr>
                <p:cNvPr id="414" name="Picture 6" descr="Buy NVIDIA Graphics Cards | NVIDIA Store">
                  <a:extLst>
                    <a:ext uri="{FF2B5EF4-FFF2-40B4-BE49-F238E27FC236}">
                      <a16:creationId xmlns:a16="http://schemas.microsoft.com/office/drawing/2014/main" id="{DAA157C8-788A-1432-ED37-566E63F6A1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62723" y="3549320"/>
                  <a:ext cx="1327073" cy="565874"/>
                </a:xfrm>
                <a:prstGeom prst="rect">
                  <a:avLst/>
                </a:prstGeom>
                <a:noFill/>
                <a:extLst>
                  <a:ext uri="{909E8E84-426E-40DD-AFC4-6F175D3DCCD1}">
                    <a14:hiddenFill xmlns:a14="http://schemas.microsoft.com/office/drawing/2010/main">
                      <a:solidFill>
                        <a:srgbClr val="FFFFFF"/>
                      </a:solidFill>
                    </a14:hiddenFill>
                  </a:ext>
                </a:extLst>
              </p:spPr>
            </p:pic>
            <p:pic>
              <p:nvPicPr>
                <p:cNvPr id="415" name="Picture 10" descr="Intel® Arc™ Pro A-Series Graphics for Workstations">
                  <a:extLst>
                    <a:ext uri="{FF2B5EF4-FFF2-40B4-BE49-F238E27FC236}">
                      <a16:creationId xmlns:a16="http://schemas.microsoft.com/office/drawing/2014/main" id="{C3927324-0A72-8F7F-A051-9A015ECADD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08846" y="3147936"/>
                  <a:ext cx="971442" cy="449366"/>
                </a:xfrm>
                <a:prstGeom prst="rect">
                  <a:avLst/>
                </a:prstGeom>
                <a:noFill/>
                <a:extLst>
                  <a:ext uri="{909E8E84-426E-40DD-AFC4-6F175D3DCCD1}">
                    <a14:hiddenFill xmlns:a14="http://schemas.microsoft.com/office/drawing/2010/main">
                      <a:solidFill>
                        <a:srgbClr val="FFFFFF"/>
                      </a:solidFill>
                    </a14:hiddenFill>
                  </a:ext>
                </a:extLst>
              </p:spPr>
            </p:pic>
            <p:pic>
              <p:nvPicPr>
                <p:cNvPr id="416" name="Picture 3" descr="Apple Silicon Chip – Cheshire Macs">
                  <a:extLst>
                    <a:ext uri="{FF2B5EF4-FFF2-40B4-BE49-F238E27FC236}">
                      <a16:creationId xmlns:a16="http://schemas.microsoft.com/office/drawing/2014/main" id="{EBCE6035-FCDD-C99A-F963-F5C1C509750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13689" y="3597302"/>
                  <a:ext cx="501631" cy="411520"/>
                </a:xfrm>
                <a:prstGeom prst="rect">
                  <a:avLst/>
                </a:prstGeom>
                <a:extLst>
                  <a:ext uri="{909E8E84-426E-40DD-AFC4-6F175D3DCCD1}">
                    <a14:hiddenFill xmlns:a14="http://schemas.microsoft.com/office/drawing/2010/main">
                      <a:solidFill>
                        <a:srgbClr val="FFFFFF"/>
                      </a:solidFill>
                    </a14:hiddenFill>
                  </a:ext>
                </a:extLst>
              </p:spPr>
            </p:pic>
          </p:grpSp>
          <p:grpSp>
            <p:nvGrpSpPr>
              <p:cNvPr id="232" name="Group 231">
                <a:extLst>
                  <a:ext uri="{FF2B5EF4-FFF2-40B4-BE49-F238E27FC236}">
                    <a16:creationId xmlns:a16="http://schemas.microsoft.com/office/drawing/2014/main" id="{A19B505C-6134-E6AF-1CD1-5B0633C1CB99}"/>
                  </a:ext>
                </a:extLst>
              </p:cNvPr>
              <p:cNvGrpSpPr/>
              <p:nvPr/>
            </p:nvGrpSpPr>
            <p:grpSpPr>
              <a:xfrm>
                <a:off x="371763" y="4203705"/>
                <a:ext cx="1661949" cy="1368200"/>
                <a:chOff x="4536029" y="3860019"/>
                <a:chExt cx="3317603" cy="3698424"/>
              </a:xfrm>
            </p:grpSpPr>
            <p:cxnSp>
              <p:nvCxnSpPr>
                <p:cNvPr id="234" name="Straight Connector 233">
                  <a:extLst>
                    <a:ext uri="{FF2B5EF4-FFF2-40B4-BE49-F238E27FC236}">
                      <a16:creationId xmlns:a16="http://schemas.microsoft.com/office/drawing/2014/main" id="{73464378-B843-3142-4FB6-62166A680659}"/>
                    </a:ext>
                  </a:extLst>
                </p:cNvPr>
                <p:cNvCxnSpPr>
                  <a:cxnSpLocks/>
                </p:cNvCxnSpPr>
                <p:nvPr/>
              </p:nvCxnSpPr>
              <p:spPr>
                <a:xfrm>
                  <a:off x="4949350" y="4368472"/>
                  <a:ext cx="2111163" cy="0"/>
                </a:xfrm>
                <a:prstGeom prst="line">
                  <a:avLst/>
                </a:prstGeom>
                <a:ln w="9525">
                  <a:solidFill>
                    <a:srgbClr val="071420"/>
                  </a:solidFill>
                </a:ln>
              </p:spPr>
              <p:style>
                <a:lnRef idx="2">
                  <a:schemeClr val="accent1"/>
                </a:lnRef>
                <a:fillRef idx="0">
                  <a:schemeClr val="accent1"/>
                </a:fillRef>
                <a:effectRef idx="1">
                  <a:schemeClr val="accent1"/>
                </a:effectRef>
                <a:fontRef idx="minor">
                  <a:schemeClr val="tx1"/>
                </a:fontRef>
              </p:style>
            </p:cxnSp>
            <p:grpSp>
              <p:nvGrpSpPr>
                <p:cNvPr id="235" name="Group 234">
                  <a:extLst>
                    <a:ext uri="{FF2B5EF4-FFF2-40B4-BE49-F238E27FC236}">
                      <a16:creationId xmlns:a16="http://schemas.microsoft.com/office/drawing/2014/main" id="{160309A1-549C-2874-4BE3-CC3F84D98DD9}"/>
                    </a:ext>
                  </a:extLst>
                </p:cNvPr>
                <p:cNvGrpSpPr/>
                <p:nvPr/>
              </p:nvGrpSpPr>
              <p:grpSpPr>
                <a:xfrm>
                  <a:off x="5304786" y="4061498"/>
                  <a:ext cx="746300" cy="1901753"/>
                  <a:chOff x="1811867" y="2340741"/>
                  <a:chExt cx="1031082" cy="2155059"/>
                </a:xfrm>
              </p:grpSpPr>
              <p:cxnSp>
                <p:nvCxnSpPr>
                  <p:cNvPr id="410" name="Straight Connector 409">
                    <a:extLst>
                      <a:ext uri="{FF2B5EF4-FFF2-40B4-BE49-F238E27FC236}">
                        <a16:creationId xmlns:a16="http://schemas.microsoft.com/office/drawing/2014/main" id="{0F4B8242-636B-7490-416F-ACB0BA40D98F}"/>
                      </a:ext>
                    </a:extLst>
                  </p:cNvPr>
                  <p:cNvCxnSpPr/>
                  <p:nvPr/>
                </p:nvCxnSpPr>
                <p:spPr>
                  <a:xfrm>
                    <a:off x="1811867" y="2345267"/>
                    <a:ext cx="0" cy="2133600"/>
                  </a:xfrm>
                  <a:prstGeom prst="line">
                    <a:avLst/>
                  </a:prstGeom>
                  <a:ln w="9525">
                    <a:solidFill>
                      <a:srgbClr val="071420"/>
                    </a:solidFill>
                  </a:ln>
                </p:spPr>
                <p:style>
                  <a:lnRef idx="2">
                    <a:schemeClr val="accent1"/>
                  </a:lnRef>
                  <a:fillRef idx="0">
                    <a:schemeClr val="accent1"/>
                  </a:fillRef>
                  <a:effectRef idx="1">
                    <a:schemeClr val="accent1"/>
                  </a:effectRef>
                  <a:fontRef idx="minor">
                    <a:schemeClr val="tx1"/>
                  </a:fontRef>
                </p:style>
              </p:cxnSp>
              <p:cxnSp>
                <p:nvCxnSpPr>
                  <p:cNvPr id="411" name="Straight Connector 410">
                    <a:extLst>
                      <a:ext uri="{FF2B5EF4-FFF2-40B4-BE49-F238E27FC236}">
                        <a16:creationId xmlns:a16="http://schemas.microsoft.com/office/drawing/2014/main" id="{9FFF8B3B-8ACA-FE8C-24A3-B0C66667B1C1}"/>
                      </a:ext>
                    </a:extLst>
                  </p:cNvPr>
                  <p:cNvCxnSpPr/>
                  <p:nvPr/>
                </p:nvCxnSpPr>
                <p:spPr>
                  <a:xfrm>
                    <a:off x="2082801" y="2340741"/>
                    <a:ext cx="0" cy="2133600"/>
                  </a:xfrm>
                  <a:prstGeom prst="line">
                    <a:avLst/>
                  </a:prstGeom>
                  <a:ln w="9525">
                    <a:solidFill>
                      <a:srgbClr val="071420"/>
                    </a:solidFill>
                  </a:ln>
                </p:spPr>
                <p:style>
                  <a:lnRef idx="2">
                    <a:schemeClr val="accent1"/>
                  </a:lnRef>
                  <a:fillRef idx="0">
                    <a:schemeClr val="accent1"/>
                  </a:fillRef>
                  <a:effectRef idx="1">
                    <a:schemeClr val="accent1"/>
                  </a:effectRef>
                  <a:fontRef idx="minor">
                    <a:schemeClr val="tx1"/>
                  </a:fontRef>
                </p:style>
              </p:cxnSp>
              <p:cxnSp>
                <p:nvCxnSpPr>
                  <p:cNvPr id="412" name="Straight Connector 411">
                    <a:extLst>
                      <a:ext uri="{FF2B5EF4-FFF2-40B4-BE49-F238E27FC236}">
                        <a16:creationId xmlns:a16="http://schemas.microsoft.com/office/drawing/2014/main" id="{98A1530E-29E4-FC64-D5F3-685EE288BF57}"/>
                      </a:ext>
                    </a:extLst>
                  </p:cNvPr>
                  <p:cNvCxnSpPr/>
                  <p:nvPr/>
                </p:nvCxnSpPr>
                <p:spPr>
                  <a:xfrm>
                    <a:off x="2842949" y="2362200"/>
                    <a:ext cx="0" cy="2133600"/>
                  </a:xfrm>
                  <a:prstGeom prst="line">
                    <a:avLst/>
                  </a:prstGeom>
                  <a:ln>
                    <a:solidFill>
                      <a:srgbClr val="071420"/>
                    </a:solidFill>
                  </a:ln>
                </p:spPr>
                <p:style>
                  <a:lnRef idx="2">
                    <a:schemeClr val="accent1"/>
                  </a:lnRef>
                  <a:fillRef idx="0">
                    <a:schemeClr val="accent1"/>
                  </a:fillRef>
                  <a:effectRef idx="1">
                    <a:schemeClr val="accent1"/>
                  </a:effectRef>
                  <a:fontRef idx="minor">
                    <a:schemeClr val="tx1"/>
                  </a:fontRef>
                </p:style>
              </p:cxnSp>
            </p:grpSp>
            <p:sp>
              <p:nvSpPr>
                <p:cNvPr id="236" name="TextBox 235">
                  <a:extLst>
                    <a:ext uri="{FF2B5EF4-FFF2-40B4-BE49-F238E27FC236}">
                      <a16:creationId xmlns:a16="http://schemas.microsoft.com/office/drawing/2014/main" id="{7CB9E54B-3E57-FE62-41AA-2506355ABE61}"/>
                    </a:ext>
                  </a:extLst>
                </p:cNvPr>
                <p:cNvSpPr txBox="1"/>
                <p:nvPr/>
              </p:nvSpPr>
              <p:spPr>
                <a:xfrm>
                  <a:off x="5040524" y="3943213"/>
                  <a:ext cx="702851" cy="807288"/>
                </a:xfrm>
                <a:prstGeom prst="rect">
                  <a:avLst/>
                </a:prstGeom>
                <a:noFill/>
                <a:ln w="9525">
                  <a:noFill/>
                </a:ln>
              </p:spPr>
              <p:txBody>
                <a:bodyPr wrap="none" rtlCol="0">
                  <a:spAutoFit/>
                </a:bodyPr>
                <a:lstStyle/>
                <a:p>
                  <a:pPr algn="ctr"/>
                  <a:r>
                    <a:rPr lang="fr-BE" sz="525" b="1" u="sng" dirty="0"/>
                    <a:t>+</a:t>
                  </a:r>
                  <a:endParaRPr lang="en-BE" sz="525" b="1" u="sng" dirty="0"/>
                </a:p>
              </p:txBody>
            </p:sp>
            <p:sp>
              <p:nvSpPr>
                <p:cNvPr id="237" name="TextBox 236">
                  <a:extLst>
                    <a:ext uri="{FF2B5EF4-FFF2-40B4-BE49-F238E27FC236}">
                      <a16:creationId xmlns:a16="http://schemas.microsoft.com/office/drawing/2014/main" id="{6287735F-30B3-5C63-32E7-1E6B6A70757E}"/>
                    </a:ext>
                  </a:extLst>
                </p:cNvPr>
                <p:cNvSpPr txBox="1"/>
                <p:nvPr/>
              </p:nvSpPr>
              <p:spPr>
                <a:xfrm>
                  <a:off x="5235840" y="3891639"/>
                  <a:ext cx="1013668" cy="914930"/>
                </a:xfrm>
                <a:prstGeom prst="rect">
                  <a:avLst/>
                </a:prstGeom>
                <a:noFill/>
              </p:spPr>
              <p:txBody>
                <a:bodyPr wrap="none" rtlCol="0">
                  <a:spAutoFit/>
                </a:bodyPr>
                <a:lstStyle/>
                <a:p>
                  <a:pPr algn="ctr"/>
                  <a:r>
                    <a:rPr lang="fr-BE" sz="675" dirty="0" err="1"/>
                    <a:t>exp</a:t>
                  </a:r>
                  <a:endParaRPr lang="en-BE" sz="675" dirty="0"/>
                </a:p>
              </p:txBody>
            </p:sp>
            <p:sp>
              <p:nvSpPr>
                <p:cNvPr id="238" name="TextBox 237">
                  <a:extLst>
                    <a:ext uri="{FF2B5EF4-FFF2-40B4-BE49-F238E27FC236}">
                      <a16:creationId xmlns:a16="http://schemas.microsoft.com/office/drawing/2014/main" id="{B9FEDC75-9349-A137-B4F5-A3E27EA5AEC8}"/>
                    </a:ext>
                  </a:extLst>
                </p:cNvPr>
                <p:cNvSpPr txBox="1"/>
                <p:nvPr/>
              </p:nvSpPr>
              <p:spPr>
                <a:xfrm>
                  <a:off x="5763399" y="3860019"/>
                  <a:ext cx="1660367" cy="914930"/>
                </a:xfrm>
                <a:prstGeom prst="rect">
                  <a:avLst/>
                </a:prstGeom>
                <a:noFill/>
              </p:spPr>
              <p:txBody>
                <a:bodyPr wrap="none" rtlCol="0">
                  <a:spAutoFit/>
                </a:bodyPr>
                <a:lstStyle/>
                <a:p>
                  <a:pPr algn="ctr"/>
                  <a:r>
                    <a:rPr lang="fr-BE" sz="675" dirty="0" err="1"/>
                    <a:t>mantissa</a:t>
                  </a:r>
                  <a:endParaRPr lang="en-BE" sz="675" dirty="0"/>
                </a:p>
              </p:txBody>
            </p:sp>
            <p:sp>
              <p:nvSpPr>
                <p:cNvPr id="239" name="TextBox 238">
                  <a:extLst>
                    <a:ext uri="{FF2B5EF4-FFF2-40B4-BE49-F238E27FC236}">
                      <a16:creationId xmlns:a16="http://schemas.microsoft.com/office/drawing/2014/main" id="{A951FF1A-2059-5B64-2AB7-61F52317EBF3}"/>
                    </a:ext>
                  </a:extLst>
                </p:cNvPr>
                <p:cNvSpPr txBox="1"/>
                <p:nvPr/>
              </p:nvSpPr>
              <p:spPr>
                <a:xfrm>
                  <a:off x="4538350" y="5620950"/>
                  <a:ext cx="761314" cy="1937493"/>
                </a:xfrm>
                <a:prstGeom prst="rect">
                  <a:avLst/>
                </a:prstGeom>
                <a:noFill/>
              </p:spPr>
              <p:txBody>
                <a:bodyPr wrap="square" rtlCol="0">
                  <a:spAutoFit/>
                </a:bodyPr>
                <a:lstStyle/>
                <a:p>
                  <a:pPr algn="ctr">
                    <a:spcAft>
                      <a:spcPts val="450"/>
                    </a:spcAft>
                  </a:pPr>
                  <a:r>
                    <a:rPr lang="fr-BE" sz="525" dirty="0"/>
                    <a:t>FP16</a:t>
                  </a:r>
                </a:p>
              </p:txBody>
            </p:sp>
            <p:grpSp>
              <p:nvGrpSpPr>
                <p:cNvPr id="240" name="Group 239">
                  <a:extLst>
                    <a:ext uri="{FF2B5EF4-FFF2-40B4-BE49-F238E27FC236}">
                      <a16:creationId xmlns:a16="http://schemas.microsoft.com/office/drawing/2014/main" id="{BD2D2C72-720A-179F-70E6-9752D441AA25}"/>
                    </a:ext>
                  </a:extLst>
                </p:cNvPr>
                <p:cNvGrpSpPr/>
                <p:nvPr/>
              </p:nvGrpSpPr>
              <p:grpSpPr>
                <a:xfrm>
                  <a:off x="5875455" y="5697719"/>
                  <a:ext cx="170505" cy="159520"/>
                  <a:chOff x="2416231" y="3954063"/>
                  <a:chExt cx="235568" cy="100779"/>
                </a:xfrm>
              </p:grpSpPr>
              <p:sp>
                <p:nvSpPr>
                  <p:cNvPr id="405" name="Rectangle 404">
                    <a:extLst>
                      <a:ext uri="{FF2B5EF4-FFF2-40B4-BE49-F238E27FC236}">
                        <a16:creationId xmlns:a16="http://schemas.microsoft.com/office/drawing/2014/main" id="{00431226-B65B-3EF3-333C-4D0A091C2CBC}"/>
                      </a:ext>
                    </a:extLst>
                  </p:cNvPr>
                  <p:cNvSpPr/>
                  <p:nvPr/>
                </p:nvSpPr>
                <p:spPr>
                  <a:xfrm>
                    <a:off x="2416231" y="3954063"/>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406" name="Rectangle 405">
                    <a:extLst>
                      <a:ext uri="{FF2B5EF4-FFF2-40B4-BE49-F238E27FC236}">
                        <a16:creationId xmlns:a16="http://schemas.microsoft.com/office/drawing/2014/main" id="{8F775759-23C2-9A56-C5E6-D45B18B79BB2}"/>
                      </a:ext>
                    </a:extLst>
                  </p:cNvPr>
                  <p:cNvSpPr/>
                  <p:nvPr/>
                </p:nvSpPr>
                <p:spPr>
                  <a:xfrm>
                    <a:off x="2463693" y="3954063"/>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407" name="Rectangle 406">
                    <a:extLst>
                      <a:ext uri="{FF2B5EF4-FFF2-40B4-BE49-F238E27FC236}">
                        <a16:creationId xmlns:a16="http://schemas.microsoft.com/office/drawing/2014/main" id="{C15EDCE9-2BA6-AEB6-FE59-2F9244F11524}"/>
                      </a:ext>
                    </a:extLst>
                  </p:cNvPr>
                  <p:cNvSpPr/>
                  <p:nvPr/>
                </p:nvSpPr>
                <p:spPr>
                  <a:xfrm>
                    <a:off x="2558617" y="3954063"/>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408" name="Rectangle 407">
                    <a:extLst>
                      <a:ext uri="{FF2B5EF4-FFF2-40B4-BE49-F238E27FC236}">
                        <a16:creationId xmlns:a16="http://schemas.microsoft.com/office/drawing/2014/main" id="{A33D4EB9-DF9C-8ACC-48C7-FB25A6C12C3A}"/>
                      </a:ext>
                    </a:extLst>
                  </p:cNvPr>
                  <p:cNvSpPr/>
                  <p:nvPr/>
                </p:nvSpPr>
                <p:spPr>
                  <a:xfrm>
                    <a:off x="2606080" y="3954063"/>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409" name="Rectangle 408">
                    <a:extLst>
                      <a:ext uri="{FF2B5EF4-FFF2-40B4-BE49-F238E27FC236}">
                        <a16:creationId xmlns:a16="http://schemas.microsoft.com/office/drawing/2014/main" id="{1FB545F7-2882-5D58-9C07-7E36EB77C57D}"/>
                      </a:ext>
                    </a:extLst>
                  </p:cNvPr>
                  <p:cNvSpPr/>
                  <p:nvPr/>
                </p:nvSpPr>
                <p:spPr>
                  <a:xfrm>
                    <a:off x="2511155" y="3954063"/>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sp>
              <p:nvSpPr>
                <p:cNvPr id="241" name="Rectangle 240">
                  <a:extLst>
                    <a:ext uri="{FF2B5EF4-FFF2-40B4-BE49-F238E27FC236}">
                      <a16:creationId xmlns:a16="http://schemas.microsoft.com/office/drawing/2014/main" id="{0333B919-D263-8C49-9597-E2F4C13D0795}"/>
                    </a:ext>
                  </a:extLst>
                </p:cNvPr>
                <p:cNvSpPr/>
                <p:nvPr/>
              </p:nvSpPr>
              <p:spPr>
                <a:xfrm>
                  <a:off x="5456518" y="5697719"/>
                  <a:ext cx="33092" cy="159520"/>
                </a:xfrm>
                <a:prstGeom prst="rect">
                  <a:avLst/>
                </a:prstGeom>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nvGrpSpPr>
                <p:cNvPr id="242" name="Group 241">
                  <a:extLst>
                    <a:ext uri="{FF2B5EF4-FFF2-40B4-BE49-F238E27FC236}">
                      <a16:creationId xmlns:a16="http://schemas.microsoft.com/office/drawing/2014/main" id="{DD978091-2024-0A70-9B85-73DBA4326236}"/>
                    </a:ext>
                  </a:extLst>
                </p:cNvPr>
                <p:cNvGrpSpPr/>
                <p:nvPr/>
              </p:nvGrpSpPr>
              <p:grpSpPr>
                <a:xfrm>
                  <a:off x="6055609" y="5697719"/>
                  <a:ext cx="341800" cy="159520"/>
                  <a:chOff x="2868758" y="3984964"/>
                  <a:chExt cx="472229" cy="100779"/>
                </a:xfrm>
              </p:grpSpPr>
              <p:sp>
                <p:nvSpPr>
                  <p:cNvPr id="395" name="Rectangle 394">
                    <a:extLst>
                      <a:ext uri="{FF2B5EF4-FFF2-40B4-BE49-F238E27FC236}">
                        <a16:creationId xmlns:a16="http://schemas.microsoft.com/office/drawing/2014/main" id="{BB505BE7-FEB9-9B2D-6502-9452DB65626A}"/>
                      </a:ext>
                    </a:extLst>
                  </p:cNvPr>
                  <p:cNvSpPr/>
                  <p:nvPr/>
                </p:nvSpPr>
                <p:spPr>
                  <a:xfrm>
                    <a:off x="320048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96" name="Rectangle 395">
                    <a:extLst>
                      <a:ext uri="{FF2B5EF4-FFF2-40B4-BE49-F238E27FC236}">
                        <a16:creationId xmlns:a16="http://schemas.microsoft.com/office/drawing/2014/main" id="{503E3BFC-6D38-0581-9345-E39CEBC52742}"/>
                      </a:ext>
                    </a:extLst>
                  </p:cNvPr>
                  <p:cNvSpPr/>
                  <p:nvPr/>
                </p:nvSpPr>
                <p:spPr>
                  <a:xfrm>
                    <a:off x="329526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97" name="Rectangle 396">
                    <a:extLst>
                      <a:ext uri="{FF2B5EF4-FFF2-40B4-BE49-F238E27FC236}">
                        <a16:creationId xmlns:a16="http://schemas.microsoft.com/office/drawing/2014/main" id="{2B0B5D29-4A38-060D-68A3-BFA79B686AD2}"/>
                      </a:ext>
                    </a:extLst>
                  </p:cNvPr>
                  <p:cNvSpPr/>
                  <p:nvPr/>
                </p:nvSpPr>
                <p:spPr>
                  <a:xfrm>
                    <a:off x="324787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98" name="Rectangle 397">
                    <a:extLst>
                      <a:ext uri="{FF2B5EF4-FFF2-40B4-BE49-F238E27FC236}">
                        <a16:creationId xmlns:a16="http://schemas.microsoft.com/office/drawing/2014/main" id="{1104D67C-3BA8-45C4-FE9A-BE9B1124C344}"/>
                      </a:ext>
                    </a:extLst>
                  </p:cNvPr>
                  <p:cNvSpPr/>
                  <p:nvPr/>
                </p:nvSpPr>
                <p:spPr>
                  <a:xfrm>
                    <a:off x="301092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99" name="Rectangle 398">
                    <a:extLst>
                      <a:ext uri="{FF2B5EF4-FFF2-40B4-BE49-F238E27FC236}">
                        <a16:creationId xmlns:a16="http://schemas.microsoft.com/office/drawing/2014/main" id="{A5672DA0-63A9-4F8C-E1DC-1333F1554512}"/>
                      </a:ext>
                    </a:extLst>
                  </p:cNvPr>
                  <p:cNvSpPr/>
                  <p:nvPr/>
                </p:nvSpPr>
                <p:spPr>
                  <a:xfrm>
                    <a:off x="310570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400" name="Rectangle 399">
                    <a:extLst>
                      <a:ext uri="{FF2B5EF4-FFF2-40B4-BE49-F238E27FC236}">
                        <a16:creationId xmlns:a16="http://schemas.microsoft.com/office/drawing/2014/main" id="{E95A2FA3-A89C-7650-01F7-DE4CC8D683C0}"/>
                      </a:ext>
                    </a:extLst>
                  </p:cNvPr>
                  <p:cNvSpPr/>
                  <p:nvPr/>
                </p:nvSpPr>
                <p:spPr>
                  <a:xfrm>
                    <a:off x="315309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401" name="Rectangle 400">
                    <a:extLst>
                      <a:ext uri="{FF2B5EF4-FFF2-40B4-BE49-F238E27FC236}">
                        <a16:creationId xmlns:a16="http://schemas.microsoft.com/office/drawing/2014/main" id="{B706EDE8-513F-FDCA-6319-03C07C950A73}"/>
                      </a:ext>
                    </a:extLst>
                  </p:cNvPr>
                  <p:cNvSpPr/>
                  <p:nvPr/>
                </p:nvSpPr>
                <p:spPr>
                  <a:xfrm>
                    <a:off x="305831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402" name="Rectangle 401">
                    <a:extLst>
                      <a:ext uri="{FF2B5EF4-FFF2-40B4-BE49-F238E27FC236}">
                        <a16:creationId xmlns:a16="http://schemas.microsoft.com/office/drawing/2014/main" id="{0E5BC219-4E78-75B6-8D64-A3D3A1935676}"/>
                      </a:ext>
                    </a:extLst>
                  </p:cNvPr>
                  <p:cNvSpPr/>
                  <p:nvPr/>
                </p:nvSpPr>
                <p:spPr>
                  <a:xfrm>
                    <a:off x="286875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403" name="Rectangle 402">
                    <a:extLst>
                      <a:ext uri="{FF2B5EF4-FFF2-40B4-BE49-F238E27FC236}">
                        <a16:creationId xmlns:a16="http://schemas.microsoft.com/office/drawing/2014/main" id="{80EFBDFC-EA57-C3B9-CA01-E6983C9B5703}"/>
                      </a:ext>
                    </a:extLst>
                  </p:cNvPr>
                  <p:cNvSpPr/>
                  <p:nvPr/>
                </p:nvSpPr>
                <p:spPr>
                  <a:xfrm>
                    <a:off x="296353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404" name="Rectangle 403">
                    <a:extLst>
                      <a:ext uri="{FF2B5EF4-FFF2-40B4-BE49-F238E27FC236}">
                        <a16:creationId xmlns:a16="http://schemas.microsoft.com/office/drawing/2014/main" id="{AFEBFAF1-171F-273E-D3BC-656DD43B571A}"/>
                      </a:ext>
                    </a:extLst>
                  </p:cNvPr>
                  <p:cNvSpPr/>
                  <p:nvPr/>
                </p:nvSpPr>
                <p:spPr>
                  <a:xfrm>
                    <a:off x="291614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sp>
              <p:nvSpPr>
                <p:cNvPr id="243" name="TextBox 242">
                  <a:extLst>
                    <a:ext uri="{FF2B5EF4-FFF2-40B4-BE49-F238E27FC236}">
                      <a16:creationId xmlns:a16="http://schemas.microsoft.com/office/drawing/2014/main" id="{2DE218E2-54FC-2099-7CDC-D27E6D42F4A1}"/>
                    </a:ext>
                  </a:extLst>
                </p:cNvPr>
                <p:cNvSpPr txBox="1"/>
                <p:nvPr/>
              </p:nvSpPr>
              <p:spPr>
                <a:xfrm>
                  <a:off x="4536029" y="5318471"/>
                  <a:ext cx="768426" cy="1937493"/>
                </a:xfrm>
                <a:prstGeom prst="rect">
                  <a:avLst/>
                </a:prstGeom>
                <a:noFill/>
              </p:spPr>
              <p:txBody>
                <a:bodyPr wrap="square" rtlCol="0">
                  <a:spAutoFit/>
                </a:bodyPr>
                <a:lstStyle/>
                <a:p>
                  <a:pPr algn="ctr">
                    <a:spcAft>
                      <a:spcPts val="450"/>
                    </a:spcAft>
                  </a:pPr>
                  <a:r>
                    <a:rPr lang="fr-BE" sz="525" dirty="0"/>
                    <a:t>BF16</a:t>
                  </a:r>
                </a:p>
              </p:txBody>
            </p:sp>
            <p:sp>
              <p:nvSpPr>
                <p:cNvPr id="244" name="Rectangle 243">
                  <a:extLst>
                    <a:ext uri="{FF2B5EF4-FFF2-40B4-BE49-F238E27FC236}">
                      <a16:creationId xmlns:a16="http://schemas.microsoft.com/office/drawing/2014/main" id="{2D66E57E-B7B1-BCA3-3B7A-1A5DA77D3D2F}"/>
                    </a:ext>
                  </a:extLst>
                </p:cNvPr>
                <p:cNvSpPr/>
                <p:nvPr/>
              </p:nvSpPr>
              <p:spPr>
                <a:xfrm>
                  <a:off x="5456518" y="5395247"/>
                  <a:ext cx="33092" cy="159520"/>
                </a:xfrm>
                <a:prstGeom prst="rect">
                  <a:avLst/>
                </a:prstGeom>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nvGrpSpPr>
                <p:cNvPr id="245" name="Group 244">
                  <a:extLst>
                    <a:ext uri="{FF2B5EF4-FFF2-40B4-BE49-F238E27FC236}">
                      <a16:creationId xmlns:a16="http://schemas.microsoft.com/office/drawing/2014/main" id="{57E7B9F0-8B6E-A72C-1F3D-EF8C462B391F}"/>
                    </a:ext>
                  </a:extLst>
                </p:cNvPr>
                <p:cNvGrpSpPr/>
                <p:nvPr/>
              </p:nvGrpSpPr>
              <p:grpSpPr>
                <a:xfrm>
                  <a:off x="5770881" y="5395247"/>
                  <a:ext cx="275330" cy="159520"/>
                  <a:chOff x="2418127" y="3660200"/>
                  <a:chExt cx="380394" cy="100779"/>
                </a:xfrm>
              </p:grpSpPr>
              <p:sp>
                <p:nvSpPr>
                  <p:cNvPr id="387" name="Rectangle 386">
                    <a:extLst>
                      <a:ext uri="{FF2B5EF4-FFF2-40B4-BE49-F238E27FC236}">
                        <a16:creationId xmlns:a16="http://schemas.microsoft.com/office/drawing/2014/main" id="{1BE23A98-2A4D-F2B2-0D27-D985FD4173B4}"/>
                      </a:ext>
                    </a:extLst>
                  </p:cNvPr>
                  <p:cNvSpPr/>
                  <p:nvPr/>
                </p:nvSpPr>
                <p:spPr>
                  <a:xfrm>
                    <a:off x="2609371"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88" name="Rectangle 387">
                    <a:extLst>
                      <a:ext uri="{FF2B5EF4-FFF2-40B4-BE49-F238E27FC236}">
                        <a16:creationId xmlns:a16="http://schemas.microsoft.com/office/drawing/2014/main" id="{167E4CCC-D96F-2617-2EDF-D30D04BE1502}"/>
                      </a:ext>
                    </a:extLst>
                  </p:cNvPr>
                  <p:cNvSpPr/>
                  <p:nvPr/>
                </p:nvSpPr>
                <p:spPr>
                  <a:xfrm>
                    <a:off x="2704993"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89" name="Rectangle 388">
                    <a:extLst>
                      <a:ext uri="{FF2B5EF4-FFF2-40B4-BE49-F238E27FC236}">
                        <a16:creationId xmlns:a16="http://schemas.microsoft.com/office/drawing/2014/main" id="{3D6988CD-3108-6B15-EAF4-905703EDFB1B}"/>
                      </a:ext>
                    </a:extLst>
                  </p:cNvPr>
                  <p:cNvSpPr/>
                  <p:nvPr/>
                </p:nvSpPr>
                <p:spPr>
                  <a:xfrm>
                    <a:off x="2752802"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90" name="Rectangle 389">
                    <a:extLst>
                      <a:ext uri="{FF2B5EF4-FFF2-40B4-BE49-F238E27FC236}">
                        <a16:creationId xmlns:a16="http://schemas.microsoft.com/office/drawing/2014/main" id="{A7511963-7BCA-F243-5019-25CD60DC8D0F}"/>
                      </a:ext>
                    </a:extLst>
                  </p:cNvPr>
                  <p:cNvSpPr/>
                  <p:nvPr/>
                </p:nvSpPr>
                <p:spPr>
                  <a:xfrm>
                    <a:off x="2657182"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91" name="Rectangle 390">
                    <a:extLst>
                      <a:ext uri="{FF2B5EF4-FFF2-40B4-BE49-F238E27FC236}">
                        <a16:creationId xmlns:a16="http://schemas.microsoft.com/office/drawing/2014/main" id="{8E9D8AE8-0F4B-F567-56A0-9A4BFF88D696}"/>
                      </a:ext>
                    </a:extLst>
                  </p:cNvPr>
                  <p:cNvSpPr/>
                  <p:nvPr/>
                </p:nvSpPr>
                <p:spPr>
                  <a:xfrm>
                    <a:off x="2418127"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92" name="Rectangle 391">
                    <a:extLst>
                      <a:ext uri="{FF2B5EF4-FFF2-40B4-BE49-F238E27FC236}">
                        <a16:creationId xmlns:a16="http://schemas.microsoft.com/office/drawing/2014/main" id="{F26E966B-3DB0-41BF-B33B-6FB2333E1B67}"/>
                      </a:ext>
                    </a:extLst>
                  </p:cNvPr>
                  <p:cNvSpPr/>
                  <p:nvPr/>
                </p:nvSpPr>
                <p:spPr>
                  <a:xfrm>
                    <a:off x="2513749"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93" name="Rectangle 392">
                    <a:extLst>
                      <a:ext uri="{FF2B5EF4-FFF2-40B4-BE49-F238E27FC236}">
                        <a16:creationId xmlns:a16="http://schemas.microsoft.com/office/drawing/2014/main" id="{AFE55C50-D9ED-5A15-9896-2AA29566EE8E}"/>
                      </a:ext>
                    </a:extLst>
                  </p:cNvPr>
                  <p:cNvSpPr/>
                  <p:nvPr/>
                </p:nvSpPr>
                <p:spPr>
                  <a:xfrm>
                    <a:off x="2561560"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94" name="Rectangle 393">
                    <a:extLst>
                      <a:ext uri="{FF2B5EF4-FFF2-40B4-BE49-F238E27FC236}">
                        <a16:creationId xmlns:a16="http://schemas.microsoft.com/office/drawing/2014/main" id="{719E3488-9AF9-7749-1CD7-C91FCB6BAA29}"/>
                      </a:ext>
                    </a:extLst>
                  </p:cNvPr>
                  <p:cNvSpPr/>
                  <p:nvPr/>
                </p:nvSpPr>
                <p:spPr>
                  <a:xfrm>
                    <a:off x="2465938"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grpSp>
              <p:nvGrpSpPr>
                <p:cNvPr id="246" name="Group 245">
                  <a:extLst>
                    <a:ext uri="{FF2B5EF4-FFF2-40B4-BE49-F238E27FC236}">
                      <a16:creationId xmlns:a16="http://schemas.microsoft.com/office/drawing/2014/main" id="{A3551A54-FB51-543D-6EBE-6C0EC66D38CD}"/>
                    </a:ext>
                  </a:extLst>
                </p:cNvPr>
                <p:cNvGrpSpPr/>
                <p:nvPr/>
              </p:nvGrpSpPr>
              <p:grpSpPr>
                <a:xfrm>
                  <a:off x="6055609" y="5395247"/>
                  <a:ext cx="238897" cy="159520"/>
                  <a:chOff x="2872481" y="3675265"/>
                  <a:chExt cx="330059" cy="100779"/>
                </a:xfrm>
              </p:grpSpPr>
              <p:sp>
                <p:nvSpPr>
                  <p:cNvPr id="380" name="Rectangle 379">
                    <a:extLst>
                      <a:ext uri="{FF2B5EF4-FFF2-40B4-BE49-F238E27FC236}">
                        <a16:creationId xmlns:a16="http://schemas.microsoft.com/office/drawing/2014/main" id="{FF28EE84-F0C9-C61E-2DF4-E197CB3AE2F5}"/>
                      </a:ext>
                    </a:extLst>
                  </p:cNvPr>
                  <p:cNvSpPr/>
                  <p:nvPr/>
                </p:nvSpPr>
                <p:spPr>
                  <a:xfrm>
                    <a:off x="3014651" y="3675265"/>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81" name="Rectangle 380">
                    <a:extLst>
                      <a:ext uri="{FF2B5EF4-FFF2-40B4-BE49-F238E27FC236}">
                        <a16:creationId xmlns:a16="http://schemas.microsoft.com/office/drawing/2014/main" id="{B8470A2B-8F78-547B-7119-EE9B539B5150}"/>
                      </a:ext>
                    </a:extLst>
                  </p:cNvPr>
                  <p:cNvSpPr/>
                  <p:nvPr/>
                </p:nvSpPr>
                <p:spPr>
                  <a:xfrm>
                    <a:off x="3109431" y="3675265"/>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82" name="Rectangle 381">
                    <a:extLst>
                      <a:ext uri="{FF2B5EF4-FFF2-40B4-BE49-F238E27FC236}">
                        <a16:creationId xmlns:a16="http://schemas.microsoft.com/office/drawing/2014/main" id="{A8B5E02F-3B50-45C8-89E0-A13DCD9B4AB2}"/>
                      </a:ext>
                    </a:extLst>
                  </p:cNvPr>
                  <p:cNvSpPr/>
                  <p:nvPr/>
                </p:nvSpPr>
                <p:spPr>
                  <a:xfrm>
                    <a:off x="3156821" y="3675265"/>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83" name="Rectangle 382">
                    <a:extLst>
                      <a:ext uri="{FF2B5EF4-FFF2-40B4-BE49-F238E27FC236}">
                        <a16:creationId xmlns:a16="http://schemas.microsoft.com/office/drawing/2014/main" id="{F262FE4E-2A08-C10E-A7B9-8E27C5DC479F}"/>
                      </a:ext>
                    </a:extLst>
                  </p:cNvPr>
                  <p:cNvSpPr/>
                  <p:nvPr/>
                </p:nvSpPr>
                <p:spPr>
                  <a:xfrm>
                    <a:off x="3062041" y="3675265"/>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84" name="Rectangle 383">
                    <a:extLst>
                      <a:ext uri="{FF2B5EF4-FFF2-40B4-BE49-F238E27FC236}">
                        <a16:creationId xmlns:a16="http://schemas.microsoft.com/office/drawing/2014/main" id="{D57EC0D2-B29B-F962-B92F-B8F155483287}"/>
                      </a:ext>
                    </a:extLst>
                  </p:cNvPr>
                  <p:cNvSpPr/>
                  <p:nvPr/>
                </p:nvSpPr>
                <p:spPr>
                  <a:xfrm>
                    <a:off x="2872481" y="3675265"/>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85" name="Rectangle 384">
                    <a:extLst>
                      <a:ext uri="{FF2B5EF4-FFF2-40B4-BE49-F238E27FC236}">
                        <a16:creationId xmlns:a16="http://schemas.microsoft.com/office/drawing/2014/main" id="{23990E6B-1ACB-EABD-83CC-3E0831C6390B}"/>
                      </a:ext>
                    </a:extLst>
                  </p:cNvPr>
                  <p:cNvSpPr/>
                  <p:nvPr/>
                </p:nvSpPr>
                <p:spPr>
                  <a:xfrm>
                    <a:off x="2967261" y="3675265"/>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86" name="Rectangle 385">
                    <a:extLst>
                      <a:ext uri="{FF2B5EF4-FFF2-40B4-BE49-F238E27FC236}">
                        <a16:creationId xmlns:a16="http://schemas.microsoft.com/office/drawing/2014/main" id="{F659FE50-8477-6D9D-3E0E-7575DF5DA769}"/>
                      </a:ext>
                    </a:extLst>
                  </p:cNvPr>
                  <p:cNvSpPr/>
                  <p:nvPr/>
                </p:nvSpPr>
                <p:spPr>
                  <a:xfrm>
                    <a:off x="2919871" y="3675265"/>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sp>
              <p:nvSpPr>
                <p:cNvPr id="247" name="TextBox 246">
                  <a:extLst>
                    <a:ext uri="{FF2B5EF4-FFF2-40B4-BE49-F238E27FC236}">
                      <a16:creationId xmlns:a16="http://schemas.microsoft.com/office/drawing/2014/main" id="{A51381DA-E55C-6749-E4D1-79BC97580BF5}"/>
                    </a:ext>
                  </a:extLst>
                </p:cNvPr>
                <p:cNvSpPr txBox="1"/>
                <p:nvPr/>
              </p:nvSpPr>
              <p:spPr>
                <a:xfrm>
                  <a:off x="4546462" y="5016006"/>
                  <a:ext cx="736423" cy="1937493"/>
                </a:xfrm>
                <a:prstGeom prst="rect">
                  <a:avLst/>
                </a:prstGeom>
                <a:noFill/>
              </p:spPr>
              <p:txBody>
                <a:bodyPr wrap="square" rtlCol="0">
                  <a:spAutoFit/>
                </a:bodyPr>
                <a:lstStyle/>
                <a:p>
                  <a:pPr algn="ctr">
                    <a:spcAft>
                      <a:spcPts val="450"/>
                    </a:spcAft>
                  </a:pPr>
                  <a:r>
                    <a:rPr lang="fr-BE" sz="525" dirty="0"/>
                    <a:t>TF32</a:t>
                  </a:r>
                </a:p>
              </p:txBody>
            </p:sp>
            <p:sp>
              <p:nvSpPr>
                <p:cNvPr id="248" name="Rectangle 247">
                  <a:extLst>
                    <a:ext uri="{FF2B5EF4-FFF2-40B4-BE49-F238E27FC236}">
                      <a16:creationId xmlns:a16="http://schemas.microsoft.com/office/drawing/2014/main" id="{6A810D1A-9E59-8394-48ED-08F6E6720A62}"/>
                    </a:ext>
                  </a:extLst>
                </p:cNvPr>
                <p:cNvSpPr/>
                <p:nvPr/>
              </p:nvSpPr>
              <p:spPr>
                <a:xfrm>
                  <a:off x="5456518" y="5092779"/>
                  <a:ext cx="33092" cy="159520"/>
                </a:xfrm>
                <a:prstGeom prst="rect">
                  <a:avLst/>
                </a:prstGeom>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nvGrpSpPr>
                <p:cNvPr id="249" name="Group 248">
                  <a:extLst>
                    <a:ext uri="{FF2B5EF4-FFF2-40B4-BE49-F238E27FC236}">
                      <a16:creationId xmlns:a16="http://schemas.microsoft.com/office/drawing/2014/main" id="{45932892-3790-1990-35A3-D555499B2886}"/>
                    </a:ext>
                  </a:extLst>
                </p:cNvPr>
                <p:cNvGrpSpPr/>
                <p:nvPr/>
              </p:nvGrpSpPr>
              <p:grpSpPr>
                <a:xfrm>
                  <a:off x="5776657" y="5092779"/>
                  <a:ext cx="275330" cy="159520"/>
                  <a:chOff x="2418127" y="3660200"/>
                  <a:chExt cx="380394" cy="100779"/>
                </a:xfrm>
              </p:grpSpPr>
              <p:sp>
                <p:nvSpPr>
                  <p:cNvPr id="372" name="Rectangle 371">
                    <a:extLst>
                      <a:ext uri="{FF2B5EF4-FFF2-40B4-BE49-F238E27FC236}">
                        <a16:creationId xmlns:a16="http://schemas.microsoft.com/office/drawing/2014/main" id="{E6DFF528-6D18-7320-DC73-A70AC5C666C6}"/>
                      </a:ext>
                    </a:extLst>
                  </p:cNvPr>
                  <p:cNvSpPr/>
                  <p:nvPr/>
                </p:nvSpPr>
                <p:spPr>
                  <a:xfrm>
                    <a:off x="2609371"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73" name="Rectangle 372">
                    <a:extLst>
                      <a:ext uri="{FF2B5EF4-FFF2-40B4-BE49-F238E27FC236}">
                        <a16:creationId xmlns:a16="http://schemas.microsoft.com/office/drawing/2014/main" id="{188B7FED-B368-6147-190D-74AEF89B3282}"/>
                      </a:ext>
                    </a:extLst>
                  </p:cNvPr>
                  <p:cNvSpPr/>
                  <p:nvPr/>
                </p:nvSpPr>
                <p:spPr>
                  <a:xfrm>
                    <a:off x="2704993"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74" name="Rectangle 373">
                    <a:extLst>
                      <a:ext uri="{FF2B5EF4-FFF2-40B4-BE49-F238E27FC236}">
                        <a16:creationId xmlns:a16="http://schemas.microsoft.com/office/drawing/2014/main" id="{AD68AD45-276F-087C-0C8E-574D3A6855CD}"/>
                      </a:ext>
                    </a:extLst>
                  </p:cNvPr>
                  <p:cNvSpPr/>
                  <p:nvPr/>
                </p:nvSpPr>
                <p:spPr>
                  <a:xfrm>
                    <a:off x="2752802"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75" name="Rectangle 374">
                    <a:extLst>
                      <a:ext uri="{FF2B5EF4-FFF2-40B4-BE49-F238E27FC236}">
                        <a16:creationId xmlns:a16="http://schemas.microsoft.com/office/drawing/2014/main" id="{F92ADD63-56A8-188C-CE01-44A58CBFB31C}"/>
                      </a:ext>
                    </a:extLst>
                  </p:cNvPr>
                  <p:cNvSpPr/>
                  <p:nvPr/>
                </p:nvSpPr>
                <p:spPr>
                  <a:xfrm>
                    <a:off x="2657182"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76" name="Rectangle 375">
                    <a:extLst>
                      <a:ext uri="{FF2B5EF4-FFF2-40B4-BE49-F238E27FC236}">
                        <a16:creationId xmlns:a16="http://schemas.microsoft.com/office/drawing/2014/main" id="{FB0A81B3-2CF1-28ED-D3FB-547675A9F6B6}"/>
                      </a:ext>
                    </a:extLst>
                  </p:cNvPr>
                  <p:cNvSpPr/>
                  <p:nvPr/>
                </p:nvSpPr>
                <p:spPr>
                  <a:xfrm>
                    <a:off x="2418127"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77" name="Rectangle 376">
                    <a:extLst>
                      <a:ext uri="{FF2B5EF4-FFF2-40B4-BE49-F238E27FC236}">
                        <a16:creationId xmlns:a16="http://schemas.microsoft.com/office/drawing/2014/main" id="{2BA756E2-D0A2-8AE7-516E-5C709D271075}"/>
                      </a:ext>
                    </a:extLst>
                  </p:cNvPr>
                  <p:cNvSpPr/>
                  <p:nvPr/>
                </p:nvSpPr>
                <p:spPr>
                  <a:xfrm>
                    <a:off x="2513749"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78" name="Rectangle 377">
                    <a:extLst>
                      <a:ext uri="{FF2B5EF4-FFF2-40B4-BE49-F238E27FC236}">
                        <a16:creationId xmlns:a16="http://schemas.microsoft.com/office/drawing/2014/main" id="{A6A547B8-CDA5-BA54-B251-AAE2F7C0E866}"/>
                      </a:ext>
                    </a:extLst>
                  </p:cNvPr>
                  <p:cNvSpPr/>
                  <p:nvPr/>
                </p:nvSpPr>
                <p:spPr>
                  <a:xfrm>
                    <a:off x="2561560"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79" name="Rectangle 378">
                    <a:extLst>
                      <a:ext uri="{FF2B5EF4-FFF2-40B4-BE49-F238E27FC236}">
                        <a16:creationId xmlns:a16="http://schemas.microsoft.com/office/drawing/2014/main" id="{7F45DE05-73BB-EEDF-5BFF-6A675B066AD7}"/>
                      </a:ext>
                    </a:extLst>
                  </p:cNvPr>
                  <p:cNvSpPr/>
                  <p:nvPr/>
                </p:nvSpPr>
                <p:spPr>
                  <a:xfrm>
                    <a:off x="2465938"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grpSp>
              <p:nvGrpSpPr>
                <p:cNvPr id="250" name="Group 249">
                  <a:extLst>
                    <a:ext uri="{FF2B5EF4-FFF2-40B4-BE49-F238E27FC236}">
                      <a16:creationId xmlns:a16="http://schemas.microsoft.com/office/drawing/2014/main" id="{37F7CC92-8AFE-F26E-D949-5E504B9C599C}"/>
                    </a:ext>
                  </a:extLst>
                </p:cNvPr>
                <p:cNvGrpSpPr/>
                <p:nvPr/>
              </p:nvGrpSpPr>
              <p:grpSpPr>
                <a:xfrm>
                  <a:off x="6055609" y="5092779"/>
                  <a:ext cx="341800" cy="159520"/>
                  <a:chOff x="2868758" y="3984964"/>
                  <a:chExt cx="472229" cy="100779"/>
                </a:xfrm>
              </p:grpSpPr>
              <p:sp>
                <p:nvSpPr>
                  <p:cNvPr id="362" name="Rectangle 361">
                    <a:extLst>
                      <a:ext uri="{FF2B5EF4-FFF2-40B4-BE49-F238E27FC236}">
                        <a16:creationId xmlns:a16="http://schemas.microsoft.com/office/drawing/2014/main" id="{546368EC-5D58-3F58-F263-5101FE426A09}"/>
                      </a:ext>
                    </a:extLst>
                  </p:cNvPr>
                  <p:cNvSpPr/>
                  <p:nvPr/>
                </p:nvSpPr>
                <p:spPr>
                  <a:xfrm>
                    <a:off x="320048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63" name="Rectangle 362">
                    <a:extLst>
                      <a:ext uri="{FF2B5EF4-FFF2-40B4-BE49-F238E27FC236}">
                        <a16:creationId xmlns:a16="http://schemas.microsoft.com/office/drawing/2014/main" id="{31759BBA-9189-08ED-6C18-9581978F76B8}"/>
                      </a:ext>
                    </a:extLst>
                  </p:cNvPr>
                  <p:cNvSpPr/>
                  <p:nvPr/>
                </p:nvSpPr>
                <p:spPr>
                  <a:xfrm>
                    <a:off x="329526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64" name="Rectangle 363">
                    <a:extLst>
                      <a:ext uri="{FF2B5EF4-FFF2-40B4-BE49-F238E27FC236}">
                        <a16:creationId xmlns:a16="http://schemas.microsoft.com/office/drawing/2014/main" id="{18ECDAF1-B7FE-5DBD-F47F-F8CE636D8A2C}"/>
                      </a:ext>
                    </a:extLst>
                  </p:cNvPr>
                  <p:cNvSpPr/>
                  <p:nvPr/>
                </p:nvSpPr>
                <p:spPr>
                  <a:xfrm>
                    <a:off x="324787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65" name="Rectangle 364">
                    <a:extLst>
                      <a:ext uri="{FF2B5EF4-FFF2-40B4-BE49-F238E27FC236}">
                        <a16:creationId xmlns:a16="http://schemas.microsoft.com/office/drawing/2014/main" id="{E25B18BD-DFCD-EC6A-5591-63E2AD6FC239}"/>
                      </a:ext>
                    </a:extLst>
                  </p:cNvPr>
                  <p:cNvSpPr/>
                  <p:nvPr/>
                </p:nvSpPr>
                <p:spPr>
                  <a:xfrm>
                    <a:off x="301092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66" name="Rectangle 365">
                    <a:extLst>
                      <a:ext uri="{FF2B5EF4-FFF2-40B4-BE49-F238E27FC236}">
                        <a16:creationId xmlns:a16="http://schemas.microsoft.com/office/drawing/2014/main" id="{63161A09-A579-36F3-ECD7-533370FFBA89}"/>
                      </a:ext>
                    </a:extLst>
                  </p:cNvPr>
                  <p:cNvSpPr/>
                  <p:nvPr/>
                </p:nvSpPr>
                <p:spPr>
                  <a:xfrm>
                    <a:off x="310570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67" name="Rectangle 366">
                    <a:extLst>
                      <a:ext uri="{FF2B5EF4-FFF2-40B4-BE49-F238E27FC236}">
                        <a16:creationId xmlns:a16="http://schemas.microsoft.com/office/drawing/2014/main" id="{FB8CE750-C61E-16C1-0FF2-94247573C8F8}"/>
                      </a:ext>
                    </a:extLst>
                  </p:cNvPr>
                  <p:cNvSpPr/>
                  <p:nvPr/>
                </p:nvSpPr>
                <p:spPr>
                  <a:xfrm>
                    <a:off x="315309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68" name="Rectangle 367">
                    <a:extLst>
                      <a:ext uri="{FF2B5EF4-FFF2-40B4-BE49-F238E27FC236}">
                        <a16:creationId xmlns:a16="http://schemas.microsoft.com/office/drawing/2014/main" id="{16BB7D5B-7A46-9F83-6AA4-813BE7D93769}"/>
                      </a:ext>
                    </a:extLst>
                  </p:cNvPr>
                  <p:cNvSpPr/>
                  <p:nvPr/>
                </p:nvSpPr>
                <p:spPr>
                  <a:xfrm>
                    <a:off x="305831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69" name="Rectangle 368">
                    <a:extLst>
                      <a:ext uri="{FF2B5EF4-FFF2-40B4-BE49-F238E27FC236}">
                        <a16:creationId xmlns:a16="http://schemas.microsoft.com/office/drawing/2014/main" id="{CABFE872-E856-1580-0299-033EC41A47FB}"/>
                      </a:ext>
                    </a:extLst>
                  </p:cNvPr>
                  <p:cNvSpPr/>
                  <p:nvPr/>
                </p:nvSpPr>
                <p:spPr>
                  <a:xfrm>
                    <a:off x="286875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70" name="Rectangle 369">
                    <a:extLst>
                      <a:ext uri="{FF2B5EF4-FFF2-40B4-BE49-F238E27FC236}">
                        <a16:creationId xmlns:a16="http://schemas.microsoft.com/office/drawing/2014/main" id="{07A12065-267B-AE06-87A5-0647A8FF9FFC}"/>
                      </a:ext>
                    </a:extLst>
                  </p:cNvPr>
                  <p:cNvSpPr/>
                  <p:nvPr/>
                </p:nvSpPr>
                <p:spPr>
                  <a:xfrm>
                    <a:off x="296353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71" name="Rectangle 370">
                    <a:extLst>
                      <a:ext uri="{FF2B5EF4-FFF2-40B4-BE49-F238E27FC236}">
                        <a16:creationId xmlns:a16="http://schemas.microsoft.com/office/drawing/2014/main" id="{6D30DE76-0C06-A899-86D4-0E5438FCB87E}"/>
                      </a:ext>
                    </a:extLst>
                  </p:cNvPr>
                  <p:cNvSpPr/>
                  <p:nvPr/>
                </p:nvSpPr>
                <p:spPr>
                  <a:xfrm>
                    <a:off x="291614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sp>
              <p:nvSpPr>
                <p:cNvPr id="251" name="TextBox 250">
                  <a:extLst>
                    <a:ext uri="{FF2B5EF4-FFF2-40B4-BE49-F238E27FC236}">
                      <a16:creationId xmlns:a16="http://schemas.microsoft.com/office/drawing/2014/main" id="{86C5EDDF-8A5C-38EA-7C56-C86F38293DC3}"/>
                    </a:ext>
                  </a:extLst>
                </p:cNvPr>
                <p:cNvSpPr txBox="1"/>
                <p:nvPr/>
              </p:nvSpPr>
              <p:spPr>
                <a:xfrm>
                  <a:off x="4538350" y="4713541"/>
                  <a:ext cx="761314" cy="1937493"/>
                </a:xfrm>
                <a:prstGeom prst="rect">
                  <a:avLst/>
                </a:prstGeom>
                <a:noFill/>
              </p:spPr>
              <p:txBody>
                <a:bodyPr wrap="square" rtlCol="0">
                  <a:spAutoFit/>
                </a:bodyPr>
                <a:lstStyle/>
                <a:p>
                  <a:pPr algn="ctr">
                    <a:spcAft>
                      <a:spcPts val="450"/>
                    </a:spcAft>
                  </a:pPr>
                  <a:r>
                    <a:rPr lang="fr-BE" sz="525" dirty="0"/>
                    <a:t>FP32</a:t>
                  </a:r>
                </a:p>
              </p:txBody>
            </p:sp>
            <p:sp>
              <p:nvSpPr>
                <p:cNvPr id="252" name="Rectangle 251">
                  <a:extLst>
                    <a:ext uri="{FF2B5EF4-FFF2-40B4-BE49-F238E27FC236}">
                      <a16:creationId xmlns:a16="http://schemas.microsoft.com/office/drawing/2014/main" id="{04D012C8-798E-F930-121A-3BB9F4690446}"/>
                    </a:ext>
                  </a:extLst>
                </p:cNvPr>
                <p:cNvSpPr/>
                <p:nvPr/>
              </p:nvSpPr>
              <p:spPr>
                <a:xfrm>
                  <a:off x="5456518" y="4790310"/>
                  <a:ext cx="33092" cy="159520"/>
                </a:xfrm>
                <a:prstGeom prst="rect">
                  <a:avLst/>
                </a:prstGeom>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nvGrpSpPr>
                <p:cNvPr id="253" name="Group 252">
                  <a:extLst>
                    <a:ext uri="{FF2B5EF4-FFF2-40B4-BE49-F238E27FC236}">
                      <a16:creationId xmlns:a16="http://schemas.microsoft.com/office/drawing/2014/main" id="{C485905E-35CB-FD66-882C-0B967CF4EB02}"/>
                    </a:ext>
                  </a:extLst>
                </p:cNvPr>
                <p:cNvGrpSpPr/>
                <p:nvPr/>
              </p:nvGrpSpPr>
              <p:grpSpPr>
                <a:xfrm>
                  <a:off x="5770125" y="4790310"/>
                  <a:ext cx="275330" cy="159520"/>
                  <a:chOff x="2418127" y="3660200"/>
                  <a:chExt cx="380394" cy="100779"/>
                </a:xfrm>
              </p:grpSpPr>
              <p:sp>
                <p:nvSpPr>
                  <p:cNvPr id="354" name="Rectangle 353">
                    <a:extLst>
                      <a:ext uri="{FF2B5EF4-FFF2-40B4-BE49-F238E27FC236}">
                        <a16:creationId xmlns:a16="http://schemas.microsoft.com/office/drawing/2014/main" id="{2F67F9A1-E7F3-50D9-92F6-81A8C3497F99}"/>
                      </a:ext>
                    </a:extLst>
                  </p:cNvPr>
                  <p:cNvSpPr/>
                  <p:nvPr/>
                </p:nvSpPr>
                <p:spPr>
                  <a:xfrm>
                    <a:off x="2609371"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55" name="Rectangle 354">
                    <a:extLst>
                      <a:ext uri="{FF2B5EF4-FFF2-40B4-BE49-F238E27FC236}">
                        <a16:creationId xmlns:a16="http://schemas.microsoft.com/office/drawing/2014/main" id="{494D1C29-6EC7-58DF-D0A2-4B255EFF05D6}"/>
                      </a:ext>
                    </a:extLst>
                  </p:cNvPr>
                  <p:cNvSpPr/>
                  <p:nvPr/>
                </p:nvSpPr>
                <p:spPr>
                  <a:xfrm>
                    <a:off x="2704993"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56" name="Rectangle 355">
                    <a:extLst>
                      <a:ext uri="{FF2B5EF4-FFF2-40B4-BE49-F238E27FC236}">
                        <a16:creationId xmlns:a16="http://schemas.microsoft.com/office/drawing/2014/main" id="{110BEFFB-317C-9226-8FF7-5CDF3FFDB668}"/>
                      </a:ext>
                    </a:extLst>
                  </p:cNvPr>
                  <p:cNvSpPr/>
                  <p:nvPr/>
                </p:nvSpPr>
                <p:spPr>
                  <a:xfrm>
                    <a:off x="2752802"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57" name="Rectangle 356">
                    <a:extLst>
                      <a:ext uri="{FF2B5EF4-FFF2-40B4-BE49-F238E27FC236}">
                        <a16:creationId xmlns:a16="http://schemas.microsoft.com/office/drawing/2014/main" id="{0148C5EC-B458-7D15-9C53-95C0DE2F259B}"/>
                      </a:ext>
                    </a:extLst>
                  </p:cNvPr>
                  <p:cNvSpPr/>
                  <p:nvPr/>
                </p:nvSpPr>
                <p:spPr>
                  <a:xfrm>
                    <a:off x="2657182"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58" name="Rectangle 357">
                    <a:extLst>
                      <a:ext uri="{FF2B5EF4-FFF2-40B4-BE49-F238E27FC236}">
                        <a16:creationId xmlns:a16="http://schemas.microsoft.com/office/drawing/2014/main" id="{F9B5912D-B3C9-3ABE-19A9-32A294BEF437}"/>
                      </a:ext>
                    </a:extLst>
                  </p:cNvPr>
                  <p:cNvSpPr/>
                  <p:nvPr/>
                </p:nvSpPr>
                <p:spPr>
                  <a:xfrm>
                    <a:off x="2418127"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59" name="Rectangle 358">
                    <a:extLst>
                      <a:ext uri="{FF2B5EF4-FFF2-40B4-BE49-F238E27FC236}">
                        <a16:creationId xmlns:a16="http://schemas.microsoft.com/office/drawing/2014/main" id="{C9C285B5-5294-E06C-A65B-EDA5752EC454}"/>
                      </a:ext>
                    </a:extLst>
                  </p:cNvPr>
                  <p:cNvSpPr/>
                  <p:nvPr/>
                </p:nvSpPr>
                <p:spPr>
                  <a:xfrm>
                    <a:off x="2513749"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60" name="Rectangle 359">
                    <a:extLst>
                      <a:ext uri="{FF2B5EF4-FFF2-40B4-BE49-F238E27FC236}">
                        <a16:creationId xmlns:a16="http://schemas.microsoft.com/office/drawing/2014/main" id="{18C01995-D9EF-0839-15BF-71A95698C6CD}"/>
                      </a:ext>
                    </a:extLst>
                  </p:cNvPr>
                  <p:cNvSpPr/>
                  <p:nvPr/>
                </p:nvSpPr>
                <p:spPr>
                  <a:xfrm>
                    <a:off x="2561560"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61" name="Rectangle 360">
                    <a:extLst>
                      <a:ext uri="{FF2B5EF4-FFF2-40B4-BE49-F238E27FC236}">
                        <a16:creationId xmlns:a16="http://schemas.microsoft.com/office/drawing/2014/main" id="{3657C794-E7AE-2C0E-1915-4D118D35A28E}"/>
                      </a:ext>
                    </a:extLst>
                  </p:cNvPr>
                  <p:cNvSpPr/>
                  <p:nvPr/>
                </p:nvSpPr>
                <p:spPr>
                  <a:xfrm>
                    <a:off x="2465938" y="3660200"/>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grpSp>
              <p:nvGrpSpPr>
                <p:cNvPr id="254" name="Group 253">
                  <a:extLst>
                    <a:ext uri="{FF2B5EF4-FFF2-40B4-BE49-F238E27FC236}">
                      <a16:creationId xmlns:a16="http://schemas.microsoft.com/office/drawing/2014/main" id="{2F8AE445-9C11-6056-D6D3-04AB70DF07C3}"/>
                    </a:ext>
                  </a:extLst>
                </p:cNvPr>
                <p:cNvGrpSpPr/>
                <p:nvPr/>
              </p:nvGrpSpPr>
              <p:grpSpPr>
                <a:xfrm>
                  <a:off x="6055609" y="4790310"/>
                  <a:ext cx="795009" cy="159520"/>
                  <a:chOff x="2873316" y="3008689"/>
                  <a:chExt cx="1098378" cy="100779"/>
                </a:xfrm>
              </p:grpSpPr>
              <p:grpSp>
                <p:nvGrpSpPr>
                  <p:cNvPr id="329" name="Group 328">
                    <a:extLst>
                      <a:ext uri="{FF2B5EF4-FFF2-40B4-BE49-F238E27FC236}">
                        <a16:creationId xmlns:a16="http://schemas.microsoft.com/office/drawing/2014/main" id="{AAC801E5-DCA1-5951-1455-F36439F2B90E}"/>
                      </a:ext>
                    </a:extLst>
                  </p:cNvPr>
                  <p:cNvGrpSpPr/>
                  <p:nvPr/>
                </p:nvGrpSpPr>
                <p:grpSpPr>
                  <a:xfrm>
                    <a:off x="2873316" y="3008689"/>
                    <a:ext cx="472229" cy="100779"/>
                    <a:chOff x="2868758" y="3984964"/>
                    <a:chExt cx="472229" cy="100779"/>
                  </a:xfrm>
                </p:grpSpPr>
                <p:sp>
                  <p:nvSpPr>
                    <p:cNvPr id="344" name="Rectangle 343">
                      <a:extLst>
                        <a:ext uri="{FF2B5EF4-FFF2-40B4-BE49-F238E27FC236}">
                          <a16:creationId xmlns:a16="http://schemas.microsoft.com/office/drawing/2014/main" id="{98C76583-B235-D5A5-EB69-109DAEB27843}"/>
                        </a:ext>
                      </a:extLst>
                    </p:cNvPr>
                    <p:cNvSpPr/>
                    <p:nvPr/>
                  </p:nvSpPr>
                  <p:spPr>
                    <a:xfrm>
                      <a:off x="320048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45" name="Rectangle 344">
                      <a:extLst>
                        <a:ext uri="{FF2B5EF4-FFF2-40B4-BE49-F238E27FC236}">
                          <a16:creationId xmlns:a16="http://schemas.microsoft.com/office/drawing/2014/main" id="{77C7ECBF-35DD-02BA-2FF4-01B8AD918A7C}"/>
                        </a:ext>
                      </a:extLst>
                    </p:cNvPr>
                    <p:cNvSpPr/>
                    <p:nvPr/>
                  </p:nvSpPr>
                  <p:spPr>
                    <a:xfrm>
                      <a:off x="329526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46" name="Rectangle 345">
                      <a:extLst>
                        <a:ext uri="{FF2B5EF4-FFF2-40B4-BE49-F238E27FC236}">
                          <a16:creationId xmlns:a16="http://schemas.microsoft.com/office/drawing/2014/main" id="{552E1819-9CB1-57F9-59D7-C883FAD0BEDF}"/>
                        </a:ext>
                      </a:extLst>
                    </p:cNvPr>
                    <p:cNvSpPr/>
                    <p:nvPr/>
                  </p:nvSpPr>
                  <p:spPr>
                    <a:xfrm>
                      <a:off x="324787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47" name="Rectangle 346">
                      <a:extLst>
                        <a:ext uri="{FF2B5EF4-FFF2-40B4-BE49-F238E27FC236}">
                          <a16:creationId xmlns:a16="http://schemas.microsoft.com/office/drawing/2014/main" id="{4E99516A-27A9-D4C3-3130-2943488C2B8C}"/>
                        </a:ext>
                      </a:extLst>
                    </p:cNvPr>
                    <p:cNvSpPr/>
                    <p:nvPr/>
                  </p:nvSpPr>
                  <p:spPr>
                    <a:xfrm>
                      <a:off x="301092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48" name="Rectangle 347">
                      <a:extLst>
                        <a:ext uri="{FF2B5EF4-FFF2-40B4-BE49-F238E27FC236}">
                          <a16:creationId xmlns:a16="http://schemas.microsoft.com/office/drawing/2014/main" id="{1AF7A0F5-ED51-EEC0-6DD1-050CCCBD40DF}"/>
                        </a:ext>
                      </a:extLst>
                    </p:cNvPr>
                    <p:cNvSpPr/>
                    <p:nvPr/>
                  </p:nvSpPr>
                  <p:spPr>
                    <a:xfrm>
                      <a:off x="310570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49" name="Rectangle 348">
                      <a:extLst>
                        <a:ext uri="{FF2B5EF4-FFF2-40B4-BE49-F238E27FC236}">
                          <a16:creationId xmlns:a16="http://schemas.microsoft.com/office/drawing/2014/main" id="{6FE79987-51E5-9DD1-122F-26CFD1291563}"/>
                        </a:ext>
                      </a:extLst>
                    </p:cNvPr>
                    <p:cNvSpPr/>
                    <p:nvPr/>
                  </p:nvSpPr>
                  <p:spPr>
                    <a:xfrm>
                      <a:off x="315309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50" name="Rectangle 349">
                      <a:extLst>
                        <a:ext uri="{FF2B5EF4-FFF2-40B4-BE49-F238E27FC236}">
                          <a16:creationId xmlns:a16="http://schemas.microsoft.com/office/drawing/2014/main" id="{56C84523-7A82-B8C9-8EB9-4D21CAA040B9}"/>
                        </a:ext>
                      </a:extLst>
                    </p:cNvPr>
                    <p:cNvSpPr/>
                    <p:nvPr/>
                  </p:nvSpPr>
                  <p:spPr>
                    <a:xfrm>
                      <a:off x="305831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51" name="Rectangle 350">
                      <a:extLst>
                        <a:ext uri="{FF2B5EF4-FFF2-40B4-BE49-F238E27FC236}">
                          <a16:creationId xmlns:a16="http://schemas.microsoft.com/office/drawing/2014/main" id="{4D1BBDBD-04EA-9875-6A7D-9C97B118BD88}"/>
                        </a:ext>
                      </a:extLst>
                    </p:cNvPr>
                    <p:cNvSpPr/>
                    <p:nvPr/>
                  </p:nvSpPr>
                  <p:spPr>
                    <a:xfrm>
                      <a:off x="286875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52" name="Rectangle 351">
                      <a:extLst>
                        <a:ext uri="{FF2B5EF4-FFF2-40B4-BE49-F238E27FC236}">
                          <a16:creationId xmlns:a16="http://schemas.microsoft.com/office/drawing/2014/main" id="{A4E644FB-FADD-A8CE-8D3A-4DA91A4604C3}"/>
                        </a:ext>
                      </a:extLst>
                    </p:cNvPr>
                    <p:cNvSpPr/>
                    <p:nvPr/>
                  </p:nvSpPr>
                  <p:spPr>
                    <a:xfrm>
                      <a:off x="296353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53" name="Rectangle 352">
                      <a:extLst>
                        <a:ext uri="{FF2B5EF4-FFF2-40B4-BE49-F238E27FC236}">
                          <a16:creationId xmlns:a16="http://schemas.microsoft.com/office/drawing/2014/main" id="{4E5383E3-A9DC-8607-27F2-3D6E33176BB7}"/>
                        </a:ext>
                      </a:extLst>
                    </p:cNvPr>
                    <p:cNvSpPr/>
                    <p:nvPr/>
                  </p:nvSpPr>
                  <p:spPr>
                    <a:xfrm>
                      <a:off x="291614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grpSp>
                <p:nvGrpSpPr>
                  <p:cNvPr id="330" name="Group 329">
                    <a:extLst>
                      <a:ext uri="{FF2B5EF4-FFF2-40B4-BE49-F238E27FC236}">
                        <a16:creationId xmlns:a16="http://schemas.microsoft.com/office/drawing/2014/main" id="{6DDC16A6-E66D-6738-4BB8-4EE76E13EA02}"/>
                      </a:ext>
                    </a:extLst>
                  </p:cNvPr>
                  <p:cNvGrpSpPr/>
                  <p:nvPr/>
                </p:nvGrpSpPr>
                <p:grpSpPr>
                  <a:xfrm>
                    <a:off x="3349736" y="3008689"/>
                    <a:ext cx="472229" cy="100779"/>
                    <a:chOff x="2868758" y="3984964"/>
                    <a:chExt cx="472229" cy="100779"/>
                  </a:xfrm>
                </p:grpSpPr>
                <p:sp>
                  <p:nvSpPr>
                    <p:cNvPr id="334" name="Rectangle 333">
                      <a:extLst>
                        <a:ext uri="{FF2B5EF4-FFF2-40B4-BE49-F238E27FC236}">
                          <a16:creationId xmlns:a16="http://schemas.microsoft.com/office/drawing/2014/main" id="{DF5C2FB9-6553-4281-1CDF-9A3454DD136C}"/>
                        </a:ext>
                      </a:extLst>
                    </p:cNvPr>
                    <p:cNvSpPr/>
                    <p:nvPr/>
                  </p:nvSpPr>
                  <p:spPr>
                    <a:xfrm>
                      <a:off x="320048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35" name="Rectangle 334">
                      <a:extLst>
                        <a:ext uri="{FF2B5EF4-FFF2-40B4-BE49-F238E27FC236}">
                          <a16:creationId xmlns:a16="http://schemas.microsoft.com/office/drawing/2014/main" id="{78C361DD-D38E-335E-A696-F7392B14B82B}"/>
                        </a:ext>
                      </a:extLst>
                    </p:cNvPr>
                    <p:cNvSpPr/>
                    <p:nvPr/>
                  </p:nvSpPr>
                  <p:spPr>
                    <a:xfrm>
                      <a:off x="329526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36" name="Rectangle 335">
                      <a:extLst>
                        <a:ext uri="{FF2B5EF4-FFF2-40B4-BE49-F238E27FC236}">
                          <a16:creationId xmlns:a16="http://schemas.microsoft.com/office/drawing/2014/main" id="{8AB84BBA-64A3-2257-EAE5-61DBD84FBE16}"/>
                        </a:ext>
                      </a:extLst>
                    </p:cNvPr>
                    <p:cNvSpPr/>
                    <p:nvPr/>
                  </p:nvSpPr>
                  <p:spPr>
                    <a:xfrm>
                      <a:off x="324787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37" name="Rectangle 336">
                      <a:extLst>
                        <a:ext uri="{FF2B5EF4-FFF2-40B4-BE49-F238E27FC236}">
                          <a16:creationId xmlns:a16="http://schemas.microsoft.com/office/drawing/2014/main" id="{06159830-458A-1AF4-DCD8-EA74985C2404}"/>
                        </a:ext>
                      </a:extLst>
                    </p:cNvPr>
                    <p:cNvSpPr/>
                    <p:nvPr/>
                  </p:nvSpPr>
                  <p:spPr>
                    <a:xfrm>
                      <a:off x="301092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38" name="Rectangle 337">
                      <a:extLst>
                        <a:ext uri="{FF2B5EF4-FFF2-40B4-BE49-F238E27FC236}">
                          <a16:creationId xmlns:a16="http://schemas.microsoft.com/office/drawing/2014/main" id="{BE9E0C7D-9BFE-8B15-F78F-181E39E2BC31}"/>
                        </a:ext>
                      </a:extLst>
                    </p:cNvPr>
                    <p:cNvSpPr/>
                    <p:nvPr/>
                  </p:nvSpPr>
                  <p:spPr>
                    <a:xfrm>
                      <a:off x="310570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39" name="Rectangle 338">
                      <a:extLst>
                        <a:ext uri="{FF2B5EF4-FFF2-40B4-BE49-F238E27FC236}">
                          <a16:creationId xmlns:a16="http://schemas.microsoft.com/office/drawing/2014/main" id="{0B7CD8E9-22DC-5386-0CB6-3F8AAC3C915D}"/>
                        </a:ext>
                      </a:extLst>
                    </p:cNvPr>
                    <p:cNvSpPr/>
                    <p:nvPr/>
                  </p:nvSpPr>
                  <p:spPr>
                    <a:xfrm>
                      <a:off x="315309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40" name="Rectangle 339">
                      <a:extLst>
                        <a:ext uri="{FF2B5EF4-FFF2-40B4-BE49-F238E27FC236}">
                          <a16:creationId xmlns:a16="http://schemas.microsoft.com/office/drawing/2014/main" id="{751B8255-08FE-BA48-9304-2291BF0FC2D8}"/>
                        </a:ext>
                      </a:extLst>
                    </p:cNvPr>
                    <p:cNvSpPr/>
                    <p:nvPr/>
                  </p:nvSpPr>
                  <p:spPr>
                    <a:xfrm>
                      <a:off x="305831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41" name="Rectangle 340">
                      <a:extLst>
                        <a:ext uri="{FF2B5EF4-FFF2-40B4-BE49-F238E27FC236}">
                          <a16:creationId xmlns:a16="http://schemas.microsoft.com/office/drawing/2014/main" id="{E7F6A3D8-C807-5327-ADE0-BC25B94FBBFA}"/>
                        </a:ext>
                      </a:extLst>
                    </p:cNvPr>
                    <p:cNvSpPr/>
                    <p:nvPr/>
                  </p:nvSpPr>
                  <p:spPr>
                    <a:xfrm>
                      <a:off x="286875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42" name="Rectangle 341">
                      <a:extLst>
                        <a:ext uri="{FF2B5EF4-FFF2-40B4-BE49-F238E27FC236}">
                          <a16:creationId xmlns:a16="http://schemas.microsoft.com/office/drawing/2014/main" id="{56543D19-820E-B8E1-B8AC-40CEFB13E395}"/>
                        </a:ext>
                      </a:extLst>
                    </p:cNvPr>
                    <p:cNvSpPr/>
                    <p:nvPr/>
                  </p:nvSpPr>
                  <p:spPr>
                    <a:xfrm>
                      <a:off x="296353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43" name="Rectangle 342">
                      <a:extLst>
                        <a:ext uri="{FF2B5EF4-FFF2-40B4-BE49-F238E27FC236}">
                          <a16:creationId xmlns:a16="http://schemas.microsoft.com/office/drawing/2014/main" id="{74FF7640-A483-0CF6-18B0-86C7D4815FA1}"/>
                        </a:ext>
                      </a:extLst>
                    </p:cNvPr>
                    <p:cNvSpPr/>
                    <p:nvPr/>
                  </p:nvSpPr>
                  <p:spPr>
                    <a:xfrm>
                      <a:off x="291614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sp>
                <p:nvSpPr>
                  <p:cNvPr id="331" name="Rectangle 330">
                    <a:extLst>
                      <a:ext uri="{FF2B5EF4-FFF2-40B4-BE49-F238E27FC236}">
                        <a16:creationId xmlns:a16="http://schemas.microsoft.com/office/drawing/2014/main" id="{AAA175E2-2E93-43D0-2C63-F9643DA0F6FF}"/>
                      </a:ext>
                    </a:extLst>
                  </p:cNvPr>
                  <p:cNvSpPr/>
                  <p:nvPr/>
                </p:nvSpPr>
                <p:spPr>
                  <a:xfrm>
                    <a:off x="3876066" y="3008689"/>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32" name="Rectangle 331">
                    <a:extLst>
                      <a:ext uri="{FF2B5EF4-FFF2-40B4-BE49-F238E27FC236}">
                        <a16:creationId xmlns:a16="http://schemas.microsoft.com/office/drawing/2014/main" id="{D905D7CF-C153-441A-B15E-1B7CE0892F4C}"/>
                      </a:ext>
                    </a:extLst>
                  </p:cNvPr>
                  <p:cNvSpPr/>
                  <p:nvPr/>
                </p:nvSpPr>
                <p:spPr>
                  <a:xfrm>
                    <a:off x="3925975" y="3008689"/>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33" name="Rectangle 332">
                    <a:extLst>
                      <a:ext uri="{FF2B5EF4-FFF2-40B4-BE49-F238E27FC236}">
                        <a16:creationId xmlns:a16="http://schemas.microsoft.com/office/drawing/2014/main" id="{8C4639B4-1596-604C-B055-2BAE8CE1A94A}"/>
                      </a:ext>
                    </a:extLst>
                  </p:cNvPr>
                  <p:cNvSpPr/>
                  <p:nvPr/>
                </p:nvSpPr>
                <p:spPr>
                  <a:xfrm>
                    <a:off x="3826156" y="3008689"/>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sp>
              <p:nvSpPr>
                <p:cNvPr id="255" name="TextBox 254">
                  <a:extLst>
                    <a:ext uri="{FF2B5EF4-FFF2-40B4-BE49-F238E27FC236}">
                      <a16:creationId xmlns:a16="http://schemas.microsoft.com/office/drawing/2014/main" id="{1D9634AE-BFEC-FB0D-E7C9-BA29AAE44C21}"/>
                    </a:ext>
                  </a:extLst>
                </p:cNvPr>
                <p:cNvSpPr txBox="1"/>
                <p:nvPr/>
              </p:nvSpPr>
              <p:spPr>
                <a:xfrm>
                  <a:off x="4538350" y="4402594"/>
                  <a:ext cx="761314" cy="1937493"/>
                </a:xfrm>
                <a:prstGeom prst="rect">
                  <a:avLst/>
                </a:prstGeom>
                <a:noFill/>
              </p:spPr>
              <p:txBody>
                <a:bodyPr wrap="square" rtlCol="0">
                  <a:spAutoFit/>
                </a:bodyPr>
                <a:lstStyle/>
                <a:p>
                  <a:pPr algn="ctr">
                    <a:spcAft>
                      <a:spcPts val="450"/>
                    </a:spcAft>
                  </a:pPr>
                  <a:r>
                    <a:rPr lang="fr-BE" sz="525" dirty="0"/>
                    <a:t>FP64</a:t>
                  </a:r>
                </a:p>
              </p:txBody>
            </p:sp>
            <p:sp>
              <p:nvSpPr>
                <p:cNvPr id="256" name="Rectangle 255">
                  <a:extLst>
                    <a:ext uri="{FF2B5EF4-FFF2-40B4-BE49-F238E27FC236}">
                      <a16:creationId xmlns:a16="http://schemas.microsoft.com/office/drawing/2014/main" id="{E8F7A66B-71C7-0C16-8078-29972528EC7C}"/>
                    </a:ext>
                  </a:extLst>
                </p:cNvPr>
                <p:cNvSpPr/>
                <p:nvPr/>
              </p:nvSpPr>
              <p:spPr>
                <a:xfrm>
                  <a:off x="5456518" y="4487842"/>
                  <a:ext cx="33092" cy="159520"/>
                </a:xfrm>
                <a:prstGeom prst="rect">
                  <a:avLst/>
                </a:prstGeom>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nvGrpSpPr>
                <p:cNvPr id="257" name="Group 256">
                  <a:extLst>
                    <a:ext uri="{FF2B5EF4-FFF2-40B4-BE49-F238E27FC236}">
                      <a16:creationId xmlns:a16="http://schemas.microsoft.com/office/drawing/2014/main" id="{FBE53567-9FC9-EE06-1325-4D21842E2535}"/>
                    </a:ext>
                  </a:extLst>
                </p:cNvPr>
                <p:cNvGrpSpPr/>
                <p:nvPr/>
              </p:nvGrpSpPr>
              <p:grpSpPr>
                <a:xfrm>
                  <a:off x="5668597" y="4487842"/>
                  <a:ext cx="376102" cy="159520"/>
                  <a:chOff x="2314505" y="2775048"/>
                  <a:chExt cx="519620" cy="100779"/>
                </a:xfrm>
              </p:grpSpPr>
              <p:sp>
                <p:nvSpPr>
                  <p:cNvPr id="318" name="Rectangle 317">
                    <a:extLst>
                      <a:ext uri="{FF2B5EF4-FFF2-40B4-BE49-F238E27FC236}">
                        <a16:creationId xmlns:a16="http://schemas.microsoft.com/office/drawing/2014/main" id="{D6283102-70A2-0A5C-2812-83205F57903D}"/>
                      </a:ext>
                    </a:extLst>
                  </p:cNvPr>
                  <p:cNvSpPr/>
                  <p:nvPr/>
                </p:nvSpPr>
                <p:spPr>
                  <a:xfrm>
                    <a:off x="2646235" y="2775048"/>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19" name="Rectangle 318">
                    <a:extLst>
                      <a:ext uri="{FF2B5EF4-FFF2-40B4-BE49-F238E27FC236}">
                        <a16:creationId xmlns:a16="http://schemas.microsoft.com/office/drawing/2014/main" id="{7E7776C8-9FD7-CB06-DA99-076A610ADC0D}"/>
                      </a:ext>
                    </a:extLst>
                  </p:cNvPr>
                  <p:cNvSpPr/>
                  <p:nvPr/>
                </p:nvSpPr>
                <p:spPr>
                  <a:xfrm>
                    <a:off x="2741015" y="2775048"/>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20" name="Rectangle 319">
                    <a:extLst>
                      <a:ext uri="{FF2B5EF4-FFF2-40B4-BE49-F238E27FC236}">
                        <a16:creationId xmlns:a16="http://schemas.microsoft.com/office/drawing/2014/main" id="{A2A799F1-9A3A-E63C-31D2-1BC2CC441F9D}"/>
                      </a:ext>
                    </a:extLst>
                  </p:cNvPr>
                  <p:cNvSpPr/>
                  <p:nvPr/>
                </p:nvSpPr>
                <p:spPr>
                  <a:xfrm>
                    <a:off x="2788406" y="2775048"/>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21" name="Rectangle 320">
                    <a:extLst>
                      <a:ext uri="{FF2B5EF4-FFF2-40B4-BE49-F238E27FC236}">
                        <a16:creationId xmlns:a16="http://schemas.microsoft.com/office/drawing/2014/main" id="{5CC1922F-4A34-9FCE-F2A7-2AE1DD08DBF3}"/>
                      </a:ext>
                    </a:extLst>
                  </p:cNvPr>
                  <p:cNvSpPr/>
                  <p:nvPr/>
                </p:nvSpPr>
                <p:spPr>
                  <a:xfrm>
                    <a:off x="2693625" y="2775048"/>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22" name="Rectangle 321">
                    <a:extLst>
                      <a:ext uri="{FF2B5EF4-FFF2-40B4-BE49-F238E27FC236}">
                        <a16:creationId xmlns:a16="http://schemas.microsoft.com/office/drawing/2014/main" id="{7D58FC1E-A660-FF65-FD4D-606031BDBF6F}"/>
                      </a:ext>
                    </a:extLst>
                  </p:cNvPr>
                  <p:cNvSpPr/>
                  <p:nvPr/>
                </p:nvSpPr>
                <p:spPr>
                  <a:xfrm>
                    <a:off x="2456675" y="2775048"/>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23" name="Rectangle 322">
                    <a:extLst>
                      <a:ext uri="{FF2B5EF4-FFF2-40B4-BE49-F238E27FC236}">
                        <a16:creationId xmlns:a16="http://schemas.microsoft.com/office/drawing/2014/main" id="{B1AF3A23-C53D-ABA7-23E8-B01EE1D11E24}"/>
                      </a:ext>
                    </a:extLst>
                  </p:cNvPr>
                  <p:cNvSpPr/>
                  <p:nvPr/>
                </p:nvSpPr>
                <p:spPr>
                  <a:xfrm>
                    <a:off x="2551455" y="2775048"/>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24" name="Rectangle 323">
                    <a:extLst>
                      <a:ext uri="{FF2B5EF4-FFF2-40B4-BE49-F238E27FC236}">
                        <a16:creationId xmlns:a16="http://schemas.microsoft.com/office/drawing/2014/main" id="{543F9A37-9ACA-E029-0AE4-573C27DC4A98}"/>
                      </a:ext>
                    </a:extLst>
                  </p:cNvPr>
                  <p:cNvSpPr/>
                  <p:nvPr/>
                </p:nvSpPr>
                <p:spPr>
                  <a:xfrm>
                    <a:off x="2598845" y="2775048"/>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25" name="Rectangle 324">
                    <a:extLst>
                      <a:ext uri="{FF2B5EF4-FFF2-40B4-BE49-F238E27FC236}">
                        <a16:creationId xmlns:a16="http://schemas.microsoft.com/office/drawing/2014/main" id="{55B68566-D7B7-DAC5-9460-F44A8BB8B80E}"/>
                      </a:ext>
                    </a:extLst>
                  </p:cNvPr>
                  <p:cNvSpPr/>
                  <p:nvPr/>
                </p:nvSpPr>
                <p:spPr>
                  <a:xfrm>
                    <a:off x="2504065" y="2775048"/>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26" name="Rectangle 325">
                    <a:extLst>
                      <a:ext uri="{FF2B5EF4-FFF2-40B4-BE49-F238E27FC236}">
                        <a16:creationId xmlns:a16="http://schemas.microsoft.com/office/drawing/2014/main" id="{AAF89A93-74AC-631C-4051-B19043118A8B}"/>
                      </a:ext>
                    </a:extLst>
                  </p:cNvPr>
                  <p:cNvSpPr/>
                  <p:nvPr/>
                </p:nvSpPr>
                <p:spPr>
                  <a:xfrm>
                    <a:off x="2314505" y="2775048"/>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27" name="Rectangle 326">
                    <a:extLst>
                      <a:ext uri="{FF2B5EF4-FFF2-40B4-BE49-F238E27FC236}">
                        <a16:creationId xmlns:a16="http://schemas.microsoft.com/office/drawing/2014/main" id="{545A8860-A004-EBFA-B851-8B015571C6F0}"/>
                      </a:ext>
                    </a:extLst>
                  </p:cNvPr>
                  <p:cNvSpPr/>
                  <p:nvPr/>
                </p:nvSpPr>
                <p:spPr>
                  <a:xfrm>
                    <a:off x="2409285" y="2775048"/>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28" name="Rectangle 327">
                    <a:extLst>
                      <a:ext uri="{FF2B5EF4-FFF2-40B4-BE49-F238E27FC236}">
                        <a16:creationId xmlns:a16="http://schemas.microsoft.com/office/drawing/2014/main" id="{CC2D76B9-CA53-B45F-E3D2-B4DBEB08BBD3}"/>
                      </a:ext>
                    </a:extLst>
                  </p:cNvPr>
                  <p:cNvSpPr/>
                  <p:nvPr/>
                </p:nvSpPr>
                <p:spPr>
                  <a:xfrm>
                    <a:off x="2361895" y="2775048"/>
                    <a:ext cx="45719" cy="100779"/>
                  </a:xfrm>
                  <a:prstGeom prst="rect">
                    <a:avLst/>
                  </a:prstGeom>
                  <a:solidFill>
                    <a:schemeClr val="accent6"/>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grpSp>
              <p:nvGrpSpPr>
                <p:cNvPr id="258" name="Group 257">
                  <a:extLst>
                    <a:ext uri="{FF2B5EF4-FFF2-40B4-BE49-F238E27FC236}">
                      <a16:creationId xmlns:a16="http://schemas.microsoft.com/office/drawing/2014/main" id="{D536B252-A756-666D-8E56-9C73B1AE7A8F}"/>
                    </a:ext>
                  </a:extLst>
                </p:cNvPr>
                <p:cNvGrpSpPr/>
                <p:nvPr/>
              </p:nvGrpSpPr>
              <p:grpSpPr>
                <a:xfrm>
                  <a:off x="6055609" y="4487842"/>
                  <a:ext cx="1798023" cy="159520"/>
                  <a:chOff x="2849198" y="2724987"/>
                  <a:chExt cx="2484135" cy="100779"/>
                </a:xfrm>
              </p:grpSpPr>
              <p:grpSp>
                <p:nvGrpSpPr>
                  <p:cNvPr id="259" name="Group 258">
                    <a:extLst>
                      <a:ext uri="{FF2B5EF4-FFF2-40B4-BE49-F238E27FC236}">
                        <a16:creationId xmlns:a16="http://schemas.microsoft.com/office/drawing/2014/main" id="{BDE7C835-2436-255D-259F-0E7D13842E87}"/>
                      </a:ext>
                    </a:extLst>
                  </p:cNvPr>
                  <p:cNvGrpSpPr/>
                  <p:nvPr/>
                </p:nvGrpSpPr>
                <p:grpSpPr>
                  <a:xfrm>
                    <a:off x="2849198" y="2724987"/>
                    <a:ext cx="1098378" cy="100779"/>
                    <a:chOff x="2873316" y="3008689"/>
                    <a:chExt cx="1098378" cy="100779"/>
                  </a:xfrm>
                </p:grpSpPr>
                <p:grpSp>
                  <p:nvGrpSpPr>
                    <p:cNvPr id="293" name="Group 292">
                      <a:extLst>
                        <a:ext uri="{FF2B5EF4-FFF2-40B4-BE49-F238E27FC236}">
                          <a16:creationId xmlns:a16="http://schemas.microsoft.com/office/drawing/2014/main" id="{1C66DDF8-DE1D-7AC0-BE6A-E2EBFE667C0B}"/>
                        </a:ext>
                      </a:extLst>
                    </p:cNvPr>
                    <p:cNvGrpSpPr/>
                    <p:nvPr/>
                  </p:nvGrpSpPr>
                  <p:grpSpPr>
                    <a:xfrm>
                      <a:off x="2873316" y="3008689"/>
                      <a:ext cx="472229" cy="100779"/>
                      <a:chOff x="2868758" y="3984964"/>
                      <a:chExt cx="472229" cy="100779"/>
                    </a:xfrm>
                  </p:grpSpPr>
                  <p:sp>
                    <p:nvSpPr>
                      <p:cNvPr id="308" name="Rectangle 307">
                        <a:extLst>
                          <a:ext uri="{FF2B5EF4-FFF2-40B4-BE49-F238E27FC236}">
                            <a16:creationId xmlns:a16="http://schemas.microsoft.com/office/drawing/2014/main" id="{2E48B35A-376F-9D5E-7D2E-17EADE149B4B}"/>
                          </a:ext>
                        </a:extLst>
                      </p:cNvPr>
                      <p:cNvSpPr/>
                      <p:nvPr/>
                    </p:nvSpPr>
                    <p:spPr>
                      <a:xfrm>
                        <a:off x="320048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09" name="Rectangle 308">
                        <a:extLst>
                          <a:ext uri="{FF2B5EF4-FFF2-40B4-BE49-F238E27FC236}">
                            <a16:creationId xmlns:a16="http://schemas.microsoft.com/office/drawing/2014/main" id="{E9E54A7B-7CDE-32D9-D0FF-BDEFF04E5C9B}"/>
                          </a:ext>
                        </a:extLst>
                      </p:cNvPr>
                      <p:cNvSpPr/>
                      <p:nvPr/>
                    </p:nvSpPr>
                    <p:spPr>
                      <a:xfrm>
                        <a:off x="329526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10" name="Rectangle 309">
                        <a:extLst>
                          <a:ext uri="{FF2B5EF4-FFF2-40B4-BE49-F238E27FC236}">
                            <a16:creationId xmlns:a16="http://schemas.microsoft.com/office/drawing/2014/main" id="{73312823-D72F-8731-FC40-AB5709584F32}"/>
                          </a:ext>
                        </a:extLst>
                      </p:cNvPr>
                      <p:cNvSpPr/>
                      <p:nvPr/>
                    </p:nvSpPr>
                    <p:spPr>
                      <a:xfrm>
                        <a:off x="324787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11" name="Rectangle 310">
                        <a:extLst>
                          <a:ext uri="{FF2B5EF4-FFF2-40B4-BE49-F238E27FC236}">
                            <a16:creationId xmlns:a16="http://schemas.microsoft.com/office/drawing/2014/main" id="{8BD2F0B0-B736-8C43-4D6D-02649D2C52C0}"/>
                          </a:ext>
                        </a:extLst>
                      </p:cNvPr>
                      <p:cNvSpPr/>
                      <p:nvPr/>
                    </p:nvSpPr>
                    <p:spPr>
                      <a:xfrm>
                        <a:off x="301092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12" name="Rectangle 311">
                        <a:extLst>
                          <a:ext uri="{FF2B5EF4-FFF2-40B4-BE49-F238E27FC236}">
                            <a16:creationId xmlns:a16="http://schemas.microsoft.com/office/drawing/2014/main" id="{9D0BC8F7-9303-8E44-20F4-97283C06FAEA}"/>
                          </a:ext>
                        </a:extLst>
                      </p:cNvPr>
                      <p:cNvSpPr/>
                      <p:nvPr/>
                    </p:nvSpPr>
                    <p:spPr>
                      <a:xfrm>
                        <a:off x="310570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13" name="Rectangle 312">
                        <a:extLst>
                          <a:ext uri="{FF2B5EF4-FFF2-40B4-BE49-F238E27FC236}">
                            <a16:creationId xmlns:a16="http://schemas.microsoft.com/office/drawing/2014/main" id="{1CC1232F-80FD-C23D-6F24-D3E363354247}"/>
                          </a:ext>
                        </a:extLst>
                      </p:cNvPr>
                      <p:cNvSpPr/>
                      <p:nvPr/>
                    </p:nvSpPr>
                    <p:spPr>
                      <a:xfrm>
                        <a:off x="315309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14" name="Rectangle 313">
                        <a:extLst>
                          <a:ext uri="{FF2B5EF4-FFF2-40B4-BE49-F238E27FC236}">
                            <a16:creationId xmlns:a16="http://schemas.microsoft.com/office/drawing/2014/main" id="{5D465D03-1528-707A-B352-9420186C53ED}"/>
                          </a:ext>
                        </a:extLst>
                      </p:cNvPr>
                      <p:cNvSpPr/>
                      <p:nvPr/>
                    </p:nvSpPr>
                    <p:spPr>
                      <a:xfrm>
                        <a:off x="305831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15" name="Rectangle 314">
                        <a:extLst>
                          <a:ext uri="{FF2B5EF4-FFF2-40B4-BE49-F238E27FC236}">
                            <a16:creationId xmlns:a16="http://schemas.microsoft.com/office/drawing/2014/main" id="{AB587B14-FC37-73A1-ADDB-A0E009B99ABD}"/>
                          </a:ext>
                        </a:extLst>
                      </p:cNvPr>
                      <p:cNvSpPr/>
                      <p:nvPr/>
                    </p:nvSpPr>
                    <p:spPr>
                      <a:xfrm>
                        <a:off x="286875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16" name="Rectangle 315">
                        <a:extLst>
                          <a:ext uri="{FF2B5EF4-FFF2-40B4-BE49-F238E27FC236}">
                            <a16:creationId xmlns:a16="http://schemas.microsoft.com/office/drawing/2014/main" id="{D98844B6-15BF-3ECC-B8BF-B1BC5F78F598}"/>
                          </a:ext>
                        </a:extLst>
                      </p:cNvPr>
                      <p:cNvSpPr/>
                      <p:nvPr/>
                    </p:nvSpPr>
                    <p:spPr>
                      <a:xfrm>
                        <a:off x="296353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17" name="Rectangle 316">
                        <a:extLst>
                          <a:ext uri="{FF2B5EF4-FFF2-40B4-BE49-F238E27FC236}">
                            <a16:creationId xmlns:a16="http://schemas.microsoft.com/office/drawing/2014/main" id="{FFA11864-677F-93D9-5E01-64BD9709B891}"/>
                          </a:ext>
                        </a:extLst>
                      </p:cNvPr>
                      <p:cNvSpPr/>
                      <p:nvPr/>
                    </p:nvSpPr>
                    <p:spPr>
                      <a:xfrm>
                        <a:off x="291614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grpSp>
                  <p:nvGrpSpPr>
                    <p:cNvPr id="294" name="Group 293">
                      <a:extLst>
                        <a:ext uri="{FF2B5EF4-FFF2-40B4-BE49-F238E27FC236}">
                          <a16:creationId xmlns:a16="http://schemas.microsoft.com/office/drawing/2014/main" id="{7BD9EC57-B42A-1747-C044-DD31295592D1}"/>
                        </a:ext>
                      </a:extLst>
                    </p:cNvPr>
                    <p:cNvGrpSpPr/>
                    <p:nvPr/>
                  </p:nvGrpSpPr>
                  <p:grpSpPr>
                    <a:xfrm>
                      <a:off x="3349736" y="3008689"/>
                      <a:ext cx="472229" cy="100779"/>
                      <a:chOff x="2868758" y="3984964"/>
                      <a:chExt cx="472229" cy="100779"/>
                    </a:xfrm>
                  </p:grpSpPr>
                  <p:sp>
                    <p:nvSpPr>
                      <p:cNvPr id="298" name="Rectangle 297">
                        <a:extLst>
                          <a:ext uri="{FF2B5EF4-FFF2-40B4-BE49-F238E27FC236}">
                            <a16:creationId xmlns:a16="http://schemas.microsoft.com/office/drawing/2014/main" id="{12D2E62E-0618-AEFB-5638-BCC38910D898}"/>
                          </a:ext>
                        </a:extLst>
                      </p:cNvPr>
                      <p:cNvSpPr/>
                      <p:nvPr/>
                    </p:nvSpPr>
                    <p:spPr>
                      <a:xfrm>
                        <a:off x="320048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99" name="Rectangle 298">
                        <a:extLst>
                          <a:ext uri="{FF2B5EF4-FFF2-40B4-BE49-F238E27FC236}">
                            <a16:creationId xmlns:a16="http://schemas.microsoft.com/office/drawing/2014/main" id="{9BA59A1F-BE77-C9EE-2439-0EB0737C02E0}"/>
                          </a:ext>
                        </a:extLst>
                      </p:cNvPr>
                      <p:cNvSpPr/>
                      <p:nvPr/>
                    </p:nvSpPr>
                    <p:spPr>
                      <a:xfrm>
                        <a:off x="329526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00" name="Rectangle 299">
                        <a:extLst>
                          <a:ext uri="{FF2B5EF4-FFF2-40B4-BE49-F238E27FC236}">
                            <a16:creationId xmlns:a16="http://schemas.microsoft.com/office/drawing/2014/main" id="{B5ADF6E7-989F-EC2E-FFF3-606A4EB91DC2}"/>
                          </a:ext>
                        </a:extLst>
                      </p:cNvPr>
                      <p:cNvSpPr/>
                      <p:nvPr/>
                    </p:nvSpPr>
                    <p:spPr>
                      <a:xfrm>
                        <a:off x="324787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01" name="Rectangle 300">
                        <a:extLst>
                          <a:ext uri="{FF2B5EF4-FFF2-40B4-BE49-F238E27FC236}">
                            <a16:creationId xmlns:a16="http://schemas.microsoft.com/office/drawing/2014/main" id="{4A8308C2-B1E7-8114-8222-9B2FBDADECB7}"/>
                          </a:ext>
                        </a:extLst>
                      </p:cNvPr>
                      <p:cNvSpPr/>
                      <p:nvPr/>
                    </p:nvSpPr>
                    <p:spPr>
                      <a:xfrm>
                        <a:off x="301092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02" name="Rectangle 301">
                        <a:extLst>
                          <a:ext uri="{FF2B5EF4-FFF2-40B4-BE49-F238E27FC236}">
                            <a16:creationId xmlns:a16="http://schemas.microsoft.com/office/drawing/2014/main" id="{A284A481-BC7E-48B3-4AE0-883786922907}"/>
                          </a:ext>
                        </a:extLst>
                      </p:cNvPr>
                      <p:cNvSpPr/>
                      <p:nvPr/>
                    </p:nvSpPr>
                    <p:spPr>
                      <a:xfrm>
                        <a:off x="310570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03" name="Rectangle 302">
                        <a:extLst>
                          <a:ext uri="{FF2B5EF4-FFF2-40B4-BE49-F238E27FC236}">
                            <a16:creationId xmlns:a16="http://schemas.microsoft.com/office/drawing/2014/main" id="{9FD23172-7A28-6D41-FF6E-DA9C9FA3E98D}"/>
                          </a:ext>
                        </a:extLst>
                      </p:cNvPr>
                      <p:cNvSpPr/>
                      <p:nvPr/>
                    </p:nvSpPr>
                    <p:spPr>
                      <a:xfrm>
                        <a:off x="315309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04" name="Rectangle 303">
                        <a:extLst>
                          <a:ext uri="{FF2B5EF4-FFF2-40B4-BE49-F238E27FC236}">
                            <a16:creationId xmlns:a16="http://schemas.microsoft.com/office/drawing/2014/main" id="{FD5E87DA-1F62-2558-78CA-8509F3BE1D06}"/>
                          </a:ext>
                        </a:extLst>
                      </p:cNvPr>
                      <p:cNvSpPr/>
                      <p:nvPr/>
                    </p:nvSpPr>
                    <p:spPr>
                      <a:xfrm>
                        <a:off x="305831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05" name="Rectangle 304">
                        <a:extLst>
                          <a:ext uri="{FF2B5EF4-FFF2-40B4-BE49-F238E27FC236}">
                            <a16:creationId xmlns:a16="http://schemas.microsoft.com/office/drawing/2014/main" id="{53040C36-EA5E-786E-B230-A6DCE40C6E35}"/>
                          </a:ext>
                        </a:extLst>
                      </p:cNvPr>
                      <p:cNvSpPr/>
                      <p:nvPr/>
                    </p:nvSpPr>
                    <p:spPr>
                      <a:xfrm>
                        <a:off x="286875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06" name="Rectangle 305">
                        <a:extLst>
                          <a:ext uri="{FF2B5EF4-FFF2-40B4-BE49-F238E27FC236}">
                            <a16:creationId xmlns:a16="http://schemas.microsoft.com/office/drawing/2014/main" id="{4E269F60-44E0-37C2-96B0-B7968909AB5F}"/>
                          </a:ext>
                        </a:extLst>
                      </p:cNvPr>
                      <p:cNvSpPr/>
                      <p:nvPr/>
                    </p:nvSpPr>
                    <p:spPr>
                      <a:xfrm>
                        <a:off x="296353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307" name="Rectangle 306">
                        <a:extLst>
                          <a:ext uri="{FF2B5EF4-FFF2-40B4-BE49-F238E27FC236}">
                            <a16:creationId xmlns:a16="http://schemas.microsoft.com/office/drawing/2014/main" id="{CC1DF00B-BDFA-1441-DBE0-354B70052462}"/>
                          </a:ext>
                        </a:extLst>
                      </p:cNvPr>
                      <p:cNvSpPr/>
                      <p:nvPr/>
                    </p:nvSpPr>
                    <p:spPr>
                      <a:xfrm>
                        <a:off x="291614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sp>
                  <p:nvSpPr>
                    <p:cNvPr id="295" name="Rectangle 294">
                      <a:extLst>
                        <a:ext uri="{FF2B5EF4-FFF2-40B4-BE49-F238E27FC236}">
                          <a16:creationId xmlns:a16="http://schemas.microsoft.com/office/drawing/2014/main" id="{59F6B8FD-F0CD-991C-67BC-A1E64A6250CE}"/>
                        </a:ext>
                      </a:extLst>
                    </p:cNvPr>
                    <p:cNvSpPr/>
                    <p:nvPr/>
                  </p:nvSpPr>
                  <p:spPr>
                    <a:xfrm>
                      <a:off x="3876066" y="3008689"/>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96" name="Rectangle 295">
                      <a:extLst>
                        <a:ext uri="{FF2B5EF4-FFF2-40B4-BE49-F238E27FC236}">
                          <a16:creationId xmlns:a16="http://schemas.microsoft.com/office/drawing/2014/main" id="{2B49477F-1E9C-62A5-9744-8669B5B99CD5}"/>
                        </a:ext>
                      </a:extLst>
                    </p:cNvPr>
                    <p:cNvSpPr/>
                    <p:nvPr/>
                  </p:nvSpPr>
                  <p:spPr>
                    <a:xfrm>
                      <a:off x="3925975" y="3008689"/>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97" name="Rectangle 296">
                      <a:extLst>
                        <a:ext uri="{FF2B5EF4-FFF2-40B4-BE49-F238E27FC236}">
                          <a16:creationId xmlns:a16="http://schemas.microsoft.com/office/drawing/2014/main" id="{7C80519B-8BAC-0F5F-7EE8-E8A7BC06C3D0}"/>
                        </a:ext>
                      </a:extLst>
                    </p:cNvPr>
                    <p:cNvSpPr/>
                    <p:nvPr/>
                  </p:nvSpPr>
                  <p:spPr>
                    <a:xfrm>
                      <a:off x="3826156" y="3008689"/>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grpSp>
                <p:nvGrpSpPr>
                  <p:cNvPr id="260" name="Group 259">
                    <a:extLst>
                      <a:ext uri="{FF2B5EF4-FFF2-40B4-BE49-F238E27FC236}">
                        <a16:creationId xmlns:a16="http://schemas.microsoft.com/office/drawing/2014/main" id="{DDB13660-9962-C3D2-A2D0-668781E70E14}"/>
                      </a:ext>
                    </a:extLst>
                  </p:cNvPr>
                  <p:cNvGrpSpPr/>
                  <p:nvPr/>
                </p:nvGrpSpPr>
                <p:grpSpPr>
                  <a:xfrm>
                    <a:off x="3950437" y="2724987"/>
                    <a:ext cx="1098378" cy="100779"/>
                    <a:chOff x="2873316" y="3008689"/>
                    <a:chExt cx="1098378" cy="100779"/>
                  </a:xfrm>
                </p:grpSpPr>
                <p:grpSp>
                  <p:nvGrpSpPr>
                    <p:cNvPr id="268" name="Group 267">
                      <a:extLst>
                        <a:ext uri="{FF2B5EF4-FFF2-40B4-BE49-F238E27FC236}">
                          <a16:creationId xmlns:a16="http://schemas.microsoft.com/office/drawing/2014/main" id="{56DFD839-DEB2-53AF-E466-08456D3BE5A9}"/>
                        </a:ext>
                      </a:extLst>
                    </p:cNvPr>
                    <p:cNvGrpSpPr/>
                    <p:nvPr/>
                  </p:nvGrpSpPr>
                  <p:grpSpPr>
                    <a:xfrm>
                      <a:off x="2873316" y="3008689"/>
                      <a:ext cx="472229" cy="100779"/>
                      <a:chOff x="2868758" y="3984964"/>
                      <a:chExt cx="472229" cy="100779"/>
                    </a:xfrm>
                  </p:grpSpPr>
                  <p:sp>
                    <p:nvSpPr>
                      <p:cNvPr id="283" name="Rectangle 282">
                        <a:extLst>
                          <a:ext uri="{FF2B5EF4-FFF2-40B4-BE49-F238E27FC236}">
                            <a16:creationId xmlns:a16="http://schemas.microsoft.com/office/drawing/2014/main" id="{82919DFB-52B8-35AE-FAC2-DB2F5104D2EF}"/>
                          </a:ext>
                        </a:extLst>
                      </p:cNvPr>
                      <p:cNvSpPr/>
                      <p:nvPr/>
                    </p:nvSpPr>
                    <p:spPr>
                      <a:xfrm>
                        <a:off x="320048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84" name="Rectangle 283">
                        <a:extLst>
                          <a:ext uri="{FF2B5EF4-FFF2-40B4-BE49-F238E27FC236}">
                            <a16:creationId xmlns:a16="http://schemas.microsoft.com/office/drawing/2014/main" id="{2D2BB289-D3AF-31F6-57F0-F88B86F1F735}"/>
                          </a:ext>
                        </a:extLst>
                      </p:cNvPr>
                      <p:cNvSpPr/>
                      <p:nvPr/>
                    </p:nvSpPr>
                    <p:spPr>
                      <a:xfrm>
                        <a:off x="329526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85" name="Rectangle 284">
                        <a:extLst>
                          <a:ext uri="{FF2B5EF4-FFF2-40B4-BE49-F238E27FC236}">
                            <a16:creationId xmlns:a16="http://schemas.microsoft.com/office/drawing/2014/main" id="{AA23AC07-E6EE-B984-8FF6-9B37FA89AEAD}"/>
                          </a:ext>
                        </a:extLst>
                      </p:cNvPr>
                      <p:cNvSpPr/>
                      <p:nvPr/>
                    </p:nvSpPr>
                    <p:spPr>
                      <a:xfrm>
                        <a:off x="324787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86" name="Rectangle 285">
                        <a:extLst>
                          <a:ext uri="{FF2B5EF4-FFF2-40B4-BE49-F238E27FC236}">
                            <a16:creationId xmlns:a16="http://schemas.microsoft.com/office/drawing/2014/main" id="{D4FFF451-7D4D-8931-741A-1D66D5AF0D10}"/>
                          </a:ext>
                        </a:extLst>
                      </p:cNvPr>
                      <p:cNvSpPr/>
                      <p:nvPr/>
                    </p:nvSpPr>
                    <p:spPr>
                      <a:xfrm>
                        <a:off x="301092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87" name="Rectangle 286">
                        <a:extLst>
                          <a:ext uri="{FF2B5EF4-FFF2-40B4-BE49-F238E27FC236}">
                            <a16:creationId xmlns:a16="http://schemas.microsoft.com/office/drawing/2014/main" id="{C241FF9E-BA20-A652-93A7-7CA3FCD292E0}"/>
                          </a:ext>
                        </a:extLst>
                      </p:cNvPr>
                      <p:cNvSpPr/>
                      <p:nvPr/>
                    </p:nvSpPr>
                    <p:spPr>
                      <a:xfrm>
                        <a:off x="310570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88" name="Rectangle 287">
                        <a:extLst>
                          <a:ext uri="{FF2B5EF4-FFF2-40B4-BE49-F238E27FC236}">
                            <a16:creationId xmlns:a16="http://schemas.microsoft.com/office/drawing/2014/main" id="{27A2B2D3-0C74-0D4C-96A0-7A994FE0760A}"/>
                          </a:ext>
                        </a:extLst>
                      </p:cNvPr>
                      <p:cNvSpPr/>
                      <p:nvPr/>
                    </p:nvSpPr>
                    <p:spPr>
                      <a:xfrm>
                        <a:off x="315309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89" name="Rectangle 288">
                        <a:extLst>
                          <a:ext uri="{FF2B5EF4-FFF2-40B4-BE49-F238E27FC236}">
                            <a16:creationId xmlns:a16="http://schemas.microsoft.com/office/drawing/2014/main" id="{831D1C0C-0CAC-4B88-985C-9A6A2692522A}"/>
                          </a:ext>
                        </a:extLst>
                      </p:cNvPr>
                      <p:cNvSpPr/>
                      <p:nvPr/>
                    </p:nvSpPr>
                    <p:spPr>
                      <a:xfrm>
                        <a:off x="305831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90" name="Rectangle 289">
                        <a:extLst>
                          <a:ext uri="{FF2B5EF4-FFF2-40B4-BE49-F238E27FC236}">
                            <a16:creationId xmlns:a16="http://schemas.microsoft.com/office/drawing/2014/main" id="{D6804B70-40DE-DAF0-BFAD-7AD9693137A5}"/>
                          </a:ext>
                        </a:extLst>
                      </p:cNvPr>
                      <p:cNvSpPr/>
                      <p:nvPr/>
                    </p:nvSpPr>
                    <p:spPr>
                      <a:xfrm>
                        <a:off x="286875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91" name="Rectangle 290">
                        <a:extLst>
                          <a:ext uri="{FF2B5EF4-FFF2-40B4-BE49-F238E27FC236}">
                            <a16:creationId xmlns:a16="http://schemas.microsoft.com/office/drawing/2014/main" id="{6ABFA66D-8128-3CD8-725D-BD85469322BD}"/>
                          </a:ext>
                        </a:extLst>
                      </p:cNvPr>
                      <p:cNvSpPr/>
                      <p:nvPr/>
                    </p:nvSpPr>
                    <p:spPr>
                      <a:xfrm>
                        <a:off x="296353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92" name="Rectangle 291">
                        <a:extLst>
                          <a:ext uri="{FF2B5EF4-FFF2-40B4-BE49-F238E27FC236}">
                            <a16:creationId xmlns:a16="http://schemas.microsoft.com/office/drawing/2014/main" id="{6D22BCA8-2441-637C-6719-10AB271ABAA8}"/>
                          </a:ext>
                        </a:extLst>
                      </p:cNvPr>
                      <p:cNvSpPr/>
                      <p:nvPr/>
                    </p:nvSpPr>
                    <p:spPr>
                      <a:xfrm>
                        <a:off x="291614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grpSp>
                  <p:nvGrpSpPr>
                    <p:cNvPr id="269" name="Group 268">
                      <a:extLst>
                        <a:ext uri="{FF2B5EF4-FFF2-40B4-BE49-F238E27FC236}">
                          <a16:creationId xmlns:a16="http://schemas.microsoft.com/office/drawing/2014/main" id="{489A0F28-D6D2-AA09-ACB5-8740FFC0D621}"/>
                        </a:ext>
                      </a:extLst>
                    </p:cNvPr>
                    <p:cNvGrpSpPr/>
                    <p:nvPr/>
                  </p:nvGrpSpPr>
                  <p:grpSpPr>
                    <a:xfrm>
                      <a:off x="3349736" y="3008689"/>
                      <a:ext cx="472229" cy="100779"/>
                      <a:chOff x="2868758" y="3984964"/>
                      <a:chExt cx="472229" cy="100779"/>
                    </a:xfrm>
                  </p:grpSpPr>
                  <p:sp>
                    <p:nvSpPr>
                      <p:cNvPr id="273" name="Rectangle 272">
                        <a:extLst>
                          <a:ext uri="{FF2B5EF4-FFF2-40B4-BE49-F238E27FC236}">
                            <a16:creationId xmlns:a16="http://schemas.microsoft.com/office/drawing/2014/main" id="{4C6A4A65-BD1A-F62A-8757-844098DAAC69}"/>
                          </a:ext>
                        </a:extLst>
                      </p:cNvPr>
                      <p:cNvSpPr/>
                      <p:nvPr/>
                    </p:nvSpPr>
                    <p:spPr>
                      <a:xfrm>
                        <a:off x="320048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74" name="Rectangle 273">
                        <a:extLst>
                          <a:ext uri="{FF2B5EF4-FFF2-40B4-BE49-F238E27FC236}">
                            <a16:creationId xmlns:a16="http://schemas.microsoft.com/office/drawing/2014/main" id="{CB0E7EA7-18AA-A000-2914-75B41ED4704B}"/>
                          </a:ext>
                        </a:extLst>
                      </p:cNvPr>
                      <p:cNvSpPr/>
                      <p:nvPr/>
                    </p:nvSpPr>
                    <p:spPr>
                      <a:xfrm>
                        <a:off x="329526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75" name="Rectangle 274">
                        <a:extLst>
                          <a:ext uri="{FF2B5EF4-FFF2-40B4-BE49-F238E27FC236}">
                            <a16:creationId xmlns:a16="http://schemas.microsoft.com/office/drawing/2014/main" id="{DE97E243-A5E1-8234-D068-62B1B0A895D7}"/>
                          </a:ext>
                        </a:extLst>
                      </p:cNvPr>
                      <p:cNvSpPr/>
                      <p:nvPr/>
                    </p:nvSpPr>
                    <p:spPr>
                      <a:xfrm>
                        <a:off x="324787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76" name="Rectangle 275">
                        <a:extLst>
                          <a:ext uri="{FF2B5EF4-FFF2-40B4-BE49-F238E27FC236}">
                            <a16:creationId xmlns:a16="http://schemas.microsoft.com/office/drawing/2014/main" id="{92B4BB2B-32CD-25D4-6478-8C617279B2A6}"/>
                          </a:ext>
                        </a:extLst>
                      </p:cNvPr>
                      <p:cNvSpPr/>
                      <p:nvPr/>
                    </p:nvSpPr>
                    <p:spPr>
                      <a:xfrm>
                        <a:off x="301092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77" name="Rectangle 276">
                        <a:extLst>
                          <a:ext uri="{FF2B5EF4-FFF2-40B4-BE49-F238E27FC236}">
                            <a16:creationId xmlns:a16="http://schemas.microsoft.com/office/drawing/2014/main" id="{99FE45C1-A97F-6C5A-7B28-825CB38619A0}"/>
                          </a:ext>
                        </a:extLst>
                      </p:cNvPr>
                      <p:cNvSpPr/>
                      <p:nvPr/>
                    </p:nvSpPr>
                    <p:spPr>
                      <a:xfrm>
                        <a:off x="310570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78" name="Rectangle 277">
                        <a:extLst>
                          <a:ext uri="{FF2B5EF4-FFF2-40B4-BE49-F238E27FC236}">
                            <a16:creationId xmlns:a16="http://schemas.microsoft.com/office/drawing/2014/main" id="{C3DEADAE-0829-A185-99DE-E45A2D35A90B}"/>
                          </a:ext>
                        </a:extLst>
                      </p:cNvPr>
                      <p:cNvSpPr/>
                      <p:nvPr/>
                    </p:nvSpPr>
                    <p:spPr>
                      <a:xfrm>
                        <a:off x="315309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79" name="Rectangle 278">
                        <a:extLst>
                          <a:ext uri="{FF2B5EF4-FFF2-40B4-BE49-F238E27FC236}">
                            <a16:creationId xmlns:a16="http://schemas.microsoft.com/office/drawing/2014/main" id="{03219334-1610-AFBA-8EFB-D35CC411D4F4}"/>
                          </a:ext>
                        </a:extLst>
                      </p:cNvPr>
                      <p:cNvSpPr/>
                      <p:nvPr/>
                    </p:nvSpPr>
                    <p:spPr>
                      <a:xfrm>
                        <a:off x="305831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80" name="Rectangle 279">
                        <a:extLst>
                          <a:ext uri="{FF2B5EF4-FFF2-40B4-BE49-F238E27FC236}">
                            <a16:creationId xmlns:a16="http://schemas.microsoft.com/office/drawing/2014/main" id="{8B960276-F5F0-B6DF-9ACD-3D990444FBAD}"/>
                          </a:ext>
                        </a:extLst>
                      </p:cNvPr>
                      <p:cNvSpPr/>
                      <p:nvPr/>
                    </p:nvSpPr>
                    <p:spPr>
                      <a:xfrm>
                        <a:off x="286875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81" name="Rectangle 280">
                        <a:extLst>
                          <a:ext uri="{FF2B5EF4-FFF2-40B4-BE49-F238E27FC236}">
                            <a16:creationId xmlns:a16="http://schemas.microsoft.com/office/drawing/2014/main" id="{9E85AF8B-3D9E-C116-CF1B-781A33FC5F17}"/>
                          </a:ext>
                        </a:extLst>
                      </p:cNvPr>
                      <p:cNvSpPr/>
                      <p:nvPr/>
                    </p:nvSpPr>
                    <p:spPr>
                      <a:xfrm>
                        <a:off x="296353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82" name="Rectangle 281">
                        <a:extLst>
                          <a:ext uri="{FF2B5EF4-FFF2-40B4-BE49-F238E27FC236}">
                            <a16:creationId xmlns:a16="http://schemas.microsoft.com/office/drawing/2014/main" id="{734E9B14-1BFA-0A2E-9427-DBFA6610756F}"/>
                          </a:ext>
                        </a:extLst>
                      </p:cNvPr>
                      <p:cNvSpPr/>
                      <p:nvPr/>
                    </p:nvSpPr>
                    <p:spPr>
                      <a:xfrm>
                        <a:off x="2916148" y="3984964"/>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sp>
                  <p:nvSpPr>
                    <p:cNvPr id="270" name="Rectangle 269">
                      <a:extLst>
                        <a:ext uri="{FF2B5EF4-FFF2-40B4-BE49-F238E27FC236}">
                          <a16:creationId xmlns:a16="http://schemas.microsoft.com/office/drawing/2014/main" id="{BD2F3D98-AD90-682C-1A04-E12CBA5BED19}"/>
                        </a:ext>
                      </a:extLst>
                    </p:cNvPr>
                    <p:cNvSpPr/>
                    <p:nvPr/>
                  </p:nvSpPr>
                  <p:spPr>
                    <a:xfrm>
                      <a:off x="3876066" y="3008689"/>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71" name="Rectangle 270">
                      <a:extLst>
                        <a:ext uri="{FF2B5EF4-FFF2-40B4-BE49-F238E27FC236}">
                          <a16:creationId xmlns:a16="http://schemas.microsoft.com/office/drawing/2014/main" id="{BA2B1D03-C8CF-D726-2953-9AD758469D95}"/>
                        </a:ext>
                      </a:extLst>
                    </p:cNvPr>
                    <p:cNvSpPr/>
                    <p:nvPr/>
                  </p:nvSpPr>
                  <p:spPr>
                    <a:xfrm>
                      <a:off x="3925975" y="3008689"/>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72" name="Rectangle 271">
                      <a:extLst>
                        <a:ext uri="{FF2B5EF4-FFF2-40B4-BE49-F238E27FC236}">
                          <a16:creationId xmlns:a16="http://schemas.microsoft.com/office/drawing/2014/main" id="{004C0F7B-7323-FFBB-EEA9-A99AA5463A77}"/>
                        </a:ext>
                      </a:extLst>
                    </p:cNvPr>
                    <p:cNvSpPr/>
                    <p:nvPr/>
                  </p:nvSpPr>
                  <p:spPr>
                    <a:xfrm>
                      <a:off x="3826156" y="3008689"/>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grpSp>
                <p:nvGrpSpPr>
                  <p:cNvPr id="261" name="Group 260">
                    <a:extLst>
                      <a:ext uri="{FF2B5EF4-FFF2-40B4-BE49-F238E27FC236}">
                        <a16:creationId xmlns:a16="http://schemas.microsoft.com/office/drawing/2014/main" id="{E0508985-B54A-1806-A881-A847518127BC}"/>
                      </a:ext>
                    </a:extLst>
                  </p:cNvPr>
                  <p:cNvGrpSpPr/>
                  <p:nvPr/>
                </p:nvGrpSpPr>
                <p:grpSpPr>
                  <a:xfrm>
                    <a:off x="5050664" y="2724987"/>
                    <a:ext cx="282669" cy="100779"/>
                    <a:chOff x="3024881" y="3827665"/>
                    <a:chExt cx="282669" cy="100779"/>
                  </a:xfrm>
                </p:grpSpPr>
                <p:sp>
                  <p:nvSpPr>
                    <p:cNvPr id="262" name="Rectangle 261">
                      <a:extLst>
                        <a:ext uri="{FF2B5EF4-FFF2-40B4-BE49-F238E27FC236}">
                          <a16:creationId xmlns:a16="http://schemas.microsoft.com/office/drawing/2014/main" id="{9183BD1B-FCF1-DD52-299C-2559D8B22D17}"/>
                        </a:ext>
                      </a:extLst>
                    </p:cNvPr>
                    <p:cNvSpPr/>
                    <p:nvPr/>
                  </p:nvSpPr>
                  <p:spPr>
                    <a:xfrm>
                      <a:off x="3167051" y="3827665"/>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63" name="Rectangle 262">
                      <a:extLst>
                        <a:ext uri="{FF2B5EF4-FFF2-40B4-BE49-F238E27FC236}">
                          <a16:creationId xmlns:a16="http://schemas.microsoft.com/office/drawing/2014/main" id="{8C901283-29F7-1C42-F5F5-468C384DB76A}"/>
                        </a:ext>
                      </a:extLst>
                    </p:cNvPr>
                    <p:cNvSpPr/>
                    <p:nvPr/>
                  </p:nvSpPr>
                  <p:spPr>
                    <a:xfrm>
                      <a:off x="3261831" y="3827665"/>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64" name="Rectangle 263">
                      <a:extLst>
                        <a:ext uri="{FF2B5EF4-FFF2-40B4-BE49-F238E27FC236}">
                          <a16:creationId xmlns:a16="http://schemas.microsoft.com/office/drawing/2014/main" id="{BD87399E-28D6-7C7C-1DD1-AC8A5C800B9D}"/>
                        </a:ext>
                      </a:extLst>
                    </p:cNvPr>
                    <p:cNvSpPr/>
                    <p:nvPr/>
                  </p:nvSpPr>
                  <p:spPr>
                    <a:xfrm>
                      <a:off x="3214441" y="3827665"/>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65" name="Rectangle 264">
                      <a:extLst>
                        <a:ext uri="{FF2B5EF4-FFF2-40B4-BE49-F238E27FC236}">
                          <a16:creationId xmlns:a16="http://schemas.microsoft.com/office/drawing/2014/main" id="{93F4E7C1-B407-2856-43B7-7ABB139DB7C6}"/>
                        </a:ext>
                      </a:extLst>
                    </p:cNvPr>
                    <p:cNvSpPr/>
                    <p:nvPr/>
                  </p:nvSpPr>
                  <p:spPr>
                    <a:xfrm>
                      <a:off x="3024881" y="3827665"/>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66" name="Rectangle 265">
                      <a:extLst>
                        <a:ext uri="{FF2B5EF4-FFF2-40B4-BE49-F238E27FC236}">
                          <a16:creationId xmlns:a16="http://schemas.microsoft.com/office/drawing/2014/main" id="{41879AE3-4A39-96F9-827B-3E8E061CE972}"/>
                        </a:ext>
                      </a:extLst>
                    </p:cNvPr>
                    <p:cNvSpPr/>
                    <p:nvPr/>
                  </p:nvSpPr>
                  <p:spPr>
                    <a:xfrm>
                      <a:off x="3119661" y="3827665"/>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sp>
                  <p:nvSpPr>
                    <p:cNvPr id="267" name="Rectangle 266">
                      <a:extLst>
                        <a:ext uri="{FF2B5EF4-FFF2-40B4-BE49-F238E27FC236}">
                          <a16:creationId xmlns:a16="http://schemas.microsoft.com/office/drawing/2014/main" id="{6311A0B9-E607-68DB-C7C7-8DD3A4DB582F}"/>
                        </a:ext>
                      </a:extLst>
                    </p:cNvPr>
                    <p:cNvSpPr/>
                    <p:nvPr/>
                  </p:nvSpPr>
                  <p:spPr>
                    <a:xfrm>
                      <a:off x="3072271" y="3827665"/>
                      <a:ext cx="45719" cy="100779"/>
                    </a:xfrm>
                    <a:prstGeom prst="rect">
                      <a:avLst/>
                    </a:prstGeom>
                    <a:solidFill>
                      <a:schemeClr val="accent2"/>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675">
                        <a:solidFill>
                          <a:schemeClr val="tx1"/>
                        </a:solidFill>
                      </a:endParaRPr>
                    </a:p>
                  </p:txBody>
                </p:sp>
              </p:grpSp>
            </p:grpSp>
          </p:grpSp>
          <p:pic>
            <p:nvPicPr>
              <p:cNvPr id="233" name="Picture 232" descr="A black background with a black square&#10;&#10;AI-generated content may be incorrect.">
                <a:extLst>
                  <a:ext uri="{FF2B5EF4-FFF2-40B4-BE49-F238E27FC236}">
                    <a16:creationId xmlns:a16="http://schemas.microsoft.com/office/drawing/2014/main" id="{E263D338-0B07-67EA-2C04-EEBA1FB6964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9680" y="5363463"/>
                <a:ext cx="1200831" cy="1117600"/>
              </a:xfrm>
              <a:prstGeom prst="rect">
                <a:avLst/>
              </a:prstGeom>
            </p:spPr>
          </p:pic>
        </p:grpSp>
        <p:sp>
          <p:nvSpPr>
            <p:cNvPr id="227" name="Content Placeholder 2">
              <a:extLst>
                <a:ext uri="{FF2B5EF4-FFF2-40B4-BE49-F238E27FC236}">
                  <a16:creationId xmlns:a16="http://schemas.microsoft.com/office/drawing/2014/main" id="{4381A67D-7FE0-631D-1AFB-5C0637E2D558}"/>
                </a:ext>
              </a:extLst>
            </p:cNvPr>
            <p:cNvSpPr txBox="1">
              <a:spLocks/>
            </p:cNvSpPr>
            <p:nvPr/>
          </p:nvSpPr>
          <p:spPr>
            <a:xfrm>
              <a:off x="469763" y="2612675"/>
              <a:ext cx="3350941" cy="507963"/>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sz="1500" b="1" dirty="0">
                  <a:solidFill>
                    <a:schemeClr val="bg1"/>
                  </a:solidFill>
                </a:rPr>
                <a:t>Seamless support for</a:t>
              </a:r>
              <a:endParaRPr lang="en-US" sz="1350" b="1" dirty="0">
                <a:solidFill>
                  <a:schemeClr val="bg1"/>
                </a:solidFill>
              </a:endParaRPr>
            </a:p>
          </p:txBody>
        </p:sp>
      </p:grpSp>
      <p:grpSp>
        <p:nvGrpSpPr>
          <p:cNvPr id="443" name="Group 442">
            <a:extLst>
              <a:ext uri="{FF2B5EF4-FFF2-40B4-BE49-F238E27FC236}">
                <a16:creationId xmlns:a16="http://schemas.microsoft.com/office/drawing/2014/main" id="{D382FF99-18EC-BA9B-748C-DCF5C5C1B53D}"/>
              </a:ext>
            </a:extLst>
          </p:cNvPr>
          <p:cNvGrpSpPr/>
          <p:nvPr/>
        </p:nvGrpSpPr>
        <p:grpSpPr>
          <a:xfrm>
            <a:off x="7887" y="1072915"/>
            <a:ext cx="5650413" cy="3470460"/>
            <a:chOff x="4787932" y="1943049"/>
            <a:chExt cx="7533883" cy="4627279"/>
          </a:xfrm>
        </p:grpSpPr>
        <p:pic>
          <p:nvPicPr>
            <p:cNvPr id="423" name="Picture 422">
              <a:extLst>
                <a:ext uri="{FF2B5EF4-FFF2-40B4-BE49-F238E27FC236}">
                  <a16:creationId xmlns:a16="http://schemas.microsoft.com/office/drawing/2014/main" id="{BE64B41F-747C-BC09-A982-960BD09604C5}"/>
                </a:ext>
              </a:extLst>
            </p:cNvPr>
            <p:cNvPicPr>
              <a:picLocks noChangeAspect="1"/>
            </p:cNvPicPr>
            <p:nvPr/>
          </p:nvPicPr>
          <p:blipFill>
            <a:blip r:embed="rId8"/>
            <a:srcRect t="10486"/>
            <a:stretch/>
          </p:blipFill>
          <p:spPr>
            <a:xfrm>
              <a:off x="5134023" y="3828321"/>
              <a:ext cx="2726034" cy="1445908"/>
            </a:xfrm>
            <a:prstGeom prst="rect">
              <a:avLst/>
            </a:prstGeom>
          </p:spPr>
        </p:pic>
        <p:sp>
          <p:nvSpPr>
            <p:cNvPr id="424" name="TextBox 423">
              <a:extLst>
                <a:ext uri="{FF2B5EF4-FFF2-40B4-BE49-F238E27FC236}">
                  <a16:creationId xmlns:a16="http://schemas.microsoft.com/office/drawing/2014/main" id="{F804EABE-A971-9A13-848F-E49358215390}"/>
                </a:ext>
              </a:extLst>
            </p:cNvPr>
            <p:cNvSpPr txBox="1"/>
            <p:nvPr/>
          </p:nvSpPr>
          <p:spPr>
            <a:xfrm>
              <a:off x="6292200" y="5221826"/>
              <a:ext cx="1629079" cy="266740"/>
            </a:xfrm>
            <a:prstGeom prst="rect">
              <a:avLst/>
            </a:prstGeom>
            <a:noFill/>
          </p:spPr>
          <p:txBody>
            <a:bodyPr wrap="none" rtlCol="0">
              <a:spAutoFit/>
            </a:bodyPr>
            <a:lstStyle/>
            <a:p>
              <a:pPr algn="ctr"/>
              <a:r>
                <a:rPr lang="en-US" sz="700" dirty="0"/>
                <a:t>(Bezanson, </a:t>
              </a:r>
              <a:r>
                <a:rPr lang="en-US" sz="700" dirty="0" err="1"/>
                <a:t>e.a.</a:t>
              </a:r>
              <a:r>
                <a:rPr lang="en-US" sz="700" dirty="0"/>
                <a:t>, 2019 [2])</a:t>
              </a:r>
            </a:p>
          </p:txBody>
        </p:sp>
        <p:grpSp>
          <p:nvGrpSpPr>
            <p:cNvPr id="425" name="Group 424">
              <a:extLst>
                <a:ext uri="{FF2B5EF4-FFF2-40B4-BE49-F238E27FC236}">
                  <a16:creationId xmlns:a16="http://schemas.microsoft.com/office/drawing/2014/main" id="{F8B451FF-5BC1-79A9-7898-D22649F32143}"/>
                </a:ext>
              </a:extLst>
            </p:cNvPr>
            <p:cNvGrpSpPr/>
            <p:nvPr/>
          </p:nvGrpSpPr>
          <p:grpSpPr>
            <a:xfrm>
              <a:off x="4885775" y="2690983"/>
              <a:ext cx="3222530" cy="642903"/>
              <a:chOff x="501495" y="2041198"/>
              <a:chExt cx="3222530" cy="642903"/>
            </a:xfrm>
          </p:grpSpPr>
          <p:sp>
            <p:nvSpPr>
              <p:cNvPr id="426" name="TextBox 425">
                <a:extLst>
                  <a:ext uri="{FF2B5EF4-FFF2-40B4-BE49-F238E27FC236}">
                    <a16:creationId xmlns:a16="http://schemas.microsoft.com/office/drawing/2014/main" id="{57975D3F-C51C-05A4-5A25-FC636C3B778A}"/>
                  </a:ext>
                </a:extLst>
              </p:cNvPr>
              <p:cNvSpPr txBox="1"/>
              <p:nvPr/>
            </p:nvSpPr>
            <p:spPr>
              <a:xfrm>
                <a:off x="501495" y="2041198"/>
                <a:ext cx="3222530" cy="553998"/>
              </a:xfrm>
              <a:prstGeom prst="rect">
                <a:avLst/>
              </a:prstGeom>
              <a:noFill/>
            </p:spPr>
            <p:txBody>
              <a:bodyPr wrap="square">
                <a:spAutoFit/>
              </a:bodyPr>
              <a:lstStyle/>
              <a:p>
                <a:pPr algn="ctr"/>
                <a:r>
                  <a:rPr lang="en-US" sz="1050" dirty="0"/>
                  <a:t>Multiple-dispatch provides composability</a:t>
                </a:r>
                <a:endParaRPr lang="en-BE" sz="1050" dirty="0"/>
              </a:p>
            </p:txBody>
          </p:sp>
          <p:cxnSp>
            <p:nvCxnSpPr>
              <p:cNvPr id="427" name="Straight Connector 426">
                <a:extLst>
                  <a:ext uri="{FF2B5EF4-FFF2-40B4-BE49-F238E27FC236}">
                    <a16:creationId xmlns:a16="http://schemas.microsoft.com/office/drawing/2014/main" id="{04E2EA40-45F4-D40A-7883-7A8CA410DB13}"/>
                  </a:ext>
                </a:extLst>
              </p:cNvPr>
              <p:cNvCxnSpPr>
                <a:cxnSpLocks/>
              </p:cNvCxnSpPr>
              <p:nvPr/>
            </p:nvCxnSpPr>
            <p:spPr>
              <a:xfrm>
                <a:off x="562246" y="2047571"/>
                <a:ext cx="3101027"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28" name="Straight Connector 427">
                <a:extLst>
                  <a:ext uri="{FF2B5EF4-FFF2-40B4-BE49-F238E27FC236}">
                    <a16:creationId xmlns:a16="http://schemas.microsoft.com/office/drawing/2014/main" id="{A1313BCA-E6FF-3876-CF98-8322BF4054A5}"/>
                  </a:ext>
                </a:extLst>
              </p:cNvPr>
              <p:cNvCxnSpPr>
                <a:cxnSpLocks/>
              </p:cNvCxnSpPr>
              <p:nvPr/>
            </p:nvCxnSpPr>
            <p:spPr>
              <a:xfrm>
                <a:off x="562246" y="2684101"/>
                <a:ext cx="3101027"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grpSp>
          <p:nvGrpSpPr>
            <p:cNvPr id="429" name="Group 428">
              <a:extLst>
                <a:ext uri="{FF2B5EF4-FFF2-40B4-BE49-F238E27FC236}">
                  <a16:creationId xmlns:a16="http://schemas.microsoft.com/office/drawing/2014/main" id="{134B2CA4-8EF0-D564-EED0-2B53D5B98BF5}"/>
                </a:ext>
              </a:extLst>
            </p:cNvPr>
            <p:cNvGrpSpPr/>
            <p:nvPr/>
          </p:nvGrpSpPr>
          <p:grpSpPr>
            <a:xfrm>
              <a:off x="8188316" y="2696435"/>
              <a:ext cx="3591242" cy="642903"/>
              <a:chOff x="537763" y="1549619"/>
              <a:chExt cx="4206548" cy="889092"/>
            </a:xfrm>
          </p:grpSpPr>
          <p:sp>
            <p:nvSpPr>
              <p:cNvPr id="430" name="TextBox 429">
                <a:extLst>
                  <a:ext uri="{FF2B5EF4-FFF2-40B4-BE49-F238E27FC236}">
                    <a16:creationId xmlns:a16="http://schemas.microsoft.com/office/drawing/2014/main" id="{7A180F36-77CE-E09F-ADC4-CC927FB3B5EC}"/>
                  </a:ext>
                </a:extLst>
              </p:cNvPr>
              <p:cNvSpPr txBox="1"/>
              <p:nvPr/>
            </p:nvSpPr>
            <p:spPr>
              <a:xfrm>
                <a:off x="537763" y="1549619"/>
                <a:ext cx="4206548" cy="766142"/>
              </a:xfrm>
              <a:prstGeom prst="rect">
                <a:avLst/>
              </a:prstGeom>
              <a:noFill/>
            </p:spPr>
            <p:txBody>
              <a:bodyPr wrap="square">
                <a:spAutoFit/>
              </a:bodyPr>
              <a:lstStyle/>
              <a:p>
                <a:pPr algn="ctr"/>
                <a:r>
                  <a:rPr lang="en-US" sz="1050" dirty="0"/>
                  <a:t>Kernel abstractions: portable code across GPU vendors</a:t>
                </a:r>
                <a:endParaRPr lang="en-BE" sz="1050" dirty="0"/>
              </a:p>
            </p:txBody>
          </p:sp>
          <p:cxnSp>
            <p:nvCxnSpPr>
              <p:cNvPr id="431" name="Straight Connector 430">
                <a:extLst>
                  <a:ext uri="{FF2B5EF4-FFF2-40B4-BE49-F238E27FC236}">
                    <a16:creationId xmlns:a16="http://schemas.microsoft.com/office/drawing/2014/main" id="{06D72494-7816-5198-2E4B-8E64B155A994}"/>
                  </a:ext>
                </a:extLst>
              </p:cNvPr>
              <p:cNvCxnSpPr>
                <a:cxnSpLocks/>
              </p:cNvCxnSpPr>
              <p:nvPr/>
            </p:nvCxnSpPr>
            <p:spPr>
              <a:xfrm>
                <a:off x="617065" y="1558432"/>
                <a:ext cx="4047944"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32" name="Straight Connector 431">
                <a:extLst>
                  <a:ext uri="{FF2B5EF4-FFF2-40B4-BE49-F238E27FC236}">
                    <a16:creationId xmlns:a16="http://schemas.microsoft.com/office/drawing/2014/main" id="{1B1233F1-3E69-A1D6-B0A6-D4864E9946FB}"/>
                  </a:ext>
                </a:extLst>
              </p:cNvPr>
              <p:cNvCxnSpPr>
                <a:cxnSpLocks/>
              </p:cNvCxnSpPr>
              <p:nvPr/>
            </p:nvCxnSpPr>
            <p:spPr>
              <a:xfrm>
                <a:off x="617065" y="2438711"/>
                <a:ext cx="4047944"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sp>
          <p:nvSpPr>
            <p:cNvPr id="433" name="TextBox 432">
              <a:extLst>
                <a:ext uri="{FF2B5EF4-FFF2-40B4-BE49-F238E27FC236}">
                  <a16:creationId xmlns:a16="http://schemas.microsoft.com/office/drawing/2014/main" id="{948F8EE3-7BAC-4732-773B-56F0851C4AC1}"/>
                </a:ext>
              </a:extLst>
            </p:cNvPr>
            <p:cNvSpPr txBox="1"/>
            <p:nvPr/>
          </p:nvSpPr>
          <p:spPr>
            <a:xfrm>
              <a:off x="8372223" y="3833773"/>
              <a:ext cx="3223428" cy="861775"/>
            </a:xfrm>
            <a:prstGeom prst="rect">
              <a:avLst/>
            </a:prstGeom>
            <a:noFill/>
          </p:spPr>
          <p:txBody>
            <a:bodyPr wrap="square" rtlCol="0">
              <a:spAutoFit/>
            </a:bodyPr>
            <a:lstStyle/>
            <a:p>
              <a:r>
                <a:rPr lang="en-US" sz="1200" dirty="0"/>
                <a:t>Kernels compiled to native code through LLVM</a:t>
              </a:r>
              <a:br>
                <a:rPr lang="en-US" sz="1200" dirty="0"/>
              </a:br>
              <a:endParaRPr lang="en-US" sz="1200" dirty="0"/>
            </a:p>
          </p:txBody>
        </p:sp>
        <p:sp>
          <p:nvSpPr>
            <p:cNvPr id="434" name="TextBox 433">
              <a:extLst>
                <a:ext uri="{FF2B5EF4-FFF2-40B4-BE49-F238E27FC236}">
                  <a16:creationId xmlns:a16="http://schemas.microsoft.com/office/drawing/2014/main" id="{61A9C5B5-510C-F345-F388-AE3C647FEDD5}"/>
                </a:ext>
              </a:extLst>
            </p:cNvPr>
            <p:cNvSpPr txBox="1"/>
            <p:nvPr/>
          </p:nvSpPr>
          <p:spPr>
            <a:xfrm>
              <a:off x="4787932" y="5636058"/>
              <a:ext cx="3523540" cy="769441"/>
            </a:xfrm>
            <a:prstGeom prst="rect">
              <a:avLst/>
            </a:prstGeom>
            <a:noFill/>
          </p:spPr>
          <p:txBody>
            <a:bodyPr wrap="square" rtlCol="0">
              <a:spAutoFit/>
            </a:bodyPr>
            <a:lstStyle/>
            <a:p>
              <a:r>
                <a:rPr lang="en-US" sz="1050" dirty="0"/>
                <a:t>High-level abstractions allow plugging in low-level building blocks and extending to new building blocks seamlessly</a:t>
              </a:r>
            </a:p>
          </p:txBody>
        </p:sp>
        <p:pic>
          <p:nvPicPr>
            <p:cNvPr id="435" name="Picture 434">
              <a:extLst>
                <a:ext uri="{FF2B5EF4-FFF2-40B4-BE49-F238E27FC236}">
                  <a16:creationId xmlns:a16="http://schemas.microsoft.com/office/drawing/2014/main" id="{4F3B3BE9-52CC-741D-1CD6-C0CDD41F383B}"/>
                </a:ext>
              </a:extLst>
            </p:cNvPr>
            <p:cNvPicPr>
              <a:picLocks noChangeAspect="1"/>
            </p:cNvPicPr>
            <p:nvPr/>
          </p:nvPicPr>
          <p:blipFill>
            <a:blip r:embed="rId9"/>
            <a:stretch>
              <a:fillRect/>
            </a:stretch>
          </p:blipFill>
          <p:spPr>
            <a:xfrm>
              <a:off x="8916438" y="4281675"/>
              <a:ext cx="2260436" cy="1990898"/>
            </a:xfrm>
            <a:prstGeom prst="rect">
              <a:avLst/>
            </a:prstGeom>
          </p:spPr>
        </p:pic>
        <p:sp>
          <p:nvSpPr>
            <p:cNvPr id="436" name="TextBox 435">
              <a:extLst>
                <a:ext uri="{FF2B5EF4-FFF2-40B4-BE49-F238E27FC236}">
                  <a16:creationId xmlns:a16="http://schemas.microsoft.com/office/drawing/2014/main" id="{550AED57-3F97-A805-7417-94E6B241707E}"/>
                </a:ext>
              </a:extLst>
            </p:cNvPr>
            <p:cNvSpPr txBox="1"/>
            <p:nvPr/>
          </p:nvSpPr>
          <p:spPr>
            <a:xfrm>
              <a:off x="9505576" y="6139441"/>
              <a:ext cx="2003112" cy="430887"/>
            </a:xfrm>
            <a:prstGeom prst="rect">
              <a:avLst/>
            </a:prstGeom>
            <a:noFill/>
          </p:spPr>
          <p:txBody>
            <a:bodyPr wrap="none" rtlCol="0">
              <a:spAutoFit/>
            </a:bodyPr>
            <a:lstStyle/>
            <a:p>
              <a:pPr algn="r"/>
              <a:r>
                <a:rPr lang="en-US" sz="750" dirty="0"/>
                <a:t>(Utkarsh, </a:t>
              </a:r>
              <a:r>
                <a:rPr lang="en-US" sz="750" dirty="0" err="1"/>
                <a:t>e.a.</a:t>
              </a:r>
              <a:r>
                <a:rPr lang="en-US" sz="750" dirty="0"/>
                <a:t>, 2023 [3], </a:t>
              </a:r>
              <a:br>
                <a:rPr lang="en-US" sz="750" dirty="0"/>
              </a:br>
              <a:r>
                <a:rPr lang="en-US" sz="750" dirty="0"/>
                <a:t>library: Churavy, </a:t>
              </a:r>
              <a:r>
                <a:rPr lang="en-US" sz="750" dirty="0" err="1"/>
                <a:t>e.a.</a:t>
              </a:r>
              <a:r>
                <a:rPr lang="en-US" sz="750" dirty="0"/>
                <a:t>, 2023 [4])</a:t>
              </a:r>
            </a:p>
          </p:txBody>
        </p:sp>
        <p:sp>
          <p:nvSpPr>
            <p:cNvPr id="438" name="Title 1">
              <a:extLst>
                <a:ext uri="{FF2B5EF4-FFF2-40B4-BE49-F238E27FC236}">
                  <a16:creationId xmlns:a16="http://schemas.microsoft.com/office/drawing/2014/main" id="{C43814C0-014E-B5B7-3D3A-EC993FD45AE7}"/>
                </a:ext>
              </a:extLst>
            </p:cNvPr>
            <p:cNvSpPr txBox="1">
              <a:spLocks/>
            </p:cNvSpPr>
            <p:nvPr/>
          </p:nvSpPr>
          <p:spPr>
            <a:xfrm>
              <a:off x="5037761" y="1943049"/>
              <a:ext cx="7284054" cy="857276"/>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solidFill>
                    <a:schemeClr val="bg1"/>
                  </a:solidFill>
                </a:rPr>
                <a:t>Julia</a:t>
              </a:r>
              <a:r>
                <a:rPr lang="en-US" sz="1800" dirty="0"/>
                <a:t>: performance through compiler JIT optimization</a:t>
              </a:r>
            </a:p>
          </p:txBody>
        </p:sp>
      </p:grpSp>
      <p:sp>
        <p:nvSpPr>
          <p:cNvPr id="442" name="Title 1">
            <a:extLst>
              <a:ext uri="{FF2B5EF4-FFF2-40B4-BE49-F238E27FC236}">
                <a16:creationId xmlns:a16="http://schemas.microsoft.com/office/drawing/2014/main" id="{968F236E-0A59-9CEC-D167-D42DF56E6D40}"/>
              </a:ext>
            </a:extLst>
          </p:cNvPr>
          <p:cNvSpPr>
            <a:spLocks noGrp="1"/>
          </p:cNvSpPr>
          <p:nvPr>
            <p:ph type="title"/>
          </p:nvPr>
        </p:nvSpPr>
        <p:spPr>
          <a:xfrm>
            <a:off x="99754" y="73152"/>
            <a:ext cx="6093066" cy="530352"/>
          </a:xfrm>
        </p:spPr>
        <p:txBody>
          <a:bodyPr>
            <a:noAutofit/>
          </a:bodyPr>
          <a:lstStyle/>
          <a:p>
            <a:r>
              <a:rPr lang="en-US" sz="2000" dirty="0"/>
              <a:t>The Dream: performant, extensible, sustainable</a:t>
            </a:r>
            <a:endParaRPr lang="en-BE" sz="2000" dirty="0"/>
          </a:p>
        </p:txBody>
      </p:sp>
      <p:sp>
        <p:nvSpPr>
          <p:cNvPr id="2" name="Footer Placeholder 1">
            <a:extLst>
              <a:ext uri="{FF2B5EF4-FFF2-40B4-BE49-F238E27FC236}">
                <a16:creationId xmlns:a16="http://schemas.microsoft.com/office/drawing/2014/main" id="{05B7E19B-1892-3592-4614-D1EA2604F728}"/>
              </a:ext>
            </a:extLst>
          </p:cNvPr>
          <p:cNvSpPr>
            <a:spLocks noGrp="1"/>
          </p:cNvSpPr>
          <p:nvPr>
            <p:ph type="ftr" sz="quarter" idx="4294967295"/>
          </p:nvPr>
        </p:nvSpPr>
        <p:spPr>
          <a:xfrm>
            <a:off x="50292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Portable to Efficient: Auto-Tuning Hardware-Agnostic GPU Kernels in Julia</a:t>
            </a:r>
          </a:p>
        </p:txBody>
      </p:sp>
      <p:pic>
        <p:nvPicPr>
          <p:cNvPr id="445" name="Picture 8" descr="Julia (programming language) - Wikipedia">
            <a:extLst>
              <a:ext uri="{FF2B5EF4-FFF2-40B4-BE49-F238E27FC236}">
                <a16:creationId xmlns:a16="http://schemas.microsoft.com/office/drawing/2014/main" id="{33B9EF8E-A24D-85A2-5165-5D0EE1E4AD0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334" y="1145862"/>
            <a:ext cx="612419" cy="39501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C65727B7-BA83-D705-469D-E8141EF28399}"/>
              </a:ext>
            </a:extLst>
          </p:cNvPr>
          <p:cNvSpPr/>
          <p:nvPr/>
        </p:nvSpPr>
        <p:spPr>
          <a:xfrm>
            <a:off x="-112734" y="1890103"/>
            <a:ext cx="9413309" cy="1859245"/>
          </a:xfrm>
          <a:prstGeom prst="rect">
            <a:avLst/>
          </a:prstGeom>
          <a:solidFill>
            <a:srgbClr val="000000">
              <a:alpha val="78824"/>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2700" b="1" dirty="0">
                <a:solidFill>
                  <a:schemeClr val="bg1"/>
                </a:solidFill>
              </a:rPr>
              <a:t>Is compiler optimization sufficient?</a:t>
            </a:r>
          </a:p>
        </p:txBody>
      </p:sp>
    </p:spTree>
    <p:extLst>
      <p:ext uri="{BB962C8B-B14F-4D97-AF65-F5344CB8AC3E}">
        <p14:creationId xmlns:p14="http://schemas.microsoft.com/office/powerpoint/2010/main" val="4213566039"/>
      </p:ext>
    </p:extLst>
  </p:cSld>
  <p:clrMapOvr>
    <a:masterClrMapping/>
  </p:clrMapOvr>
  <mc:AlternateContent xmlns:mc="http://schemas.openxmlformats.org/markup-compatibility/2006" xmlns:p14="http://schemas.microsoft.com/office/powerpoint/2010/main">
    <mc:Choice Requires="p14">
      <p:transition spd="slow" p14:dur="2000" advTm="121857"/>
    </mc:Choice>
    <mc:Fallback xmlns="">
      <p:transition spd="slow" advTm="121857"/>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0C2F1-7869-5CE6-7623-8E32425B3E92}"/>
              </a:ext>
            </a:extLst>
          </p:cNvPr>
          <p:cNvSpPr>
            <a:spLocks noGrp="1"/>
          </p:cNvSpPr>
          <p:nvPr>
            <p:ph type="title"/>
          </p:nvPr>
        </p:nvSpPr>
        <p:spPr>
          <a:xfrm>
            <a:off x="83128" y="73152"/>
            <a:ext cx="6484938" cy="530352"/>
          </a:xfrm>
        </p:spPr>
        <p:txBody>
          <a:bodyPr/>
          <a:lstStyle/>
          <a:p>
            <a:r>
              <a:rPr lang="en-US" sz="2000" dirty="0"/>
              <a:t>Autotuning optimizes parameters by hardware</a:t>
            </a:r>
          </a:p>
        </p:txBody>
      </p:sp>
      <p:sp>
        <p:nvSpPr>
          <p:cNvPr id="3" name="Content Placeholder 2">
            <a:extLst>
              <a:ext uri="{FF2B5EF4-FFF2-40B4-BE49-F238E27FC236}">
                <a16:creationId xmlns:a16="http://schemas.microsoft.com/office/drawing/2014/main" id="{74B37926-D5A2-F6D8-0D4A-47FCEF05EBDE}"/>
              </a:ext>
            </a:extLst>
          </p:cNvPr>
          <p:cNvSpPr>
            <a:spLocks noGrp="1"/>
          </p:cNvSpPr>
          <p:nvPr>
            <p:ph idx="4294967295"/>
          </p:nvPr>
        </p:nvSpPr>
        <p:spPr>
          <a:xfrm>
            <a:off x="0" y="3444875"/>
            <a:ext cx="6484938" cy="1454150"/>
          </a:xfrm>
        </p:spPr>
        <p:txBody>
          <a:bodyPr>
            <a:normAutofit/>
          </a:bodyPr>
          <a:lstStyle/>
          <a:p>
            <a:r>
              <a:rPr lang="en-US" sz="1800" dirty="0"/>
              <a:t>Supports:</a:t>
            </a:r>
          </a:p>
          <a:p>
            <a:pPr marL="285750" lvl="1" indent="-285750">
              <a:buFont typeface="Arial" panose="020B0604020202020204" pitchFamily="34" charset="0"/>
              <a:buChar char="•"/>
            </a:pPr>
            <a:r>
              <a:rPr lang="en-US" sz="1500" dirty="0"/>
              <a:t>CUDA, HIP, OpenCL, C++, Fortran, </a:t>
            </a:r>
            <a:r>
              <a:rPr lang="en-US" sz="1500" dirty="0" err="1"/>
              <a:t>OpenACC</a:t>
            </a:r>
            <a:endParaRPr lang="en-US" sz="1500" dirty="0"/>
          </a:p>
          <a:p>
            <a:pPr marL="285750" lvl="1" indent="-285750">
              <a:buFont typeface="Arial" panose="020B0604020202020204" pitchFamily="34" charset="0"/>
              <a:buChar char="•"/>
            </a:pPr>
            <a:r>
              <a:rPr lang="en-US" sz="1500" dirty="0"/>
              <a:t>20+ search optimization algorithms and multi-objective Optimization</a:t>
            </a:r>
          </a:p>
          <a:p>
            <a:pPr marL="285750" lvl="1" indent="-285750">
              <a:buFont typeface="Arial" panose="020B0604020202020204" pitchFamily="34" charset="0"/>
              <a:buChar char="•"/>
            </a:pPr>
            <a:r>
              <a:rPr lang="en-US" sz="1500" dirty="0"/>
              <a:t>Energy measurement of GPU kernels</a:t>
            </a:r>
          </a:p>
          <a:p>
            <a:pPr marL="285750" lvl="1" indent="-285750">
              <a:buFont typeface="Arial" panose="020B0604020202020204" pitchFamily="34" charset="0"/>
              <a:buChar char="•"/>
            </a:pPr>
            <a:r>
              <a:rPr lang="en-US" sz="1500" dirty="0"/>
              <a:t>Mixed-precision &amp; accuracy tuning</a:t>
            </a:r>
          </a:p>
        </p:txBody>
      </p:sp>
      <p:sp>
        <p:nvSpPr>
          <p:cNvPr id="4" name="Footer Placeholder 3">
            <a:extLst>
              <a:ext uri="{FF2B5EF4-FFF2-40B4-BE49-F238E27FC236}">
                <a16:creationId xmlns:a16="http://schemas.microsoft.com/office/drawing/2014/main" id="{D6D59525-E90E-015E-7B2E-C3998A242574}"/>
              </a:ext>
            </a:extLst>
          </p:cNvPr>
          <p:cNvSpPr>
            <a:spLocks noGrp="1"/>
          </p:cNvSpPr>
          <p:nvPr>
            <p:ph type="ftr" sz="quarter" idx="4294967295"/>
          </p:nvPr>
        </p:nvSpPr>
        <p:spPr>
          <a:xfrm>
            <a:off x="50292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Portable to Efficient: Auto-Tuning Hardware-Agnostic GPU Kernels in Julia</a:t>
            </a:r>
          </a:p>
        </p:txBody>
      </p:sp>
      <p:grpSp>
        <p:nvGrpSpPr>
          <p:cNvPr id="27" name="Group 26">
            <a:extLst>
              <a:ext uri="{FF2B5EF4-FFF2-40B4-BE49-F238E27FC236}">
                <a16:creationId xmlns:a16="http://schemas.microsoft.com/office/drawing/2014/main" id="{D41AD3AE-93C9-3D6A-438B-29A9E1CBF557}"/>
              </a:ext>
            </a:extLst>
          </p:cNvPr>
          <p:cNvGrpSpPr/>
          <p:nvPr/>
        </p:nvGrpSpPr>
        <p:grpSpPr>
          <a:xfrm>
            <a:off x="706172" y="1611142"/>
            <a:ext cx="2601259" cy="1533362"/>
            <a:chOff x="1041415" y="2670736"/>
            <a:chExt cx="3468345" cy="2496576"/>
          </a:xfrm>
        </p:grpSpPr>
        <p:sp>
          <p:nvSpPr>
            <p:cNvPr id="5" name="Rectangle 4">
              <a:extLst>
                <a:ext uri="{FF2B5EF4-FFF2-40B4-BE49-F238E27FC236}">
                  <a16:creationId xmlns:a16="http://schemas.microsoft.com/office/drawing/2014/main" id="{8730E58D-CA8D-34B9-065F-E4E72D391AA6}"/>
                </a:ext>
              </a:extLst>
            </p:cNvPr>
            <p:cNvSpPr/>
            <p:nvPr/>
          </p:nvSpPr>
          <p:spPr>
            <a:xfrm>
              <a:off x="1041415" y="2670736"/>
              <a:ext cx="3468345" cy="35993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Generate configurations</a:t>
              </a:r>
            </a:p>
          </p:txBody>
        </p:sp>
        <p:cxnSp>
          <p:nvCxnSpPr>
            <p:cNvPr id="11" name="Straight Arrow Connector 10">
              <a:extLst>
                <a:ext uri="{FF2B5EF4-FFF2-40B4-BE49-F238E27FC236}">
                  <a16:creationId xmlns:a16="http://schemas.microsoft.com/office/drawing/2014/main" id="{FA180320-D928-A558-D2DB-BCF18CFC6A2A}"/>
                </a:ext>
              </a:extLst>
            </p:cNvPr>
            <p:cNvCxnSpPr>
              <a:cxnSpLocks/>
            </p:cNvCxnSpPr>
            <p:nvPr/>
          </p:nvCxnSpPr>
          <p:spPr>
            <a:xfrm>
              <a:off x="2775587" y="3021769"/>
              <a:ext cx="0" cy="19203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Rectangle 12">
              <a:extLst>
                <a:ext uri="{FF2B5EF4-FFF2-40B4-BE49-F238E27FC236}">
                  <a16:creationId xmlns:a16="http://schemas.microsoft.com/office/drawing/2014/main" id="{BA71A12C-E09C-BD56-A41B-C23EE99007C2}"/>
                </a:ext>
              </a:extLst>
            </p:cNvPr>
            <p:cNvSpPr/>
            <p:nvPr/>
          </p:nvSpPr>
          <p:spPr>
            <a:xfrm>
              <a:off x="1041415" y="3204896"/>
              <a:ext cx="3468345" cy="35993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Compile and run each candidate</a:t>
              </a:r>
            </a:p>
          </p:txBody>
        </p:sp>
        <p:sp>
          <p:nvSpPr>
            <p:cNvPr id="15" name="Rectangle 14">
              <a:extLst>
                <a:ext uri="{FF2B5EF4-FFF2-40B4-BE49-F238E27FC236}">
                  <a16:creationId xmlns:a16="http://schemas.microsoft.com/office/drawing/2014/main" id="{FC7358D2-45A7-F7D8-D7EB-C9FF9A90FFF5}"/>
                </a:ext>
              </a:extLst>
            </p:cNvPr>
            <p:cNvSpPr/>
            <p:nvPr/>
          </p:nvSpPr>
          <p:spPr>
            <a:xfrm>
              <a:off x="1041415" y="3739056"/>
              <a:ext cx="3468345" cy="35993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Measure performance</a:t>
              </a:r>
            </a:p>
          </p:txBody>
        </p:sp>
        <p:sp>
          <p:nvSpPr>
            <p:cNvPr id="17" name="Rectangle 16">
              <a:extLst>
                <a:ext uri="{FF2B5EF4-FFF2-40B4-BE49-F238E27FC236}">
                  <a16:creationId xmlns:a16="http://schemas.microsoft.com/office/drawing/2014/main" id="{AA5A7571-E104-F79F-E387-A907E67CF75C}"/>
                </a:ext>
              </a:extLst>
            </p:cNvPr>
            <p:cNvSpPr/>
            <p:nvPr/>
          </p:nvSpPr>
          <p:spPr>
            <a:xfrm>
              <a:off x="1041415" y="4273216"/>
              <a:ext cx="3468345" cy="35993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Search for the best configuration</a:t>
              </a:r>
            </a:p>
          </p:txBody>
        </p:sp>
        <p:sp>
          <p:nvSpPr>
            <p:cNvPr id="19" name="Rectangle 18">
              <a:extLst>
                <a:ext uri="{FF2B5EF4-FFF2-40B4-BE49-F238E27FC236}">
                  <a16:creationId xmlns:a16="http://schemas.microsoft.com/office/drawing/2014/main" id="{771A14AC-1DFC-D266-8F77-258C4B1C4F0B}"/>
                </a:ext>
              </a:extLst>
            </p:cNvPr>
            <p:cNvSpPr/>
            <p:nvPr/>
          </p:nvSpPr>
          <p:spPr>
            <a:xfrm>
              <a:off x="1041415" y="4807376"/>
              <a:ext cx="3468345" cy="35993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Caches results per hardware target</a:t>
              </a:r>
            </a:p>
          </p:txBody>
        </p:sp>
        <p:cxnSp>
          <p:nvCxnSpPr>
            <p:cNvPr id="24" name="Straight Arrow Connector 23">
              <a:extLst>
                <a:ext uri="{FF2B5EF4-FFF2-40B4-BE49-F238E27FC236}">
                  <a16:creationId xmlns:a16="http://schemas.microsoft.com/office/drawing/2014/main" id="{F4CDAAA4-36F4-A302-1B72-7563DD2F98B0}"/>
                </a:ext>
              </a:extLst>
            </p:cNvPr>
            <p:cNvCxnSpPr>
              <a:cxnSpLocks/>
            </p:cNvCxnSpPr>
            <p:nvPr/>
          </p:nvCxnSpPr>
          <p:spPr>
            <a:xfrm>
              <a:off x="2775587" y="3555929"/>
              <a:ext cx="0" cy="19203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63BAD1F5-1430-C864-BDC7-08B469D8F800}"/>
                </a:ext>
              </a:extLst>
            </p:cNvPr>
            <p:cNvCxnSpPr>
              <a:cxnSpLocks/>
            </p:cNvCxnSpPr>
            <p:nvPr/>
          </p:nvCxnSpPr>
          <p:spPr>
            <a:xfrm>
              <a:off x="2775587" y="4090089"/>
              <a:ext cx="0" cy="19203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08470409-A8E1-1EAB-104A-9A156BAEF74D}"/>
                </a:ext>
              </a:extLst>
            </p:cNvPr>
            <p:cNvCxnSpPr>
              <a:cxnSpLocks/>
            </p:cNvCxnSpPr>
            <p:nvPr/>
          </p:nvCxnSpPr>
          <p:spPr>
            <a:xfrm>
              <a:off x="2775587" y="4624249"/>
              <a:ext cx="0" cy="19203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28" name="Content Placeholder 2">
            <a:extLst>
              <a:ext uri="{FF2B5EF4-FFF2-40B4-BE49-F238E27FC236}">
                <a16:creationId xmlns:a16="http://schemas.microsoft.com/office/drawing/2014/main" id="{59B7230D-ACE8-978F-C097-080A8764F176}"/>
              </a:ext>
            </a:extLst>
          </p:cNvPr>
          <p:cNvSpPr txBox="1">
            <a:spLocks/>
          </p:cNvSpPr>
          <p:nvPr/>
        </p:nvSpPr>
        <p:spPr>
          <a:xfrm>
            <a:off x="3540980" y="1754024"/>
            <a:ext cx="5488719" cy="400791"/>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t>Mature search and optimization infrastructure </a:t>
            </a:r>
          </a:p>
        </p:txBody>
      </p:sp>
      <p:pic>
        <p:nvPicPr>
          <p:cNvPr id="31" name="Picture 30">
            <a:extLst>
              <a:ext uri="{FF2B5EF4-FFF2-40B4-BE49-F238E27FC236}">
                <a16:creationId xmlns:a16="http://schemas.microsoft.com/office/drawing/2014/main" id="{1055457F-B9DA-3B20-D39C-DEA319CBE609}"/>
              </a:ext>
            </a:extLst>
          </p:cNvPr>
          <p:cNvPicPr>
            <a:picLocks noChangeAspect="1"/>
          </p:cNvPicPr>
          <p:nvPr/>
        </p:nvPicPr>
        <p:blipFill>
          <a:blip r:embed="rId3"/>
          <a:stretch>
            <a:fillRect/>
          </a:stretch>
        </p:blipFill>
        <p:spPr>
          <a:xfrm>
            <a:off x="3762741" y="2216979"/>
            <a:ext cx="4752609" cy="850174"/>
          </a:xfrm>
          <a:prstGeom prst="rect">
            <a:avLst/>
          </a:prstGeom>
        </p:spPr>
      </p:pic>
      <p:sp>
        <p:nvSpPr>
          <p:cNvPr id="34" name="Content Placeholder 2">
            <a:extLst>
              <a:ext uri="{FF2B5EF4-FFF2-40B4-BE49-F238E27FC236}">
                <a16:creationId xmlns:a16="http://schemas.microsoft.com/office/drawing/2014/main" id="{8380BBB0-8A00-3AE6-1529-AD10AF8FA738}"/>
              </a:ext>
            </a:extLst>
          </p:cNvPr>
          <p:cNvSpPr txBox="1">
            <a:spLocks/>
          </p:cNvSpPr>
          <p:nvPr/>
        </p:nvSpPr>
        <p:spPr>
          <a:xfrm>
            <a:off x="905503" y="1268016"/>
            <a:ext cx="2202595" cy="418148"/>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b="1" dirty="0"/>
              <a:t>Autotuning loop</a:t>
            </a:r>
          </a:p>
        </p:txBody>
      </p:sp>
    </p:spTree>
    <p:extLst>
      <p:ext uri="{BB962C8B-B14F-4D97-AF65-F5344CB8AC3E}">
        <p14:creationId xmlns:p14="http://schemas.microsoft.com/office/powerpoint/2010/main" val="2244334274"/>
      </p:ext>
    </p:extLst>
  </p:cSld>
  <p:clrMapOvr>
    <a:masterClrMapping/>
  </p:clrMapOvr>
  <mc:AlternateContent xmlns:mc="http://schemas.openxmlformats.org/markup-compatibility/2006" xmlns:p14="http://schemas.microsoft.com/office/powerpoint/2010/main">
    <mc:Choice Requires="p14">
      <p:transition spd="slow" p14:dur="2000" advTm="92710"/>
    </mc:Choice>
    <mc:Fallback xmlns="">
      <p:transition spd="slow" advTm="9271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7D9070-A4C8-8044-E12B-EAE15C2CA1A9}"/>
              </a:ext>
            </a:extLst>
          </p:cNvPr>
          <p:cNvSpPr/>
          <p:nvPr/>
        </p:nvSpPr>
        <p:spPr>
          <a:xfrm>
            <a:off x="6064973" y="665018"/>
            <a:ext cx="3212031" cy="4571948"/>
          </a:xfrm>
          <a:prstGeom prst="rect">
            <a:avLst/>
          </a:prstGeom>
          <a:solidFill>
            <a:srgbClr val="213A5F"/>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endParaRPr lang="en-GB" sz="1800" dirty="0">
              <a:solidFill>
                <a:schemeClr val="bg1"/>
              </a:solidFill>
            </a:endParaRPr>
          </a:p>
        </p:txBody>
      </p:sp>
      <p:sp>
        <p:nvSpPr>
          <p:cNvPr id="2" name="Title 1">
            <a:extLst>
              <a:ext uri="{FF2B5EF4-FFF2-40B4-BE49-F238E27FC236}">
                <a16:creationId xmlns:a16="http://schemas.microsoft.com/office/drawing/2014/main" id="{364F1D82-4FB1-6E90-A479-3070B5BEF27E}"/>
              </a:ext>
            </a:extLst>
          </p:cNvPr>
          <p:cNvSpPr>
            <a:spLocks noGrp="1"/>
          </p:cNvSpPr>
          <p:nvPr>
            <p:ph type="title"/>
          </p:nvPr>
        </p:nvSpPr>
        <p:spPr>
          <a:xfrm>
            <a:off x="149629" y="73152"/>
            <a:ext cx="6134793" cy="530352"/>
          </a:xfrm>
        </p:spPr>
        <p:txBody>
          <a:bodyPr>
            <a:normAutofit/>
          </a:bodyPr>
          <a:lstStyle/>
          <a:p>
            <a:r>
              <a:rPr lang="en-US" sz="2200" dirty="0" err="1"/>
              <a:t>KernelTuner</a:t>
            </a:r>
            <a:r>
              <a:rPr lang="en-US" sz="2200" dirty="0"/>
              <a:t> meets </a:t>
            </a:r>
            <a:r>
              <a:rPr lang="en-US" sz="2200" dirty="0" err="1"/>
              <a:t>KernelAbstractions.jl</a:t>
            </a:r>
            <a:endParaRPr lang="en-BE" sz="2200" dirty="0"/>
          </a:p>
        </p:txBody>
      </p:sp>
      <p:sp>
        <p:nvSpPr>
          <p:cNvPr id="10" name="Content Placeholder 2">
            <a:extLst>
              <a:ext uri="{FF2B5EF4-FFF2-40B4-BE49-F238E27FC236}">
                <a16:creationId xmlns:a16="http://schemas.microsoft.com/office/drawing/2014/main" id="{A940C188-508E-8521-8CC9-75D259DD9984}"/>
              </a:ext>
            </a:extLst>
          </p:cNvPr>
          <p:cNvSpPr>
            <a:spLocks noGrp="1"/>
          </p:cNvSpPr>
          <p:nvPr>
            <p:ph idx="4294967295"/>
          </p:nvPr>
        </p:nvSpPr>
        <p:spPr>
          <a:xfrm>
            <a:off x="6284422" y="939800"/>
            <a:ext cx="2859578" cy="3708400"/>
          </a:xfrm>
        </p:spPr>
        <p:txBody>
          <a:bodyPr>
            <a:normAutofit/>
          </a:bodyPr>
          <a:lstStyle/>
          <a:p>
            <a:r>
              <a:rPr lang="en-US" dirty="0">
                <a:solidFill>
                  <a:schemeClr val="bg1"/>
                </a:solidFill>
              </a:rPr>
              <a:t>Kernel Tuner manages:</a:t>
            </a:r>
          </a:p>
          <a:p>
            <a:pPr marL="285750" lvl="1" indent="-285750">
              <a:buFont typeface="Arial" panose="020B0604020202020204" pitchFamily="34" charset="0"/>
              <a:buChar char="•"/>
            </a:pPr>
            <a:r>
              <a:rPr lang="en-US" dirty="0">
                <a:solidFill>
                  <a:schemeClr val="bg1"/>
                </a:solidFill>
              </a:rPr>
              <a:t>Search space</a:t>
            </a:r>
          </a:p>
          <a:p>
            <a:pPr marL="285750" lvl="1" indent="-285750">
              <a:buFont typeface="Arial" panose="020B0604020202020204" pitchFamily="34" charset="0"/>
              <a:buChar char="•"/>
            </a:pPr>
            <a:r>
              <a:rPr lang="en-US" dirty="0">
                <a:solidFill>
                  <a:schemeClr val="bg1"/>
                </a:solidFill>
              </a:rPr>
              <a:t>Search strategy</a:t>
            </a:r>
          </a:p>
          <a:p>
            <a:pPr marL="285750" lvl="1" indent="-285750">
              <a:buFont typeface="Arial" panose="020B0604020202020204" pitchFamily="34" charset="0"/>
              <a:buChar char="•"/>
            </a:pPr>
            <a:r>
              <a:rPr lang="en-US" dirty="0">
                <a:solidFill>
                  <a:schemeClr val="bg1"/>
                </a:solidFill>
              </a:rPr>
              <a:t>Error handling</a:t>
            </a:r>
          </a:p>
          <a:p>
            <a:pPr marL="285750" lvl="1" indent="-285750">
              <a:buFont typeface="Arial" panose="020B0604020202020204" pitchFamily="34" charset="0"/>
              <a:buChar char="•"/>
            </a:pPr>
            <a:r>
              <a:rPr lang="en-US" dirty="0">
                <a:solidFill>
                  <a:schemeClr val="bg1"/>
                </a:solidFill>
              </a:rPr>
              <a:t>Persistent cache</a:t>
            </a:r>
          </a:p>
          <a:p>
            <a:pPr marL="285750" indent="-285750">
              <a:buFont typeface="Arial" panose="020B0604020202020204" pitchFamily="34" charset="0"/>
              <a:buChar char="•"/>
            </a:pPr>
            <a:r>
              <a:rPr lang="en-US" dirty="0">
                <a:solidFill>
                  <a:schemeClr val="bg1"/>
                </a:solidFill>
              </a:rPr>
              <a:t>Julia compiles and launches GPU kernels</a:t>
            </a:r>
          </a:p>
          <a:p>
            <a:pPr marL="285750" indent="-285750">
              <a:buFont typeface="Arial" panose="020B0604020202020204" pitchFamily="34" charset="0"/>
              <a:buChar char="•"/>
            </a:pPr>
            <a:r>
              <a:rPr lang="en-US" dirty="0" err="1">
                <a:solidFill>
                  <a:schemeClr val="bg1"/>
                </a:solidFill>
              </a:rPr>
              <a:t>PythonCall.jl</a:t>
            </a:r>
            <a:r>
              <a:rPr lang="en-US" dirty="0">
                <a:solidFill>
                  <a:schemeClr val="bg1"/>
                </a:solidFill>
              </a:rPr>
              <a:t> / </a:t>
            </a:r>
            <a:r>
              <a:rPr lang="en-US" dirty="0" err="1">
                <a:solidFill>
                  <a:schemeClr val="bg1"/>
                </a:solidFill>
              </a:rPr>
              <a:t>JuliaCall</a:t>
            </a:r>
            <a:r>
              <a:rPr lang="en-US" dirty="0">
                <a:solidFill>
                  <a:schemeClr val="bg1"/>
                </a:solidFill>
              </a:rPr>
              <a:t> provide in-process interoperability</a:t>
            </a:r>
          </a:p>
          <a:p>
            <a:endParaRPr lang="en-US" dirty="0">
              <a:solidFill>
                <a:schemeClr val="bg1"/>
              </a:solidFill>
            </a:endParaRPr>
          </a:p>
          <a:p>
            <a:r>
              <a:rPr lang="en-US" dirty="0">
                <a:solidFill>
                  <a:schemeClr val="bg1"/>
                </a:solidFill>
              </a:rPr>
              <a:t>Combines Julia portability with Kernel Tuner’s mature ecosystem</a:t>
            </a:r>
          </a:p>
        </p:txBody>
      </p:sp>
      <p:sp>
        <p:nvSpPr>
          <p:cNvPr id="3" name="Footer Placeholder 2">
            <a:extLst>
              <a:ext uri="{FF2B5EF4-FFF2-40B4-BE49-F238E27FC236}">
                <a16:creationId xmlns:a16="http://schemas.microsoft.com/office/drawing/2014/main" id="{FB9A5168-0549-2850-770B-4ABAFB28BEB3}"/>
              </a:ext>
            </a:extLst>
          </p:cNvPr>
          <p:cNvSpPr>
            <a:spLocks noGrp="1"/>
          </p:cNvSpPr>
          <p:nvPr>
            <p:ph type="ftr" sz="quarter" idx="4294967295"/>
          </p:nvPr>
        </p:nvSpPr>
        <p:spPr>
          <a:xfrm>
            <a:off x="50292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Portable to Efficient: Auto-Tuning Hardware-Agnostic GPU Kernels in Julia</a:t>
            </a:r>
          </a:p>
        </p:txBody>
      </p:sp>
      <p:pic>
        <p:nvPicPr>
          <p:cNvPr id="7" name="Picture 6">
            <a:extLst>
              <a:ext uri="{FF2B5EF4-FFF2-40B4-BE49-F238E27FC236}">
                <a16:creationId xmlns:a16="http://schemas.microsoft.com/office/drawing/2014/main" id="{C8682052-4EF7-5848-5CDC-8C4F3C7492A0}"/>
              </a:ext>
            </a:extLst>
          </p:cNvPr>
          <p:cNvPicPr>
            <a:picLocks noChangeAspect="1"/>
          </p:cNvPicPr>
          <p:nvPr/>
        </p:nvPicPr>
        <p:blipFill>
          <a:blip r:embed="rId3"/>
          <a:srcRect t="400"/>
          <a:stretch>
            <a:fillRect/>
          </a:stretch>
        </p:blipFill>
        <p:spPr>
          <a:xfrm>
            <a:off x="921355" y="1112560"/>
            <a:ext cx="4584096" cy="3535640"/>
          </a:xfrm>
          <a:prstGeom prst="rect">
            <a:avLst/>
          </a:prstGeom>
        </p:spPr>
      </p:pic>
    </p:spTree>
    <p:extLst>
      <p:ext uri="{BB962C8B-B14F-4D97-AF65-F5344CB8AC3E}">
        <p14:creationId xmlns:p14="http://schemas.microsoft.com/office/powerpoint/2010/main" val="678815399"/>
      </p:ext>
    </p:extLst>
  </p:cSld>
  <p:clrMapOvr>
    <a:masterClrMapping/>
  </p:clrMapOvr>
  <mc:AlternateContent xmlns:mc="http://schemas.openxmlformats.org/markup-compatibility/2006" xmlns:p14="http://schemas.microsoft.com/office/powerpoint/2010/main">
    <mc:Choice Requires="p14">
      <p:transition spd="slow" p14:dur="2000" advTm="109032"/>
    </mc:Choice>
    <mc:Fallback xmlns="">
      <p:transition spd="slow" advTm="109032"/>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
          <a:extLst>
            <a:ext uri="{FF2B5EF4-FFF2-40B4-BE49-F238E27FC236}">
              <a16:creationId xmlns:a16="http://schemas.microsoft.com/office/drawing/2014/main" id="{97366907-D5D5-533D-655E-F5CD67DD1EB3}"/>
            </a:ext>
          </a:extLst>
        </p:cNvPr>
        <p:cNvGrpSpPr/>
        <p:nvPr/>
      </p:nvGrpSpPr>
      <p:grpSpPr>
        <a:xfrm>
          <a:off x="0" y="0"/>
          <a:ext cx="0" cy="0"/>
          <a:chOff x="0" y="0"/>
          <a:chExt cx="0" cy="0"/>
        </a:xfrm>
      </p:grpSpPr>
      <p:sp>
        <p:nvSpPr>
          <p:cNvPr id="39" name="Google Shape;39;p1">
            <a:extLst>
              <a:ext uri="{FF2B5EF4-FFF2-40B4-BE49-F238E27FC236}">
                <a16:creationId xmlns:a16="http://schemas.microsoft.com/office/drawing/2014/main" id="{C4176683-FE68-EA18-4AEA-ADB96F515403}"/>
              </a:ext>
            </a:extLst>
          </p:cNvPr>
          <p:cNvSpPr txBox="1">
            <a:spLocks noGrp="1"/>
          </p:cNvSpPr>
          <p:nvPr>
            <p:ph type="body" idx="1"/>
          </p:nvPr>
        </p:nvSpPr>
        <p:spPr>
          <a:xfrm>
            <a:off x="5401559" y="1853739"/>
            <a:ext cx="3615024" cy="3147764"/>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lt1"/>
              </a:buClr>
              <a:buSzPts val="1600"/>
              <a:buNone/>
            </a:pPr>
            <a:r>
              <a:rPr lang="nl-NL" sz="1600" dirty="0"/>
              <a:t>Go </a:t>
            </a:r>
            <a:r>
              <a:rPr lang="nl-NL" sz="1600" dirty="0" err="1"/>
              <a:t>to</a:t>
            </a:r>
            <a:r>
              <a:rPr lang="nl-NL" sz="1600" dirty="0"/>
              <a:t>:</a:t>
            </a:r>
          </a:p>
          <a:p>
            <a:pPr marL="0" lvl="0" indent="0">
              <a:spcBef>
                <a:spcPts val="0"/>
              </a:spcBef>
            </a:pPr>
            <a:r>
              <a:rPr lang="en-US" u="sng" dirty="0">
                <a:solidFill>
                  <a:schemeClr val="hlink"/>
                </a:solidFill>
                <a:hlinkClick r:id="rId3"/>
              </a:rPr>
              <a:t>fjwillemsen.com/s/JuliaSC26</a:t>
            </a:r>
            <a:endParaRPr sz="1600" dirty="0"/>
          </a:p>
        </p:txBody>
      </p:sp>
      <p:sp>
        <p:nvSpPr>
          <p:cNvPr id="38" name="Google Shape;38;p1">
            <a:extLst>
              <a:ext uri="{FF2B5EF4-FFF2-40B4-BE49-F238E27FC236}">
                <a16:creationId xmlns:a16="http://schemas.microsoft.com/office/drawing/2014/main" id="{602D3BE3-BF24-558E-7647-403E83C4DADC}"/>
              </a:ext>
            </a:extLst>
          </p:cNvPr>
          <p:cNvSpPr txBox="1">
            <a:spLocks noGrp="1"/>
          </p:cNvSpPr>
          <p:nvPr>
            <p:ph type="title"/>
          </p:nvPr>
        </p:nvSpPr>
        <p:spPr>
          <a:xfrm>
            <a:off x="738264" y="4277164"/>
            <a:ext cx="4088568" cy="512777"/>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Clr>
                <a:schemeClr val="accent1"/>
              </a:buClr>
              <a:buSzPts val="2800"/>
              <a:buFont typeface="Arial"/>
              <a:buNone/>
            </a:pPr>
            <a:r>
              <a:rPr lang="en-US" dirty="0"/>
              <a:t>Auto-Tuning GPU Kernels in Julia</a:t>
            </a:r>
          </a:p>
        </p:txBody>
      </p:sp>
      <p:pic>
        <p:nvPicPr>
          <p:cNvPr id="3" name="Picture 2">
            <a:extLst>
              <a:ext uri="{FF2B5EF4-FFF2-40B4-BE49-F238E27FC236}">
                <a16:creationId xmlns:a16="http://schemas.microsoft.com/office/drawing/2014/main" id="{D83E9A01-78D1-D718-3F4F-C4E2F449BD78}"/>
              </a:ext>
            </a:extLst>
          </p:cNvPr>
          <p:cNvPicPr>
            <a:picLocks noChangeAspect="1"/>
          </p:cNvPicPr>
          <p:nvPr/>
        </p:nvPicPr>
        <p:blipFill>
          <a:blip r:embed="rId4"/>
          <a:stretch>
            <a:fillRect/>
          </a:stretch>
        </p:blipFill>
        <p:spPr>
          <a:xfrm>
            <a:off x="5910605" y="2465650"/>
            <a:ext cx="2324291" cy="2324291"/>
          </a:xfrm>
          <a:prstGeom prst="rect">
            <a:avLst/>
          </a:prstGeom>
        </p:spPr>
      </p:pic>
    </p:spTree>
    <p:extLst>
      <p:ext uri="{BB962C8B-B14F-4D97-AF65-F5344CB8AC3E}">
        <p14:creationId xmlns:p14="http://schemas.microsoft.com/office/powerpoint/2010/main" val="554319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
          <a:extLst>
            <a:ext uri="{FF2B5EF4-FFF2-40B4-BE49-F238E27FC236}">
              <a16:creationId xmlns:a16="http://schemas.microsoft.com/office/drawing/2014/main" id="{863871F3-08F2-1740-F369-435448CF4A2A}"/>
            </a:ext>
          </a:extLst>
        </p:cNvPr>
        <p:cNvGrpSpPr/>
        <p:nvPr/>
      </p:nvGrpSpPr>
      <p:grpSpPr>
        <a:xfrm>
          <a:off x="0" y="0"/>
          <a:ext cx="0" cy="0"/>
          <a:chOff x="0" y="0"/>
          <a:chExt cx="0" cy="0"/>
        </a:xfrm>
      </p:grpSpPr>
      <p:sp>
        <p:nvSpPr>
          <p:cNvPr id="39" name="Google Shape;39;p1">
            <a:extLst>
              <a:ext uri="{FF2B5EF4-FFF2-40B4-BE49-F238E27FC236}">
                <a16:creationId xmlns:a16="http://schemas.microsoft.com/office/drawing/2014/main" id="{D7176B2A-04CE-E137-FD27-8F30C5EDB80D}"/>
              </a:ext>
            </a:extLst>
          </p:cNvPr>
          <p:cNvSpPr txBox="1">
            <a:spLocks noGrp="1"/>
          </p:cNvSpPr>
          <p:nvPr>
            <p:ph type="body" idx="1"/>
          </p:nvPr>
        </p:nvSpPr>
        <p:spPr>
          <a:xfrm>
            <a:off x="613051" y="4567200"/>
            <a:ext cx="4189751" cy="2574187"/>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lt1"/>
              </a:buClr>
              <a:buSzPts val="1600"/>
              <a:buNone/>
            </a:pPr>
            <a:endParaRPr lang="nl-NL" sz="1400" dirty="0"/>
          </a:p>
          <a:p>
            <a:pPr marL="0" lvl="0" indent="0" algn="l" rtl="0">
              <a:spcBef>
                <a:spcPts val="0"/>
              </a:spcBef>
              <a:spcAft>
                <a:spcPts val="0"/>
              </a:spcAft>
              <a:buClr>
                <a:schemeClr val="lt1"/>
              </a:buClr>
              <a:buSzPts val="1600"/>
              <a:buNone/>
            </a:pPr>
            <a:r>
              <a:rPr lang="nl-NL" sz="1400" dirty="0" err="1"/>
              <a:t>Please</a:t>
            </a:r>
            <a:r>
              <a:rPr lang="nl-NL" sz="1400" dirty="0"/>
              <a:t> take a minute </a:t>
            </a:r>
            <a:r>
              <a:rPr lang="nl-NL" sz="1400" dirty="0" err="1"/>
              <a:t>to</a:t>
            </a:r>
            <a:r>
              <a:rPr lang="nl-NL" sz="1400" dirty="0"/>
              <a:t> </a:t>
            </a:r>
            <a:r>
              <a:rPr lang="nl-NL" sz="1400" dirty="0" err="1"/>
              <a:t>provide</a:t>
            </a:r>
            <a:r>
              <a:rPr lang="nl-NL" sz="1400" dirty="0"/>
              <a:t> </a:t>
            </a:r>
            <a:r>
              <a:rPr lang="nl-NL" sz="1400" dirty="0" err="1"/>
              <a:t>some</a:t>
            </a:r>
            <a:r>
              <a:rPr lang="nl-NL" sz="1400" dirty="0"/>
              <a:t> feedback.</a:t>
            </a:r>
            <a:endParaRPr sz="1400" dirty="0"/>
          </a:p>
        </p:txBody>
      </p:sp>
      <p:sp>
        <p:nvSpPr>
          <p:cNvPr id="3" name="TextBox 2">
            <a:extLst>
              <a:ext uri="{FF2B5EF4-FFF2-40B4-BE49-F238E27FC236}">
                <a16:creationId xmlns:a16="http://schemas.microsoft.com/office/drawing/2014/main" id="{43F4995C-B139-4400-5946-EE16EF94E27E}"/>
              </a:ext>
            </a:extLst>
          </p:cNvPr>
          <p:cNvSpPr txBox="1"/>
          <p:nvPr/>
        </p:nvSpPr>
        <p:spPr>
          <a:xfrm>
            <a:off x="499535" y="3670458"/>
            <a:ext cx="4572000" cy="1077218"/>
          </a:xfrm>
          <a:prstGeom prst="rect">
            <a:avLst/>
          </a:prstGeom>
          <a:noFill/>
        </p:spPr>
        <p:txBody>
          <a:bodyPr wrap="square">
            <a:spAutoFit/>
          </a:bodyPr>
          <a:lstStyle/>
          <a:p>
            <a:r>
              <a:rPr lang="en-US" sz="3200" b="1" dirty="0">
                <a:solidFill>
                  <a:schemeClr val="accent1"/>
                </a:solidFill>
              </a:rPr>
              <a:t>We care about </a:t>
            </a:r>
            <a:br>
              <a:rPr lang="en-US" sz="3200" b="1" dirty="0">
                <a:solidFill>
                  <a:schemeClr val="accent1"/>
                </a:solidFill>
              </a:rPr>
            </a:br>
            <a:r>
              <a:rPr lang="en-US" sz="3200" b="1" dirty="0">
                <a:solidFill>
                  <a:schemeClr val="accent1"/>
                </a:solidFill>
              </a:rPr>
              <a:t>your  experience.</a:t>
            </a:r>
            <a:endParaRPr lang="en-US" sz="1200" dirty="0"/>
          </a:p>
        </p:txBody>
      </p:sp>
      <p:sp>
        <p:nvSpPr>
          <p:cNvPr id="5" name="Google Shape;39;p1">
            <a:extLst>
              <a:ext uri="{FF2B5EF4-FFF2-40B4-BE49-F238E27FC236}">
                <a16:creationId xmlns:a16="http://schemas.microsoft.com/office/drawing/2014/main" id="{47076E65-B3C9-4A05-086E-4931C32449EB}"/>
              </a:ext>
            </a:extLst>
          </p:cNvPr>
          <p:cNvSpPr txBox="1">
            <a:spLocks/>
          </p:cNvSpPr>
          <p:nvPr/>
        </p:nvSpPr>
        <p:spPr>
          <a:xfrm>
            <a:off x="5429839" y="1853739"/>
            <a:ext cx="3586744" cy="3147764"/>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228600" algn="l" rtl="0">
              <a:lnSpc>
                <a:spcPct val="100000"/>
              </a:lnSpc>
              <a:spcBef>
                <a:spcPts val="320"/>
              </a:spcBef>
              <a:spcAft>
                <a:spcPts val="0"/>
              </a:spcAft>
              <a:buClr>
                <a:schemeClr val="lt1"/>
              </a:buClr>
              <a:buSzPts val="1600"/>
              <a:buFont typeface="Arial"/>
              <a:buNone/>
              <a:defRPr sz="1600" b="0" i="0" u="none" strike="noStrike" cap="none" spc="0">
                <a:solidFill>
                  <a:schemeClr val="lt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spc="0">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spc="0">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spc="0">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spc="0">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spc="0">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spc="0">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spc="0">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spc="0">
                <a:solidFill>
                  <a:schemeClr val="dk1"/>
                </a:solidFill>
                <a:latin typeface="Arial"/>
                <a:ea typeface="Arial"/>
                <a:cs typeface="Arial"/>
                <a:sym typeface="Arial"/>
              </a:defRPr>
            </a:lvl9pPr>
          </a:lstStyle>
          <a:p>
            <a:pPr marL="0" indent="0">
              <a:spcBef>
                <a:spcPts val="0"/>
              </a:spcBef>
            </a:pPr>
            <a:r>
              <a:rPr lang="nl-NL" dirty="0"/>
              <a:t>Go </a:t>
            </a:r>
            <a:r>
              <a:rPr lang="nl-NL" dirty="0" err="1"/>
              <a:t>to</a:t>
            </a:r>
            <a:r>
              <a:rPr lang="nl-NL" dirty="0"/>
              <a:t>:</a:t>
            </a:r>
          </a:p>
          <a:p>
            <a:pPr marL="0" indent="0">
              <a:spcBef>
                <a:spcPts val="0"/>
              </a:spcBef>
            </a:pPr>
            <a:r>
              <a:rPr lang="nl-NL" u="sng" dirty="0" err="1">
                <a:solidFill>
                  <a:schemeClr val="hlink"/>
                </a:solidFill>
              </a:rPr>
              <a:t>fjwillemsen.com</a:t>
            </a:r>
            <a:r>
              <a:rPr lang="nl-NL" u="sng" dirty="0">
                <a:solidFill>
                  <a:schemeClr val="hlink"/>
                </a:solidFill>
              </a:rPr>
              <a:t>/s</a:t>
            </a:r>
            <a:r>
              <a:rPr lang="nl-NL" u="sng" dirty="0">
                <a:solidFill>
                  <a:schemeClr val="hlink"/>
                </a:solidFill>
                <a:hlinkClick r:id="rId3"/>
              </a:rPr>
              <a:t>/</a:t>
            </a:r>
            <a:r>
              <a:rPr lang="nl-NL" u="sng" dirty="0">
                <a:solidFill>
                  <a:schemeClr val="hlink"/>
                </a:solidFill>
              </a:rPr>
              <a:t>JuliaSC26form</a:t>
            </a:r>
            <a:endParaRPr lang="nl-NL" dirty="0"/>
          </a:p>
        </p:txBody>
      </p:sp>
      <p:pic>
        <p:nvPicPr>
          <p:cNvPr id="7" name="Picture 6">
            <a:extLst>
              <a:ext uri="{FF2B5EF4-FFF2-40B4-BE49-F238E27FC236}">
                <a16:creationId xmlns:a16="http://schemas.microsoft.com/office/drawing/2014/main" id="{15536B99-06CC-F283-9D2F-3A6899119063}"/>
              </a:ext>
            </a:extLst>
          </p:cNvPr>
          <p:cNvPicPr>
            <a:picLocks noChangeAspect="1"/>
          </p:cNvPicPr>
          <p:nvPr/>
        </p:nvPicPr>
        <p:blipFill>
          <a:blip r:embed="rId4"/>
          <a:stretch>
            <a:fillRect/>
          </a:stretch>
        </p:blipFill>
        <p:spPr>
          <a:xfrm>
            <a:off x="5987101" y="2571750"/>
            <a:ext cx="2227432" cy="2227432"/>
          </a:xfrm>
          <a:prstGeom prst="rect">
            <a:avLst/>
          </a:prstGeom>
        </p:spPr>
      </p:pic>
    </p:spTree>
    <p:extLst>
      <p:ext uri="{BB962C8B-B14F-4D97-AF65-F5344CB8AC3E}">
        <p14:creationId xmlns:p14="http://schemas.microsoft.com/office/powerpoint/2010/main" val="3102950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A0E1E-983C-A7FB-A1B4-2B06AF07EA66}"/>
              </a:ext>
            </a:extLst>
          </p:cNvPr>
          <p:cNvSpPr>
            <a:spLocks noGrp="1"/>
          </p:cNvSpPr>
          <p:nvPr>
            <p:ph type="title"/>
          </p:nvPr>
        </p:nvSpPr>
        <p:spPr/>
        <p:txBody>
          <a:bodyPr/>
          <a:lstStyle/>
          <a:p>
            <a:r>
              <a:rPr lang="en-US" dirty="0"/>
              <a:t>Stay Tuned,</a:t>
            </a:r>
            <a:br>
              <a:rPr lang="en-US" dirty="0"/>
            </a:br>
            <a:r>
              <a:rPr lang="en-US" dirty="0"/>
              <a:t>Or Contribute.</a:t>
            </a:r>
          </a:p>
        </p:txBody>
      </p:sp>
      <p:sp>
        <p:nvSpPr>
          <p:cNvPr id="3" name="Text Placeholder 2">
            <a:extLst>
              <a:ext uri="{FF2B5EF4-FFF2-40B4-BE49-F238E27FC236}">
                <a16:creationId xmlns:a16="http://schemas.microsoft.com/office/drawing/2014/main" id="{34BD0188-6917-F688-A73B-013F3FC8EB9F}"/>
              </a:ext>
            </a:extLst>
          </p:cNvPr>
          <p:cNvSpPr>
            <a:spLocks noGrp="1"/>
          </p:cNvSpPr>
          <p:nvPr>
            <p:ph type="body" idx="1"/>
          </p:nvPr>
        </p:nvSpPr>
        <p:spPr>
          <a:xfrm>
            <a:off x="704088" y="2971800"/>
            <a:ext cx="4980275" cy="1647334"/>
          </a:xfrm>
        </p:spPr>
        <p:txBody>
          <a:bodyPr/>
          <a:lstStyle/>
          <a:p>
            <a:pPr marL="0" lvl="0" indent="0">
              <a:spcBef>
                <a:spcPts val="0"/>
              </a:spcBef>
              <a:buSzPts val="1400"/>
            </a:pPr>
            <a:r>
              <a:rPr lang="en-US" u="sng" dirty="0">
                <a:hlinkClick r:id="rId2"/>
              </a:rPr>
              <a:t>f.q.willemsen@liacs.leidenuniv.nl</a:t>
            </a:r>
            <a:endParaRPr lang="en-US" u="sng" dirty="0"/>
          </a:p>
          <a:p>
            <a:pPr marL="0" lvl="0" indent="0">
              <a:spcBef>
                <a:spcPts val="0"/>
              </a:spcBef>
            </a:pPr>
            <a:r>
              <a:rPr lang="en-US" dirty="0">
                <a:hlinkClick r:id="rId3"/>
              </a:rPr>
              <a:t>eringoot@mit.edu</a:t>
            </a:r>
            <a:endParaRPr lang="en-US" dirty="0"/>
          </a:p>
          <a:p>
            <a:pPr marL="0" lvl="0" indent="0">
              <a:spcBef>
                <a:spcPts val="880"/>
              </a:spcBef>
              <a:buSzPts val="1400"/>
            </a:pPr>
            <a:r>
              <a:rPr lang="en-US" dirty="0"/>
              <a:t>Star / Open an issue on: </a:t>
            </a:r>
            <a:r>
              <a:rPr lang="en-US" u="sng" dirty="0">
                <a:solidFill>
                  <a:schemeClr val="hlink"/>
                </a:solidFill>
                <a:hlinkClick r:id="rId4"/>
              </a:rPr>
              <a:t>https://github.com/KernelTuner/</a:t>
            </a:r>
            <a:r>
              <a:rPr lang="en-US" u="sng" dirty="0" err="1">
                <a:solidFill>
                  <a:schemeClr val="hlink"/>
                </a:solidFill>
                <a:hlinkClick r:id="rId4"/>
              </a:rPr>
              <a:t>KernelTuner.jl</a:t>
            </a:r>
            <a:br>
              <a:rPr lang="en-US" dirty="0"/>
            </a:br>
            <a:endParaRPr lang="en-US" dirty="0"/>
          </a:p>
          <a:p>
            <a:endParaRPr lang="en-US" dirty="0"/>
          </a:p>
        </p:txBody>
      </p:sp>
      <p:pic>
        <p:nvPicPr>
          <p:cNvPr id="4" name="Picture 3">
            <a:extLst>
              <a:ext uri="{FF2B5EF4-FFF2-40B4-BE49-F238E27FC236}">
                <a16:creationId xmlns:a16="http://schemas.microsoft.com/office/drawing/2014/main" id="{D210F105-6C17-22DD-D1D3-E08B16B3404C}"/>
              </a:ext>
            </a:extLst>
          </p:cNvPr>
          <p:cNvPicPr>
            <a:picLocks noChangeAspect="1"/>
          </p:cNvPicPr>
          <p:nvPr/>
        </p:nvPicPr>
        <p:blipFill>
          <a:blip r:embed="rId5"/>
          <a:stretch>
            <a:fillRect/>
          </a:stretch>
        </p:blipFill>
        <p:spPr>
          <a:xfrm>
            <a:off x="5995447" y="1737360"/>
            <a:ext cx="2550439" cy="2550439"/>
          </a:xfrm>
          <a:prstGeom prst="rect">
            <a:avLst/>
          </a:prstGeom>
        </p:spPr>
      </p:pic>
    </p:spTree>
    <p:extLst>
      <p:ext uri="{BB962C8B-B14F-4D97-AF65-F5344CB8AC3E}">
        <p14:creationId xmlns:p14="http://schemas.microsoft.com/office/powerpoint/2010/main" val="142031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3FB79-EADF-D08B-76C1-F7F4A229BF14}"/>
              </a:ext>
            </a:extLst>
          </p:cNvPr>
          <p:cNvSpPr>
            <a:spLocks noGrp="1"/>
          </p:cNvSpPr>
          <p:nvPr>
            <p:ph type="title"/>
          </p:nvPr>
        </p:nvSpPr>
        <p:spPr/>
        <p:txBody>
          <a:bodyPr/>
          <a:lstStyle/>
          <a:p>
            <a:r>
              <a:rPr lang="en-US" dirty="0"/>
              <a:t>References</a:t>
            </a:r>
            <a:endParaRPr lang="en-BE" dirty="0"/>
          </a:p>
        </p:txBody>
      </p:sp>
      <p:sp>
        <p:nvSpPr>
          <p:cNvPr id="4" name="Footer Placeholder 3">
            <a:extLst>
              <a:ext uri="{FF2B5EF4-FFF2-40B4-BE49-F238E27FC236}">
                <a16:creationId xmlns:a16="http://schemas.microsoft.com/office/drawing/2014/main" id="{AE4A7C3E-9E38-4B72-F4C3-78494BB62576}"/>
              </a:ext>
            </a:extLst>
          </p:cNvPr>
          <p:cNvSpPr>
            <a:spLocks noGrp="1"/>
          </p:cNvSpPr>
          <p:nvPr>
            <p:ph type="ftr" sz="quarter" idx="4294967295"/>
          </p:nvPr>
        </p:nvSpPr>
        <p:spPr>
          <a:xfrm>
            <a:off x="50292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Portable to Efficient: Auto-Tuning Hardware-Agnostic GPU Kernels in Julia</a:t>
            </a:r>
          </a:p>
        </p:txBody>
      </p:sp>
      <p:sp>
        <p:nvSpPr>
          <p:cNvPr id="5" name="TextBox 4">
            <a:extLst>
              <a:ext uri="{FF2B5EF4-FFF2-40B4-BE49-F238E27FC236}">
                <a16:creationId xmlns:a16="http://schemas.microsoft.com/office/drawing/2014/main" id="{84492CE4-EAE1-54B3-F18F-CDA07F4BD054}"/>
              </a:ext>
            </a:extLst>
          </p:cNvPr>
          <p:cNvSpPr txBox="1"/>
          <p:nvPr/>
        </p:nvSpPr>
        <p:spPr>
          <a:xfrm>
            <a:off x="282633" y="1113905"/>
            <a:ext cx="7722523" cy="1600438"/>
          </a:xfrm>
          <a:prstGeom prst="rect">
            <a:avLst/>
          </a:prstGeom>
          <a:noFill/>
        </p:spPr>
        <p:txBody>
          <a:bodyPr wrap="square" rtlCol="0">
            <a:spAutoFit/>
          </a:bodyPr>
          <a:lstStyle/>
          <a:p>
            <a:r>
              <a:rPr lang="nl-NL" dirty="0"/>
              <a:t>[1]: </a:t>
            </a:r>
            <a:r>
              <a:rPr lang="nl-NL" dirty="0">
                <a:hlinkClick r:id="rId2"/>
              </a:rPr>
              <a:t>Scalable Delivery of Scalable Libraries and Tools: How ECP Delivered a Software Ecosystem for Exascale and Beyond</a:t>
            </a:r>
            <a:r>
              <a:rPr lang="nl-NL" dirty="0"/>
              <a:t>, Michael A. </a:t>
            </a:r>
            <a:r>
              <a:rPr lang="nl-NL" dirty="0" err="1"/>
              <a:t>Heroux</a:t>
            </a:r>
            <a:endParaRPr lang="nl-NL" dirty="0"/>
          </a:p>
          <a:p>
            <a:r>
              <a:rPr lang="nl-NL" dirty="0"/>
              <a:t>[2] </a:t>
            </a:r>
            <a:r>
              <a:rPr lang="en-US" dirty="0">
                <a:hlinkClick r:id="rId3"/>
              </a:rPr>
              <a:t>Effective extensible programming: unleashing Julia on </a:t>
            </a:r>
            <a:r>
              <a:rPr lang="en-US" dirty="0" err="1">
                <a:hlinkClick r:id="rId3"/>
              </a:rPr>
              <a:t>GPUs</a:t>
            </a:r>
            <a:r>
              <a:rPr lang="en-US" dirty="0" err="1"/>
              <a:t>,Besard</a:t>
            </a:r>
            <a:r>
              <a:rPr lang="en-US" dirty="0"/>
              <a:t> et al, 2018</a:t>
            </a:r>
          </a:p>
          <a:p>
            <a:r>
              <a:rPr lang="nl-NL" dirty="0"/>
              <a:t>[3] </a:t>
            </a:r>
            <a:r>
              <a:rPr lang="en-US" dirty="0">
                <a:hlinkClick r:id="rId4"/>
              </a:rPr>
              <a:t>Automated translation and accelerated solving of differential equations on multiple GPU platforms</a:t>
            </a:r>
            <a:r>
              <a:rPr lang="en-US" dirty="0"/>
              <a:t>,</a:t>
            </a:r>
            <a:r>
              <a:rPr lang="nl-NL" dirty="0"/>
              <a:t> </a:t>
            </a:r>
            <a:r>
              <a:rPr lang="nl-NL" dirty="0" err="1"/>
              <a:t>Utkarsh</a:t>
            </a:r>
            <a:r>
              <a:rPr lang="nl-NL" dirty="0"/>
              <a:t> et al, 2023</a:t>
            </a:r>
          </a:p>
          <a:p>
            <a:r>
              <a:rPr lang="nl-NL" dirty="0"/>
              <a:t>[4] </a:t>
            </a:r>
            <a:r>
              <a:rPr lang="en-US" dirty="0">
                <a:hlinkClick r:id="rId5"/>
              </a:rPr>
              <a:t>JuliaGPU/KernelAbstractions.jl </a:t>
            </a:r>
            <a:r>
              <a:rPr lang="en-US" dirty="0"/>
              <a:t>, </a:t>
            </a:r>
            <a:r>
              <a:rPr lang="nl-NL" dirty="0" err="1"/>
              <a:t>Churavy</a:t>
            </a:r>
            <a:r>
              <a:rPr lang="nl-NL" dirty="0"/>
              <a:t> et al, 2023</a:t>
            </a:r>
          </a:p>
          <a:p>
            <a:endParaRPr lang="en-US" dirty="0"/>
          </a:p>
        </p:txBody>
      </p:sp>
    </p:spTree>
    <p:extLst>
      <p:ext uri="{BB962C8B-B14F-4D97-AF65-F5344CB8AC3E}">
        <p14:creationId xmlns:p14="http://schemas.microsoft.com/office/powerpoint/2010/main" val="3458703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Shape 136"/>
        <p:cNvGrpSpPr/>
        <p:nvPr/>
      </p:nvGrpSpPr>
      <p:grpSpPr>
        <a:xfrm>
          <a:off x="0" y="0"/>
          <a:ext cx="0" cy="0"/>
          <a:chOff x="0" y="0"/>
          <a:chExt cx="0" cy="0"/>
        </a:xfrm>
      </p:grpSpPr>
      <p:sp>
        <p:nvSpPr>
          <p:cNvPr id="137" name="Google Shape;137;p8"/>
          <p:cNvSpPr txBox="1">
            <a:spLocks noGrp="1"/>
          </p:cNvSpPr>
          <p:nvPr>
            <p:ph type="title"/>
          </p:nvPr>
        </p:nvSpPr>
        <p:spPr>
          <a:xfrm>
            <a:off x="5034083" y="1954530"/>
            <a:ext cx="3291840" cy="123444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Clr>
                <a:schemeClr val="accent1"/>
              </a:buClr>
              <a:buSzPts val="3600"/>
              <a:buFont typeface="Arial"/>
              <a:buNone/>
            </a:pPr>
            <a:r>
              <a:rPr lang="en-US" sz="3600" b="1" dirty="0">
                <a:solidFill>
                  <a:schemeClr val="accent1"/>
                </a:solidFill>
              </a:rPr>
              <a:t>Questions?</a:t>
            </a:r>
            <a:br>
              <a:rPr lang="en-US" sz="3600" b="1" dirty="0">
                <a:solidFill>
                  <a:schemeClr val="accent1"/>
                </a:solidFill>
              </a:rPr>
            </a:br>
            <a:r>
              <a:rPr lang="en-US" sz="3600" b="1" dirty="0">
                <a:solidFill>
                  <a:schemeClr val="accent1"/>
                </a:solidFill>
              </a:rPr>
              <a:t>Feedback?</a:t>
            </a:r>
            <a:endParaRPr sz="3600" dirty="0"/>
          </a:p>
        </p:txBody>
      </p:sp>
      <p:sp>
        <p:nvSpPr>
          <p:cNvPr id="138" name="Google Shape;138;p8"/>
          <p:cNvSpPr txBox="1">
            <a:spLocks noGrp="1"/>
          </p:cNvSpPr>
          <p:nvPr>
            <p:ph type="body" idx="1"/>
          </p:nvPr>
        </p:nvSpPr>
        <p:spPr>
          <a:xfrm>
            <a:off x="5034083" y="3326130"/>
            <a:ext cx="3666744" cy="146304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lt1"/>
              </a:buClr>
              <a:buSzPts val="1400"/>
              <a:buNone/>
            </a:pPr>
            <a:r>
              <a:rPr lang="en-US" sz="1400" u="sng" dirty="0">
                <a:solidFill>
                  <a:schemeClr val="lt1"/>
                </a:solidFill>
                <a:hlinkClick r:id="rId3"/>
              </a:rPr>
              <a:t>f.q.willemsen@liacs.leidenuniv.nl</a:t>
            </a:r>
            <a:endParaRPr lang="en-US" sz="1400" u="sng" dirty="0">
              <a:solidFill>
                <a:schemeClr val="lt1"/>
              </a:solidFill>
            </a:endParaRPr>
          </a:p>
          <a:p>
            <a:pPr marL="0" lvl="0" indent="0">
              <a:spcBef>
                <a:spcPts val="0"/>
              </a:spcBef>
            </a:pPr>
            <a:r>
              <a:rPr lang="en-US" dirty="0">
                <a:hlinkClick r:id="rId4"/>
              </a:rPr>
              <a:t>eringoot@mit.edu</a:t>
            </a:r>
            <a:endParaRPr lang="en-US" dirty="0"/>
          </a:p>
          <a:p>
            <a:pPr marL="0" lvl="0" indent="0" algn="l" rtl="0">
              <a:spcBef>
                <a:spcPts val="880"/>
              </a:spcBef>
              <a:spcAft>
                <a:spcPts val="0"/>
              </a:spcAft>
              <a:buClr>
                <a:schemeClr val="lt1"/>
              </a:buClr>
              <a:buSzPts val="1400"/>
              <a:buNone/>
            </a:pPr>
            <a:r>
              <a:rPr lang="en-US" dirty="0"/>
              <a:t>Star / Open an issue on: </a:t>
            </a:r>
            <a:r>
              <a:rPr lang="en-US" u="sng" dirty="0">
                <a:solidFill>
                  <a:schemeClr val="hlink"/>
                </a:solidFill>
                <a:hlinkClick r:id="rId5"/>
              </a:rPr>
              <a:t>https://github.com/KernelTuner/</a:t>
            </a:r>
            <a:br>
              <a:rPr lang="en-US" u="sng" dirty="0">
                <a:solidFill>
                  <a:schemeClr val="hlink"/>
                </a:solidFill>
              </a:rPr>
            </a:br>
            <a:r>
              <a:rPr lang="en-US" u="sng" dirty="0" err="1">
                <a:solidFill>
                  <a:schemeClr val="hlink"/>
                </a:solidFill>
              </a:rPr>
              <a:t>KernelTuner.jl</a:t>
            </a:r>
            <a:br>
              <a:rPr lang="en-US" dirty="0"/>
            </a:br>
            <a:endParaRPr sz="1400" dirty="0"/>
          </a:p>
        </p:txBody>
      </p:sp>
      <p:pic>
        <p:nvPicPr>
          <p:cNvPr id="3" name="Picture 2">
            <a:extLst>
              <a:ext uri="{FF2B5EF4-FFF2-40B4-BE49-F238E27FC236}">
                <a16:creationId xmlns:a16="http://schemas.microsoft.com/office/drawing/2014/main" id="{1A52B563-DABA-D824-3520-0A891E38E772}"/>
              </a:ext>
            </a:extLst>
          </p:cNvPr>
          <p:cNvPicPr>
            <a:picLocks noChangeAspect="1"/>
          </p:cNvPicPr>
          <p:nvPr/>
        </p:nvPicPr>
        <p:blipFill>
          <a:blip r:embed="rId6"/>
          <a:stretch>
            <a:fillRect/>
          </a:stretch>
        </p:blipFill>
        <p:spPr>
          <a:xfrm>
            <a:off x="7739150" y="3326130"/>
            <a:ext cx="1344064" cy="1344064"/>
          </a:xfrm>
          <a:prstGeom prst="rect">
            <a:avLst/>
          </a:prstGeom>
        </p:spPr>
      </p:pic>
    </p:spTree>
  </p:cSld>
  <p:clrMapOvr>
    <a:masterClrMapping/>
  </p:clrMapOvr>
</p:sld>
</file>

<file path=ppt/theme/theme1.xml><?xml version="1.0" encoding="utf-8"?>
<a:theme xmlns:a="http://schemas.openxmlformats.org/drawingml/2006/main" name="SC26 Chicago">
  <a:themeElements>
    <a:clrScheme name="SC26 Chicago">
      <a:dk1>
        <a:srgbClr val="0E2841"/>
      </a:dk1>
      <a:lt1>
        <a:srgbClr val="FFFFFF"/>
      </a:lt1>
      <a:dk2>
        <a:srgbClr val="25335A"/>
      </a:dk2>
      <a:lt2>
        <a:srgbClr val="EEF1F7"/>
      </a:lt2>
      <a:accent1>
        <a:srgbClr val="FF3694"/>
      </a:accent1>
      <a:accent2>
        <a:srgbClr val="F48B2F"/>
      </a:accent2>
      <a:accent3>
        <a:srgbClr val="7BA154"/>
      </a:accent3>
      <a:accent4>
        <a:srgbClr val="418BB8"/>
      </a:accent4>
      <a:accent5>
        <a:srgbClr val="174171"/>
      </a:accent5>
      <a:accent6>
        <a:srgbClr val="9E9E9E"/>
      </a:accent6>
      <a:hlink>
        <a:srgbClr val="FF3694"/>
      </a:hlink>
      <a:folHlink>
        <a:srgbClr val="418BB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465f887-04a9-4c17-8b62-103eddccf68b}" enabled="1" method="Standard" siteId="{ca2a7f76-dbd7-4ec0-9108-6b3d524fb7c8}" contentBits="0" removed="0"/>
</clbl:labelList>
</file>

<file path=docProps/app.xml><?xml version="1.0" encoding="utf-8"?>
<Properties xmlns="http://schemas.openxmlformats.org/officeDocument/2006/extended-properties" xmlns:vt="http://schemas.openxmlformats.org/officeDocument/2006/docPropsVTypes">
  <TotalTime>1563</TotalTime>
  <Words>1849</Words>
  <Application>Microsoft Macintosh PowerPoint</Application>
  <PresentationFormat>On-screen Show (16:9)</PresentationFormat>
  <Paragraphs>183</Paragraphs>
  <Slides>12</Slides>
  <Notes>10</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Century Gothic</vt:lpstr>
      <vt:lpstr>Arial</vt:lpstr>
      <vt:lpstr>SC26 Chicago</vt:lpstr>
      <vt:lpstr>Auto-Tuning GPU Kernels in Julia</vt:lpstr>
      <vt:lpstr>Overview</vt:lpstr>
      <vt:lpstr>The portability challenge in HPC</vt:lpstr>
      <vt:lpstr>The Dream: performant, extensible, sustainable</vt:lpstr>
      <vt:lpstr>The Dream: performant, extensible, sustainable</vt:lpstr>
      <vt:lpstr>Autotuning optimizes parameters by hardware</vt:lpstr>
      <vt:lpstr>KernelTuner meets KernelAbstractions.jl</vt:lpstr>
      <vt:lpstr>Auto-Tuning GPU Kernels in Julia</vt:lpstr>
      <vt:lpstr>PowerPoint Presentation</vt:lpstr>
      <vt:lpstr>Stay Tuned, Or Contribute.</vt:lpstr>
      <vt:lpstr>References</vt:lpstr>
      <vt:lpstr>Questions? Feedback?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SC26</dc:creator>
  <cp:lastModifiedBy>Willemsen, F.Q. (Floris-Jan)</cp:lastModifiedBy>
  <cp:revision>61</cp:revision>
  <dcterms:created xsi:type="dcterms:W3CDTF">2026-10-20T14:38:36Z</dcterms:created>
  <dcterms:modified xsi:type="dcterms:W3CDTF">2026-10-26T01:23:06Z</dcterms:modified>
</cp:coreProperties>
</file>